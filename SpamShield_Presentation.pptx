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4.xml" ContentType="application/vnd.openxmlformats-officedocument.drawingml.chart+xml"/>
  <Override PartName="/ppt/notesSlides/notesSlide9.xml" ContentType="application/vnd.openxmlformats-officedocument.presentationml.notesSlide+xml"/>
  <Override PartName="/ppt/charts/chart5.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70" r:id="rId4"/>
    <p:sldId id="258" r:id="rId5"/>
    <p:sldId id="259" r:id="rId6"/>
    <p:sldId id="268" r:id="rId7"/>
    <p:sldId id="260" r:id="rId8"/>
    <p:sldId id="269" r:id="rId9"/>
    <p:sldId id="261" r:id="rId10"/>
    <p:sldId id="262" r:id="rId11"/>
    <p:sldId id="263" r:id="rId12"/>
    <p:sldId id="264" r:id="rId13"/>
    <p:sldId id="265" r:id="rId14"/>
    <p:sldId id="266" r:id="rId15"/>
    <p:sldId id="267"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BCE3FA67-B4B2-FAD0-2FDC-3C61EB05C8F0}">
          <p14:sldIdLst>
            <p14:sldId id="256"/>
            <p14:sldId id="257"/>
            <p14:sldId id="270"/>
          </p14:sldIdLst>
        </p14:section>
        <p14:section name="Data" id="{048B5677-279E-364B-A1E5-FC084F0B4237}">
          <p14:sldIdLst>
            <p14:sldId id="258"/>
            <p14:sldId id="259"/>
            <p14:sldId id="268"/>
            <p14:sldId id="260"/>
            <p14:sldId id="269"/>
          </p14:sldIdLst>
        </p14:section>
        <p14:section name="Models" id="{3213D38C-CED3-B274-7934-DF0CF82DCF5D}">
          <p14:sldIdLst>
            <p14:sldId id="261"/>
            <p14:sldId id="262"/>
          </p14:sldIdLst>
        </p14:section>
        <p14:section name="Results" id="{B11E42B9-00B4-5E87-0C88-F161D25E85F5}">
          <p14:sldIdLst>
            <p14:sldId id="263"/>
            <p14:sldId id="264"/>
            <p14:sldId id="265"/>
            <p14:sldId id="266"/>
          </p14:sldIdLst>
        </p14:section>
        <p14:section name="Wrap-up" id="{BE216FB7-31E6-C13B-6C86-B63EDFF746BE}">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2" d="100"/>
          <a:sy n="102" d="100"/>
        </p:scale>
        <p:origin x="66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autoTitleDeleted val="1"/>
    <c:plotArea>
      <c:layout/>
      <c:doughnutChart>
        <c:varyColors val="1"/>
        <c:ser>
          <c:idx val="0"/>
          <c:order val="0"/>
          <c:tx>
            <c:strRef>
              <c:f>Sheet1!$B$1</c:f>
              <c:strCache>
                <c:ptCount val="1"/>
                <c:pt idx="0">
                  <c:v>Class</c:v>
                </c:pt>
              </c:strCache>
            </c:strRef>
          </c:tx>
          <c:spPr>
            <a:solidFill>
              <a:schemeClr val="accent1"/>
            </a:solidFill>
            <a:ln w="9525" cap="flat">
              <a:solidFill>
                <a:srgbClr val="F9F9F9"/>
              </a:solidFill>
              <a:prstDash val="solid"/>
              <a:round/>
            </a:ln>
            <a:effectLst/>
          </c:spPr>
          <c:dPt>
            <c:idx val="0"/>
            <c:bubble3D val="0"/>
            <c:spPr>
              <a:solidFill>
                <a:srgbClr val="1FA595"/>
              </a:solidFill>
              <a:effectLst/>
            </c:spPr>
          </c:dPt>
          <c:dPt>
            <c:idx val="1"/>
            <c:bubble3D val="0"/>
            <c:spPr>
              <a:solidFill>
                <a:srgbClr val="F26A3D"/>
              </a:solidFill>
              <a:effectLst/>
            </c:spPr>
          </c:dPt>
          <c:dLbls>
            <c:dLbl>
              <c:idx val="0"/>
              <c:layout/>
              <c:numFmt formatCode="0%" sourceLinked="0"/>
              <c:spPr/>
              <c:txPr>
                <a:bodyPr/>
                <a:lstStyle/>
                <a:p>
                  <a:pPr>
                    <a:defRPr sz="1400" b="1" i="0" u="none" strike="noStrike">
                      <a:solidFill>
                        <a:srgbClr val="FFFFFF"/>
                      </a:solidFill>
                      <a:latin typeface="+mn-lt"/>
                    </a:defRPr>
                  </a:pPr>
                  <a:endParaRPr lang="en-US"/>
                </a:p>
              </c:txPr>
              <c:showLegendKey val="0"/>
              <c:showVal val="0"/>
              <c:showCatName val="0"/>
              <c:showSerName val="0"/>
              <c:showPercent val="1"/>
              <c:showBubbleSize val="0"/>
              <c:extLst>
                <c:ext xmlns:c15="http://schemas.microsoft.com/office/drawing/2012/chart" uri="{CE6537A1-D6FC-4f65-9D91-7224C49458BB}">
                  <c15:layout/>
                </c:ext>
              </c:extLst>
            </c:dLbl>
            <c:dLbl>
              <c:idx val="1"/>
              <c:layout/>
              <c:numFmt formatCode="0%" sourceLinked="0"/>
              <c:spPr/>
              <c:txPr>
                <a:bodyPr/>
                <a:lstStyle/>
                <a:p>
                  <a:pPr>
                    <a:defRPr sz="1400" b="1" i="0" u="none" strike="noStrike">
                      <a:solidFill>
                        <a:srgbClr val="FFFFFF"/>
                      </a:solidFill>
                      <a:latin typeface="+mn-lt"/>
                    </a:defRPr>
                  </a:pPr>
                  <a:endParaRPr lang="en-US"/>
                </a:p>
              </c:txPr>
              <c:showLegendKey val="0"/>
              <c:showVal val="0"/>
              <c:showCatName val="0"/>
              <c:showSerName val="0"/>
              <c:showPercent val="1"/>
              <c:showBubbleSize val="0"/>
              <c:extLst>
                <c:ext xmlns:c15="http://schemas.microsoft.com/office/drawing/2012/chart" uri="{CE6537A1-D6FC-4f65-9D91-7224C49458BB}">
                  <c15:layout/>
                </c:ext>
              </c:extLst>
            </c:dLbl>
            <c:numFmt formatCode="0%" sourceLinked="0"/>
            <c:spPr>
              <a:noFill/>
              <a:ln>
                <a:noFill/>
              </a:ln>
              <a:effectLst/>
            </c:spPr>
            <c:txPr>
              <a:bodyPr/>
              <a:lstStyle/>
              <a:p>
                <a:pPr>
                  <a:defRPr sz="1800" b="1"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Ham</c:v>
                </c:pt>
                <c:pt idx="1">
                  <c:v>Spam</c:v>
                </c:pt>
              </c:strCache>
            </c:strRef>
          </c:cat>
          <c:val>
            <c:numRef>
              <c:f>Sheet1!$B$2:$B$3</c:f>
              <c:numCache>
                <c:formatCode>General</c:formatCode>
                <c:ptCount val="2"/>
                <c:pt idx="0">
                  <c:v>4825</c:v>
                </c:pt>
                <c:pt idx="1">
                  <c:v>747</c:v>
                </c:pt>
              </c:numCache>
            </c:numRef>
          </c:val>
        </c:ser>
        <c:dLbls>
          <c:showLegendKey val="0"/>
          <c:showVal val="0"/>
          <c:showCatName val="0"/>
          <c:showSerName val="0"/>
          <c:showPercent val="0"/>
          <c:showBubbleSize val="0"/>
          <c:showLeaderLines val="0"/>
        </c:dLbls>
        <c:firstSliceAng val="0"/>
        <c:holeSize val="58"/>
      </c:doughnutChart>
      <c:spPr>
        <a:noFill/>
        <a:ln>
          <a:noFill/>
        </a:ln>
        <a:effectLst/>
      </c:spPr>
    </c:plotArea>
    <c:legend>
      <c:legendPos val="b"/>
      <c:layout/>
      <c:overlay val="0"/>
      <c:txPr>
        <a:bodyPr/>
        <a:lstStyle/>
        <a:p>
          <a:pPr>
            <a:defRPr sz="14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autoTitleDeleted val="1"/>
    <c:plotArea>
      <c:layout/>
      <c:barChart>
        <c:barDir val="bar"/>
        <c:grouping val="clustered"/>
        <c:varyColors val="0"/>
        <c:ser>
          <c:idx val="0"/>
          <c:order val="0"/>
          <c:tx>
            <c:strRef>
              <c:f>Sheet1!$B$1</c:f>
              <c:strCache>
                <c:ptCount val="1"/>
                <c:pt idx="0">
                  <c:v>Top spam words</c:v>
                </c:pt>
              </c:strCache>
            </c:strRef>
          </c:tx>
          <c:spPr>
            <a:solidFill>
              <a:srgbClr val="F26A3D"/>
            </a:solidFill>
            <a:effectLst/>
          </c:spPr>
          <c:invertIfNegative val="0"/>
          <c:dLbls>
            <c:numFmt formatCode="#,##0" sourceLinked="0"/>
            <c:spPr>
              <a:noFill/>
              <a:ln>
                <a:noFill/>
              </a:ln>
              <a:effectLst/>
            </c:spPr>
            <c:txPr>
              <a:bodyPr/>
              <a:lstStyle/>
              <a:p>
                <a:pPr>
                  <a:defRPr sz="1200" b="0" i="0" u="none" strike="noStrike">
                    <a:solidFill>
                      <a:srgbClr val="10262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Sheet1!$A$2:$A$9</c:f>
              <c:strCache>
                <c:ptCount val="8"/>
                <c:pt idx="0">
                  <c:v>call</c:v>
                </c:pt>
                <c:pt idx="1">
                  <c:v>free</c:v>
                </c:pt>
                <c:pt idx="2">
                  <c:v>txt</c:v>
                </c:pt>
                <c:pt idx="3">
                  <c:v>text</c:v>
                </c:pt>
                <c:pt idx="4">
                  <c:v>mobile</c:v>
                </c:pt>
                <c:pt idx="5">
                  <c:v>claim</c:v>
                </c:pt>
                <c:pt idx="6">
                  <c:v>reply</c:v>
                </c:pt>
                <c:pt idx="7">
                  <c:v>stop</c:v>
                </c:pt>
              </c:strCache>
            </c:strRef>
          </c:cat>
          <c:val>
            <c:numRef>
              <c:f>Sheet1!$B$2:$B$9</c:f>
              <c:numCache>
                <c:formatCode>General</c:formatCode>
                <c:ptCount val="8"/>
                <c:pt idx="0">
                  <c:v>342</c:v>
                </c:pt>
                <c:pt idx="1">
                  <c:v>180</c:v>
                </c:pt>
                <c:pt idx="2">
                  <c:v>136</c:v>
                </c:pt>
                <c:pt idx="3">
                  <c:v>112</c:v>
                </c:pt>
                <c:pt idx="4">
                  <c:v>109</c:v>
                </c:pt>
                <c:pt idx="5">
                  <c:v>106</c:v>
                </c:pt>
                <c:pt idx="6">
                  <c:v>101</c:v>
                </c:pt>
                <c:pt idx="7">
                  <c:v>90</c:v>
                </c:pt>
              </c:numCache>
            </c:numRef>
          </c:val>
        </c:ser>
        <c:dLbls>
          <c:showLegendKey val="0"/>
          <c:showVal val="1"/>
          <c:showCatName val="0"/>
          <c:showSerName val="0"/>
          <c:showPercent val="0"/>
          <c:showBubbleSize val="0"/>
        </c:dLbls>
        <c:gapWidth val="40"/>
        <c:axId val="1313702464"/>
        <c:axId val="1313706816"/>
      </c:barChart>
      <c:catAx>
        <c:axId val="131370246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0262B"/>
                </a:solidFill>
                <a:latin typeface="+mn-lt"/>
              </a:defRPr>
            </a:pPr>
            <a:endParaRPr lang="en-US"/>
          </a:p>
        </c:txPr>
        <c:crossAx val="1313706816"/>
        <c:crosses val="autoZero"/>
        <c:auto val="1"/>
        <c:lblAlgn val="ctr"/>
        <c:lblOffset val="100"/>
        <c:noMultiLvlLbl val="1"/>
      </c:catAx>
      <c:valAx>
        <c:axId val="1313706816"/>
        <c:scaling>
          <c:orientation val="minMax"/>
        </c:scaling>
        <c:delete val="1"/>
        <c:axPos val="t"/>
        <c:numFmt formatCode="General" sourceLinked="0"/>
        <c:majorTickMark val="out"/>
        <c:minorTickMark val="none"/>
        <c:tickLblPos val="low"/>
        <c:crossAx val="131370246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autoTitleDeleted val="1"/>
    <c:plotArea>
      <c:layout/>
      <c:barChart>
        <c:barDir val="bar"/>
        <c:grouping val="clustered"/>
        <c:varyColors val="0"/>
        <c:ser>
          <c:idx val="0"/>
          <c:order val="0"/>
          <c:tx>
            <c:strRef>
              <c:f>Sheet1!$B$1</c:f>
              <c:strCache>
                <c:ptCount val="1"/>
                <c:pt idx="0">
                  <c:v>Top ham words</c:v>
                </c:pt>
              </c:strCache>
            </c:strRef>
          </c:tx>
          <c:spPr>
            <a:solidFill>
              <a:srgbClr val="1FA595"/>
            </a:solidFill>
            <a:effectLst/>
          </c:spPr>
          <c:invertIfNegative val="0"/>
          <c:dLbls>
            <c:numFmt formatCode="#,##0" sourceLinked="0"/>
            <c:spPr>
              <a:noFill/>
              <a:ln>
                <a:noFill/>
              </a:ln>
              <a:effectLst/>
            </c:spPr>
            <c:txPr>
              <a:bodyPr/>
              <a:lstStyle/>
              <a:p>
                <a:pPr>
                  <a:defRPr sz="1200" b="0" i="0" u="none" strike="noStrike">
                    <a:solidFill>
                      <a:srgbClr val="10262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Sheet1!$A$2:$A$9</c:f>
              <c:strCache>
                <c:ptCount val="8"/>
                <c:pt idx="0">
                  <c:v>get</c:v>
                </c:pt>
                <c:pt idx="1">
                  <c:v>go</c:v>
                </c:pt>
                <c:pt idx="2">
                  <c:v>got</c:v>
                </c:pt>
                <c:pt idx="3">
                  <c:v>like</c:v>
                </c:pt>
                <c:pt idx="4">
                  <c:v>come</c:v>
                </c:pt>
                <c:pt idx="5">
                  <c:v>call</c:v>
                </c:pt>
                <c:pt idx="6">
                  <c:v>know</c:v>
                </c:pt>
                <c:pt idx="7">
                  <c:v>good</c:v>
                </c:pt>
              </c:strCache>
            </c:strRef>
          </c:cat>
          <c:val>
            <c:numRef>
              <c:f>Sheet1!$B$2:$B$9</c:f>
              <c:numCache>
                <c:formatCode>General</c:formatCode>
                <c:ptCount val="8"/>
                <c:pt idx="0">
                  <c:v>293</c:v>
                </c:pt>
                <c:pt idx="1">
                  <c:v>238</c:v>
                </c:pt>
                <c:pt idx="2">
                  <c:v>228</c:v>
                </c:pt>
                <c:pt idx="3">
                  <c:v>223</c:v>
                </c:pt>
                <c:pt idx="4">
                  <c:v>218</c:v>
                </c:pt>
                <c:pt idx="5">
                  <c:v>217</c:v>
                </c:pt>
                <c:pt idx="6">
                  <c:v>208</c:v>
                </c:pt>
                <c:pt idx="7">
                  <c:v>189</c:v>
                </c:pt>
              </c:numCache>
            </c:numRef>
          </c:val>
        </c:ser>
        <c:dLbls>
          <c:showLegendKey val="0"/>
          <c:showVal val="1"/>
          <c:showCatName val="0"/>
          <c:showSerName val="0"/>
          <c:showPercent val="0"/>
          <c:showBubbleSize val="0"/>
        </c:dLbls>
        <c:gapWidth val="40"/>
        <c:axId val="1313705184"/>
        <c:axId val="1313705728"/>
      </c:barChart>
      <c:catAx>
        <c:axId val="131370518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0262B"/>
                </a:solidFill>
                <a:latin typeface="+mn-lt"/>
              </a:defRPr>
            </a:pPr>
            <a:endParaRPr lang="en-US"/>
          </a:p>
        </c:txPr>
        <c:crossAx val="1313705728"/>
        <c:crosses val="autoZero"/>
        <c:auto val="1"/>
        <c:lblAlgn val="ctr"/>
        <c:lblOffset val="100"/>
        <c:noMultiLvlLbl val="1"/>
      </c:catAx>
      <c:valAx>
        <c:axId val="1313705728"/>
        <c:scaling>
          <c:orientation val="minMax"/>
        </c:scaling>
        <c:delete val="1"/>
        <c:axPos val="t"/>
        <c:numFmt formatCode="General" sourceLinked="0"/>
        <c:majorTickMark val="out"/>
        <c:minorTickMark val="none"/>
        <c:tickLblPos val="low"/>
        <c:crossAx val="131370518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title>
      <c:tx>
        <c:rich>
          <a:bodyPr/>
          <a:lstStyle/>
          <a:p>
            <a:pPr>
              <a:defRPr sz="1400" b="0" i="0" u="none" strike="noStrike">
                <a:solidFill>
                  <a:srgbClr val="10262B"/>
                </a:solidFill>
                <a:latin typeface="+mn-lt"/>
              </a:defRPr>
            </a:pPr>
            <a:r>
              <a:rPr lang="en-US" sz="1400" b="0" i="0" u="none" strike="noStrike">
                <a:solidFill>
                  <a:srgbClr val="10262B"/>
                </a:solidFill>
                <a:latin typeface="+mn-lt"/>
              </a:rPr>
              <a:t>Test accuracy (axis starts at 90%)</a:t>
            </a:r>
          </a:p>
        </c:rich>
      </c:tx>
      <c:layout/>
      <c:overlay val="0"/>
    </c:title>
    <c:autoTitleDeleted val="0"/>
    <c:plotArea>
      <c:layout/>
      <c:barChart>
        <c:barDir val="col"/>
        <c:grouping val="clustered"/>
        <c:varyColors val="0"/>
        <c:ser>
          <c:idx val="0"/>
          <c:order val="0"/>
          <c:tx>
            <c:strRef>
              <c:f>Sheet1!$B$1</c:f>
              <c:strCache>
                <c:ptCount val="1"/>
                <c:pt idx="0">
                  <c:v>Accuracy</c:v>
                </c:pt>
              </c:strCache>
            </c:strRef>
          </c:tx>
          <c:spPr>
            <a:solidFill>
              <a:srgbClr val="5B7C85"/>
            </a:solidFill>
            <a:effectLst/>
          </c:spPr>
          <c:invertIfNegative val="0"/>
          <c:dPt>
            <c:idx val="0"/>
            <c:invertIfNegative val="0"/>
            <c:bubble3D val="0"/>
          </c:dPt>
          <c:dPt>
            <c:idx val="1"/>
            <c:invertIfNegative val="0"/>
            <c:bubble3D val="0"/>
          </c:dPt>
          <c:dPt>
            <c:idx val="2"/>
            <c:invertIfNegative val="0"/>
            <c:bubble3D val="0"/>
            <c:spPr>
              <a:solidFill>
                <a:srgbClr val="F2B84B"/>
              </a:solidFill>
              <a:effectLst/>
            </c:spPr>
          </c:dPt>
          <c:dPt>
            <c:idx val="3"/>
            <c:invertIfNegative val="0"/>
            <c:bubble3D val="0"/>
          </c:dPt>
          <c:dLbls>
            <c:numFmt formatCode="0.0&quot;%&quot;" sourceLinked="0"/>
            <c:spPr>
              <a:noFill/>
              <a:ln>
                <a:noFill/>
              </a:ln>
              <a:effectLst/>
            </c:spPr>
            <c:txPr>
              <a:bodyPr/>
              <a:lstStyle/>
              <a:p>
                <a:pPr>
                  <a:defRPr sz="1400" b="1" i="0" u="none" strike="noStrike">
                    <a:solidFill>
                      <a:srgbClr val="10262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Sheet1!$A$2:$A$5</c:f>
              <c:strCache>
                <c:ptCount val="4"/>
                <c:pt idx="0">
                  <c:v>Naive Bayes</c:v>
                </c:pt>
                <c:pt idx="1">
                  <c:v>Logistic Reg.</c:v>
                </c:pt>
                <c:pt idx="2">
                  <c:v>SVM</c:v>
                </c:pt>
                <c:pt idx="3">
                  <c:v>Random Forest</c:v>
                </c:pt>
              </c:strCache>
            </c:strRef>
          </c:cat>
          <c:val>
            <c:numRef>
              <c:f>Sheet1!$B$2:$B$5</c:f>
              <c:numCache>
                <c:formatCode>General</c:formatCode>
                <c:ptCount val="4"/>
                <c:pt idx="0">
                  <c:v>96.3</c:v>
                </c:pt>
                <c:pt idx="1">
                  <c:v>96.5</c:v>
                </c:pt>
                <c:pt idx="2">
                  <c:v>98.2</c:v>
                </c:pt>
                <c:pt idx="3">
                  <c:v>97.4</c:v>
                </c:pt>
              </c:numCache>
            </c:numRef>
          </c:val>
        </c:ser>
        <c:dLbls>
          <c:showLegendKey val="0"/>
          <c:showVal val="1"/>
          <c:showCatName val="0"/>
          <c:showSerName val="0"/>
          <c:showPercent val="0"/>
          <c:showBubbleSize val="0"/>
        </c:dLbls>
        <c:gapWidth val="50"/>
        <c:axId val="1313706272"/>
        <c:axId val="1313703008"/>
      </c:barChart>
      <c:catAx>
        <c:axId val="1313706272"/>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0262B"/>
                </a:solidFill>
                <a:latin typeface="+mn-lt"/>
              </a:defRPr>
            </a:pPr>
            <a:endParaRPr lang="en-US"/>
          </a:p>
        </c:txPr>
        <c:crossAx val="1313703008"/>
        <c:crosses val="autoZero"/>
        <c:auto val="1"/>
        <c:lblAlgn val="ctr"/>
        <c:lblOffset val="100"/>
        <c:noMultiLvlLbl val="1"/>
      </c:catAx>
      <c:valAx>
        <c:axId val="1313703008"/>
        <c:scaling>
          <c:orientation val="minMax"/>
          <c:max val="100"/>
          <c:min val="90"/>
        </c:scaling>
        <c:delete val="0"/>
        <c:axPos val="l"/>
        <c:majorGridlines>
          <c:spPr>
            <a:ln w="9525" cap="flat">
              <a:solidFill>
                <a:srgbClr val="DDE6E8"/>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7C85"/>
                </a:solidFill>
                <a:latin typeface="+mn-lt"/>
              </a:defRPr>
            </a:pPr>
            <a:endParaRPr lang="en-US"/>
          </a:p>
        </c:txPr>
        <c:crossAx val="1313706272"/>
        <c:crosses val="autoZero"/>
        <c:crossBetween val="between"/>
        <c:majorUnit val="2"/>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title>
      <c:tx>
        <c:rich>
          <a:bodyPr/>
          <a:lstStyle/>
          <a:p>
            <a:pPr>
              <a:defRPr sz="1400" b="0" i="0" u="none" strike="noStrike">
                <a:solidFill>
                  <a:srgbClr val="10262B"/>
                </a:solidFill>
                <a:latin typeface="+mn-lt"/>
              </a:defRPr>
            </a:pPr>
            <a:r>
              <a:rPr lang="en-US" sz="1400" b="0" i="0" u="none" strike="noStrike">
                <a:solidFill>
                  <a:srgbClr val="10262B"/>
                </a:solidFill>
                <a:latin typeface="+mn-lt"/>
              </a:rPr>
              <a:t>Share of spam caught (spam recall)</a:t>
            </a:r>
          </a:p>
        </c:rich>
      </c:tx>
      <c:layout/>
      <c:overlay val="0"/>
    </c:title>
    <c:autoTitleDeleted val="0"/>
    <c:plotArea>
      <c:layout/>
      <c:barChart>
        <c:barDir val="col"/>
        <c:grouping val="clustered"/>
        <c:varyColors val="0"/>
        <c:ser>
          <c:idx val="0"/>
          <c:order val="0"/>
          <c:tx>
            <c:strRef>
              <c:f>Sheet1!$B$1</c:f>
              <c:strCache>
                <c:ptCount val="1"/>
                <c:pt idx="0">
                  <c:v>Spam recall</c:v>
                </c:pt>
              </c:strCache>
            </c:strRef>
          </c:tx>
          <c:spPr>
            <a:solidFill>
              <a:srgbClr val="5B7C85"/>
            </a:solidFill>
            <a:effectLst/>
          </c:spPr>
          <c:invertIfNegative val="0"/>
          <c:dPt>
            <c:idx val="0"/>
            <c:invertIfNegative val="0"/>
            <c:bubble3D val="0"/>
          </c:dPt>
          <c:dPt>
            <c:idx val="1"/>
            <c:invertIfNegative val="0"/>
            <c:bubble3D val="0"/>
          </c:dPt>
          <c:dPt>
            <c:idx val="2"/>
            <c:invertIfNegative val="0"/>
            <c:bubble3D val="0"/>
            <c:spPr>
              <a:solidFill>
                <a:srgbClr val="F2B84B"/>
              </a:solidFill>
              <a:effectLst/>
            </c:spPr>
          </c:dPt>
          <c:dPt>
            <c:idx val="3"/>
            <c:invertIfNegative val="0"/>
            <c:bubble3D val="0"/>
          </c:dPt>
          <c:dLbls>
            <c:numFmt formatCode="0&quot;%&quot;" sourceLinked="0"/>
            <c:spPr>
              <a:noFill/>
              <a:ln>
                <a:noFill/>
              </a:ln>
              <a:effectLst/>
            </c:spPr>
            <c:txPr>
              <a:bodyPr/>
              <a:lstStyle/>
              <a:p>
                <a:pPr>
                  <a:defRPr sz="1400" b="1" i="0" u="none" strike="noStrike">
                    <a:solidFill>
                      <a:srgbClr val="10262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Sheet1!$A$2:$A$5</c:f>
              <c:strCache>
                <c:ptCount val="4"/>
                <c:pt idx="0">
                  <c:v>Naive Bayes</c:v>
                </c:pt>
                <c:pt idx="1">
                  <c:v>Logistic Reg.</c:v>
                </c:pt>
                <c:pt idx="2">
                  <c:v>SVM</c:v>
                </c:pt>
                <c:pt idx="3">
                  <c:v>Random Forest</c:v>
                </c:pt>
              </c:strCache>
            </c:strRef>
          </c:cat>
          <c:val>
            <c:numRef>
              <c:f>Sheet1!$B$2:$B$5</c:f>
              <c:numCache>
                <c:formatCode>General</c:formatCode>
                <c:ptCount val="4"/>
                <c:pt idx="0">
                  <c:v>72</c:v>
                </c:pt>
                <c:pt idx="1">
                  <c:v>74</c:v>
                </c:pt>
                <c:pt idx="2">
                  <c:v>89</c:v>
                </c:pt>
                <c:pt idx="3">
                  <c:v>81</c:v>
                </c:pt>
              </c:numCache>
            </c:numRef>
          </c:val>
        </c:ser>
        <c:dLbls>
          <c:showLegendKey val="0"/>
          <c:showVal val="1"/>
          <c:showCatName val="0"/>
          <c:showSerName val="0"/>
          <c:showPercent val="0"/>
          <c:showBubbleSize val="0"/>
        </c:dLbls>
        <c:gapWidth val="50"/>
        <c:axId val="1313703552"/>
        <c:axId val="1313700832"/>
      </c:barChart>
      <c:catAx>
        <c:axId val="1313703552"/>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0262B"/>
                </a:solidFill>
                <a:latin typeface="+mn-lt"/>
              </a:defRPr>
            </a:pPr>
            <a:endParaRPr lang="en-US"/>
          </a:p>
        </c:txPr>
        <c:crossAx val="1313700832"/>
        <c:crosses val="autoZero"/>
        <c:auto val="1"/>
        <c:lblAlgn val="ctr"/>
        <c:lblOffset val="100"/>
        <c:noMultiLvlLbl val="1"/>
      </c:catAx>
      <c:valAx>
        <c:axId val="1313700832"/>
        <c:scaling>
          <c:orientation val="minMax"/>
          <c:max val="100"/>
          <c:min val="0"/>
        </c:scaling>
        <c:delete val="0"/>
        <c:axPos val="l"/>
        <c:majorGridlines>
          <c:spPr>
            <a:ln w="9525" cap="flat">
              <a:solidFill>
                <a:srgbClr val="DDE6E8"/>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7C85"/>
                </a:solidFill>
                <a:latin typeface="+mn-lt"/>
              </a:defRPr>
            </a:pPr>
            <a:endParaRPr lang="en-US"/>
          </a:p>
        </c:txPr>
        <c:crossAx val="1313703552"/>
        <c:crosses val="autoZero"/>
        <c:crossBetween val="between"/>
        <c:majorUnit val="25"/>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71097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SpamShield is a machine-learning project that classifies text messages as spam or ham (legitimate). We'll go through the data, the preprocessing pipeline, four models, and what the results really tell us, including where the model still fails.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Spam wastes time and can carry scams. The goal here is a binary classifier: ham or spam. The real question isn't just which model is most accurate, but which one catches the most spam without blocking real messages.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loads a public SMS collection: 5,572 labelled messages, no missing values. Only about 13% are spam, so the classes are imbalanced. That matters later: accuracy alone can hide missed spam.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before modelling, simple features separate the classes. On average spam is about twice as long, has more words, and more punctuation. Median spam length is 149 characters versus 52 for ham, so spam clusters near 150 characters.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Spam leans on calls to action: call, free, txt, claim, reply, stop. Ham is conversational: get, go, like, come, know, good. Note 'call' appears in both, which is why a model needs more than a keyword list. Filler tokens like 'u', 'ur' and '2' are left out of the charts.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message goes through six steps. Lowercase, strip punctuation, tokenize, remove stopwords, stem with the Porter stemmer, then TF-IDF with a 5,000-feature vocabulary. The data is split 80/20 with stratification so both sets keep the same spam ratio: 4,457 train and 1,115 test messages.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classifiers train on the same TF-IDF features and are evaluated on the same held-out test set, so the comparison is fair.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Linear SVM reaches 98.2% accuracy, ahead of Random Forest at 97.4%, Logistic Regression at 96.5% and Naive Bayes at 96.3%. AUC is much tighter, from 0.971 to 0.984, with Random Forest highest. Note the chart axis starts at 90%.</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model almost never flags a real message as spam (ham recall 1.00). The difference is spam recall: Naive Bayes and Logistic Regression miss more than a quarter of spam. The SVM misses about 11%, at a small cost in spam precision (0.97 versus 1.00 for the others).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curves hug the top-left corner and sit far above the random baseline. The ordering by AUC is Random Forest 0.984, SVM 0.983, Logistic Regression 0.981, Naive Bayes 0.971.</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tried five hand-written messages. The two normal messages were correctly marked ham, but only one of three spam examples was caught. 'URGENT! Your account will be closed' and 'Free money!!! Act now!!!' were both labelled ham with high confidence. The training data is SMS spam, so newer phishing-style wording is likely out of distribution. This matches the recall gap on the previous slides.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Linear SVM is the best overall on this split: 98.2% accuracy and the highest spam recall at 0.89. But roughly one in ten spam messages still gets through, and hand-written phishing-style examples were missed. Next steps focus on recall and on broader data. The notebook also saves the model and vectorizer with pickle so it can be reused.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0262B"/>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325880"/>
            <a:ext cx="5669280" cy="1371600"/>
          </a:xfrm>
          <a:prstGeom prst="rect">
            <a:avLst/>
          </a:prstGeom>
          <a:noFill/>
          <a:ln/>
        </p:spPr>
        <p:txBody>
          <a:bodyPr wrap="square" rtlCol="0"/>
          <a:lstStyle>
            <a:lvl1pPr marL="0" indent="0" algn="l">
              <a:buNone/>
              <a:defRPr lang="en-US" sz="5400" b="1" dirty="0">
                <a:solidFill>
                  <a:schemeClr val="bg1"/>
                </a:solidFill>
              </a:defRPr>
            </a:lvl1pPr>
          </a:lstStyle>
          <a:p>
            <a:pPr marL="0" indent="0" algn="l">
              <a:buNone/>
            </a:pPr>
            <a:endParaRPr lang="en-US" sz="5400" dirty="0"/>
          </a:p>
        </p:txBody>
      </p:sp>
      <p:sp>
        <p:nvSpPr>
          <p:cNvPr id="3" name="Text 0"/>
          <p:cNvSpPr>
            <a:spLocks noGrp="1"/>
          </p:cNvSpPr>
          <p:nvPr>
            <p:ph type="body" idx="101" hasCustomPrompt="1"/>
          </p:nvPr>
        </p:nvSpPr>
        <p:spPr>
          <a:xfrm>
            <a:off x="640080" y="2880360"/>
            <a:ext cx="5486400" cy="914400"/>
          </a:xfrm>
          <a:prstGeom prst="rect">
            <a:avLst/>
          </a:prstGeom>
          <a:noFill/>
          <a:ln/>
        </p:spPr>
        <p:txBody>
          <a:bodyPr wrap="square" rtlCol="0"/>
          <a:lstStyle>
            <a:lvl1pPr marL="0" indent="0">
              <a:buNone/>
              <a:defRPr lang="en-US" sz="2000" dirty="0">
                <a:solidFill>
                  <a:schemeClr val="accent5"/>
                </a:solidFill>
              </a:defRPr>
            </a:lvl1pPr>
          </a:lstStyle>
          <a:p>
            <a:pPr marL="0" indent="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754880"/>
            <a:ext cx="2743200" cy="228600"/>
          </a:xfrm>
          <a:prstGeom prst="rect">
            <a:avLst/>
          </a:prstGeom>
          <a:noFill/>
          <a:ln/>
        </p:spPr>
        <p:txBody>
          <a:bodyPr wrap="square" lIns="0" tIns="0" rIns="0" bIns="0" rtlCol="0" anchor="ctr"/>
          <a:lstStyle/>
          <a:p>
            <a:pPr marL="0" indent="0">
              <a:buNone/>
            </a:pPr>
            <a:r>
              <a:rPr lang="en-US" sz="1000" dirty="0">
                <a:solidFill>
                  <a:srgbClr val="5B7C85"/>
                </a:solidFill>
              </a:rPr>
              <a:t>SpamShield</a:t>
            </a:r>
            <a:endParaRPr lang="en-US" sz="1000" dirty="0"/>
          </a:p>
        </p:txBody>
      </p:sp>
      <p:sp>
        <p:nvSpPr>
          <p:cNvPr id="3" name="Text 1"/>
          <p:cNvSpPr>
            <a:spLocks noGrp="1"/>
          </p:cNvSpPr>
          <p:nvPr>
            <p:ph type="title" idx="101" hasCustomPrompt="1"/>
          </p:nvPr>
        </p:nvSpPr>
        <p:spPr>
          <a:xfrm>
            <a:off x="457200" y="274320"/>
            <a:ext cx="8229600" cy="731520"/>
          </a:xfrm>
          <a:prstGeom prst="rect">
            <a:avLst/>
          </a:prstGeom>
          <a:noFill/>
          <a:ln/>
        </p:spPr>
        <p:txBody>
          <a:bodyPr wrap="square" rtlCol="0"/>
          <a:lstStyle>
            <a:lvl1pPr marL="0" indent="0" algn="l">
              <a:buNone/>
              <a:defRPr lang="en-US" sz="3600" b="1" dirty="0">
                <a:solidFill>
                  <a:schemeClr val="tx1"/>
                </a:solidFill>
              </a:defRPr>
            </a:lvl1pPr>
          </a:lstStyle>
          <a:p>
            <a:pPr marL="0" indent="0" algn="l">
              <a:buNone/>
            </a:pPr>
            <a:endParaRPr lang="en-US" sz="3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85"/>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bg>
      <p:bgPr>
        <a:solidFill>
          <a:srgbClr val="10262B"/>
        </a:solidFill>
        <a:effectLst/>
      </p:bgPr>
    </p:bg>
    <p:spTree>
      <p:nvGrpSpPr>
        <p:cNvPr id="1" name=""/>
        <p:cNvGrpSpPr/>
        <p:nvPr/>
      </p:nvGrpSpPr>
      <p:grpSpPr>
        <a:xfrm>
          <a:off x="0" y="0"/>
          <a:ext cx="0" cy="0"/>
          <a:chOff x="0" y="0"/>
          <a:chExt cx="0" cy="0"/>
        </a:xfrm>
      </p:grpSpPr>
      <p:sp>
        <p:nvSpPr>
          <p:cNvPr id="2" name="Text 0"/>
          <p:cNvSpPr/>
          <p:nvPr/>
        </p:nvSpPr>
        <p:spPr>
          <a:xfrm>
            <a:off x="457200" y="4754880"/>
            <a:ext cx="2743200" cy="228600"/>
          </a:xfrm>
          <a:prstGeom prst="rect">
            <a:avLst/>
          </a:prstGeom>
          <a:noFill/>
          <a:ln/>
        </p:spPr>
        <p:txBody>
          <a:bodyPr wrap="square" lIns="0" tIns="0" rIns="0" bIns="0" rtlCol="0" anchor="ctr"/>
          <a:lstStyle/>
          <a:p>
            <a:pPr marL="0" indent="0">
              <a:buNone/>
            </a:pPr>
            <a:r>
              <a:rPr lang="en-US" sz="1000" dirty="0">
                <a:solidFill>
                  <a:srgbClr val="8FD3C9"/>
                </a:solidFill>
              </a:rPr>
              <a:t>SpamShield</a:t>
            </a:r>
            <a:endParaRPr lang="en-US" sz="1000" dirty="0"/>
          </a:p>
        </p:txBody>
      </p:sp>
      <p:sp>
        <p:nvSpPr>
          <p:cNvPr id="3" name="Text 1"/>
          <p:cNvSpPr>
            <a:spLocks noGrp="1"/>
          </p:cNvSpPr>
          <p:nvPr>
            <p:ph type="title" idx="101" hasCustomPrompt="1"/>
          </p:nvPr>
        </p:nvSpPr>
        <p:spPr>
          <a:xfrm>
            <a:off x="457200" y="274320"/>
            <a:ext cx="8229600" cy="73152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D3C9"/>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8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325880"/>
            <a:ext cx="5669280" cy="1371600"/>
          </a:xfrm>
          <a:prstGeom prst="rect">
            <a:avLst/>
          </a:prstGeom>
          <a:noFill/>
          <a:ln/>
        </p:spPr>
        <p:txBody>
          <a:bodyPr wrap="square" lIns="0" tIns="0" rIns="0" bIns="0" rtlCol="0" anchor="b"/>
          <a:lstStyle/>
          <a:p>
            <a:pPr marL="0" indent="0" algn="l">
              <a:buNone/>
            </a:pPr>
            <a:r>
              <a:rPr lang="en-US" sz="5400" b="1" dirty="0">
                <a:solidFill>
                  <a:schemeClr val="bg1"/>
                </a:solidFill>
              </a:rPr>
              <a:t>SpamShield</a:t>
            </a:r>
            <a:endParaRPr lang="en-US" sz="5400" dirty="0"/>
          </a:p>
        </p:txBody>
      </p:sp>
      <p:sp>
        <p:nvSpPr>
          <p:cNvPr id="3" name="Text 0"/>
          <p:cNvSpPr>
            <a:spLocks noGrp="1"/>
          </p:cNvSpPr>
          <p:nvPr>
            <p:ph type="body" idx="101" hasCustomPrompt="1"/>
          </p:nvPr>
        </p:nvSpPr>
        <p:spPr>
          <a:xfrm>
            <a:off x="640080" y="2880360"/>
            <a:ext cx="5486400" cy="914400"/>
          </a:xfrm>
          <a:prstGeom prst="rect">
            <a:avLst/>
          </a:prstGeom>
          <a:noFill/>
          <a:ln/>
        </p:spPr>
        <p:txBody>
          <a:bodyPr wrap="square" lIns="0" tIns="0" rIns="0" bIns="0" rtlCol="0" anchor="t"/>
          <a:lstStyle/>
          <a:p>
            <a:pPr marL="0" indent="0">
              <a:buNone/>
            </a:pPr>
            <a:r>
              <a:rPr lang="en-US" sz="2000" dirty="0">
                <a:solidFill>
                  <a:schemeClr val="accent5"/>
                </a:solidFill>
              </a:rPr>
              <a:t>Detecting spam messages with machine learning</a:t>
            </a:r>
            <a:endParaRPr lang="en-US" sz="2000" dirty="0"/>
          </a:p>
        </p:txBody>
      </p:sp>
      <p:sp>
        <p:nvSpPr>
          <p:cNvPr id="4" name="Shield badge"/>
          <p:cNvSpPr/>
          <p:nvPr/>
        </p:nvSpPr>
        <p:spPr>
          <a:xfrm>
            <a:off x="6675120" y="1325880"/>
            <a:ext cx="2011680" cy="2011680"/>
          </a:xfrm>
          <a:prstGeom prst="ellipse">
            <a:avLst/>
          </a:prstGeom>
          <a:solidFill>
            <a:schemeClr val="tx2"/>
          </a:solidFill>
          <a:ln/>
        </p:spPr>
      </p:sp>
      <p:pic>
        <p:nvPicPr>
          <p:cNvPr id="5" name="Image 0" descr="Shield icon"/>
          <p:cNvPicPr>
            <a:picLocks noChangeAspect="1"/>
          </p:cNvPicPr>
          <p:nvPr/>
        </p:nvPicPr>
        <p:blipFill>
          <a:blip r:embed="rId3"/>
          <a:stretch>
            <a:fillRect/>
          </a:stretch>
        </p:blipFill>
        <p:spPr>
          <a:xfrm>
            <a:off x="7223760" y="1828800"/>
            <a:ext cx="914400" cy="1005840"/>
          </a:xfrm>
          <a:prstGeom prst="rect">
            <a:avLst/>
          </a:prstGeom>
        </p:spPr>
      </p:pic>
      <p:sp>
        <p:nvSpPr>
          <p:cNvPr id="6" name="Text 3"/>
          <p:cNvSpPr txBox="1"/>
          <p:nvPr/>
        </p:nvSpPr>
        <p:spPr>
          <a:xfrm>
            <a:off x="640080" y="4206240"/>
            <a:ext cx="7863840" cy="365760"/>
          </a:xfrm>
          <a:prstGeom prst="rect">
            <a:avLst/>
          </a:prstGeom>
          <a:noFill/>
          <a:ln/>
        </p:spPr>
        <p:txBody>
          <a:bodyPr wrap="square" lIns="0" tIns="0" rIns="0" bIns="0" rtlCol="0" anchor="ctr"/>
          <a:lstStyle/>
          <a:p>
            <a:pPr marL="0" indent="0">
              <a:buNone/>
            </a:pPr>
            <a:r>
              <a:rPr lang="en-US" sz="1400" dirty="0">
                <a:solidFill>
                  <a:schemeClr val="accent5"/>
                </a:solidFill>
              </a:rPr>
              <a:t>5,572 messages  ·  4 models  ·  98.2% best accuracy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600" b="1" dirty="0">
                <a:solidFill>
                  <a:schemeClr val="tx1"/>
                </a:solidFill>
              </a:rPr>
              <a:t>The problem</a:t>
            </a:r>
            <a:endParaRPr lang="en-US" sz="3600" dirty="0"/>
          </a:p>
        </p:txBody>
      </p:sp>
      <p:sp>
        <p:nvSpPr>
          <p:cNvPr id="4" name="Card Goal"/>
          <p:cNvSpPr/>
          <p:nvPr/>
        </p:nvSpPr>
        <p:spPr>
          <a:xfrm>
            <a:off x="457200" y="1371600"/>
            <a:ext cx="2560320" cy="2926080"/>
          </a:xfrm>
          <a:prstGeom prst="roundRect">
            <a:avLst>
              <a:gd name="adj" fmla="val 4286"/>
            </a:avLst>
          </a:prstGeom>
          <a:solidFill>
            <a:schemeClr val="bg2"/>
          </a:solidFill>
          <a:ln/>
        </p:spPr>
      </p:sp>
      <p:sp>
        <p:nvSpPr>
          <p:cNvPr id="5" name="Icon circle 1"/>
          <p:cNvSpPr/>
          <p:nvPr/>
        </p:nvSpPr>
        <p:spPr>
          <a:xfrm>
            <a:off x="731520" y="1645920"/>
            <a:ext cx="731520" cy="731520"/>
          </a:xfrm>
          <a:prstGeom prst="ellipse">
            <a:avLst/>
          </a:prstGeom>
          <a:solidFill>
            <a:schemeClr val="tx2"/>
          </a:solidFill>
          <a:ln/>
        </p:spPr>
      </p:sp>
      <p:pic>
        <p:nvPicPr>
          <p:cNvPr id="6" name="Image 0" descr="Goal icon"/>
          <p:cNvPicPr>
            <a:picLocks noChangeAspect="1"/>
          </p:cNvPicPr>
          <p:nvPr/>
        </p:nvPicPr>
        <p:blipFill>
          <a:blip r:embed="rId3"/>
          <a:stretch>
            <a:fillRect/>
          </a:stretch>
        </p:blipFill>
        <p:spPr>
          <a:xfrm>
            <a:off x="932688" y="1847088"/>
            <a:ext cx="329184" cy="329184"/>
          </a:xfrm>
          <a:prstGeom prst="rect">
            <a:avLst/>
          </a:prstGeom>
        </p:spPr>
      </p:pic>
      <p:sp>
        <p:nvSpPr>
          <p:cNvPr id="7" name="Text 3"/>
          <p:cNvSpPr txBox="1"/>
          <p:nvPr/>
        </p:nvSpPr>
        <p:spPr>
          <a:xfrm>
            <a:off x="731520" y="2606040"/>
            <a:ext cx="2103120" cy="365760"/>
          </a:xfrm>
          <a:prstGeom prst="rect">
            <a:avLst/>
          </a:prstGeom>
          <a:noFill/>
          <a:ln/>
        </p:spPr>
        <p:txBody>
          <a:bodyPr wrap="square" lIns="0" tIns="0" rIns="0" bIns="0" rtlCol="0" anchor="ctr"/>
          <a:lstStyle/>
          <a:p>
            <a:pPr marL="0" indent="0">
              <a:buNone/>
            </a:pPr>
            <a:r>
              <a:rPr lang="en-US" sz="2000" b="1" dirty="0">
                <a:solidFill>
                  <a:schemeClr val="tx1"/>
                </a:solidFill>
              </a:rPr>
              <a:t>Goal</a:t>
            </a:r>
            <a:endParaRPr lang="en-US" sz="2000" dirty="0"/>
          </a:p>
        </p:txBody>
      </p:sp>
      <p:sp>
        <p:nvSpPr>
          <p:cNvPr id="8" name="Text 4"/>
          <p:cNvSpPr txBox="1"/>
          <p:nvPr/>
        </p:nvSpPr>
        <p:spPr>
          <a:xfrm>
            <a:off x="731520" y="3017520"/>
            <a:ext cx="2103120" cy="1097280"/>
          </a:xfrm>
          <a:prstGeom prst="rect">
            <a:avLst/>
          </a:prstGeom>
          <a:noFill/>
          <a:ln/>
        </p:spPr>
        <p:txBody>
          <a:bodyPr wrap="square" lIns="0" tIns="0" rIns="0" bIns="0" rtlCol="0" anchor="t"/>
          <a:lstStyle/>
          <a:p>
            <a:pPr marL="0" indent="0">
              <a:buNone/>
            </a:pPr>
            <a:r>
              <a:rPr lang="en-US" sz="1400" dirty="0">
                <a:solidFill>
                  <a:schemeClr val="tx1"/>
                </a:solidFill>
              </a:rPr>
              <a:t>Label every message as ham (legitimate) or spam</a:t>
            </a:r>
            <a:endParaRPr lang="en-US" sz="1400" dirty="0"/>
          </a:p>
        </p:txBody>
      </p:sp>
      <p:sp>
        <p:nvSpPr>
          <p:cNvPr id="9" name="Card Approach"/>
          <p:cNvSpPr/>
          <p:nvPr/>
        </p:nvSpPr>
        <p:spPr>
          <a:xfrm>
            <a:off x="3291840" y="1371600"/>
            <a:ext cx="2560320" cy="2926080"/>
          </a:xfrm>
          <a:prstGeom prst="roundRect">
            <a:avLst>
              <a:gd name="adj" fmla="val 4286"/>
            </a:avLst>
          </a:prstGeom>
          <a:solidFill>
            <a:schemeClr val="bg2"/>
          </a:solidFill>
          <a:ln/>
        </p:spPr>
      </p:sp>
      <p:sp>
        <p:nvSpPr>
          <p:cNvPr id="10" name="Icon circle 2"/>
          <p:cNvSpPr/>
          <p:nvPr/>
        </p:nvSpPr>
        <p:spPr>
          <a:xfrm>
            <a:off x="3566160" y="1645920"/>
            <a:ext cx="731520" cy="731520"/>
          </a:xfrm>
          <a:prstGeom prst="ellipse">
            <a:avLst/>
          </a:prstGeom>
          <a:solidFill>
            <a:schemeClr val="tx2"/>
          </a:solidFill>
          <a:ln/>
        </p:spPr>
      </p:sp>
      <p:pic>
        <p:nvPicPr>
          <p:cNvPr id="11" name="Image 1" descr="Approach icon"/>
          <p:cNvPicPr>
            <a:picLocks noChangeAspect="1"/>
          </p:cNvPicPr>
          <p:nvPr/>
        </p:nvPicPr>
        <p:blipFill>
          <a:blip r:embed="rId4"/>
          <a:stretch>
            <a:fillRect/>
          </a:stretch>
        </p:blipFill>
        <p:spPr>
          <a:xfrm>
            <a:off x="3767328" y="1847088"/>
            <a:ext cx="329184" cy="329184"/>
          </a:xfrm>
          <a:prstGeom prst="rect">
            <a:avLst/>
          </a:prstGeom>
        </p:spPr>
      </p:pic>
      <p:sp>
        <p:nvSpPr>
          <p:cNvPr id="12" name="Text 7"/>
          <p:cNvSpPr txBox="1"/>
          <p:nvPr/>
        </p:nvSpPr>
        <p:spPr>
          <a:xfrm>
            <a:off x="3566160" y="2606040"/>
            <a:ext cx="2103120" cy="365760"/>
          </a:xfrm>
          <a:prstGeom prst="rect">
            <a:avLst/>
          </a:prstGeom>
          <a:noFill/>
          <a:ln/>
        </p:spPr>
        <p:txBody>
          <a:bodyPr wrap="square" lIns="0" tIns="0" rIns="0" bIns="0" rtlCol="0" anchor="ctr"/>
          <a:lstStyle/>
          <a:p>
            <a:pPr marL="0" indent="0">
              <a:buNone/>
            </a:pPr>
            <a:r>
              <a:rPr lang="en-US" sz="2000" b="1" dirty="0">
                <a:solidFill>
                  <a:schemeClr val="tx1"/>
                </a:solidFill>
              </a:rPr>
              <a:t>Approach</a:t>
            </a:r>
            <a:endParaRPr lang="en-US" sz="2000" dirty="0"/>
          </a:p>
        </p:txBody>
      </p:sp>
      <p:sp>
        <p:nvSpPr>
          <p:cNvPr id="13" name="Text 8"/>
          <p:cNvSpPr txBox="1"/>
          <p:nvPr/>
        </p:nvSpPr>
        <p:spPr>
          <a:xfrm>
            <a:off x="3566160" y="3017520"/>
            <a:ext cx="2103120" cy="1097280"/>
          </a:xfrm>
          <a:prstGeom prst="rect">
            <a:avLst/>
          </a:prstGeom>
          <a:noFill/>
          <a:ln/>
        </p:spPr>
        <p:txBody>
          <a:bodyPr wrap="square" lIns="0" tIns="0" rIns="0" bIns="0" rtlCol="0" anchor="t"/>
          <a:lstStyle/>
          <a:p>
            <a:pPr marL="0" indent="0">
              <a:buNone/>
            </a:pPr>
            <a:r>
              <a:rPr lang="en-US" sz="1400" dirty="0">
                <a:solidFill>
                  <a:schemeClr val="tx1"/>
                </a:solidFill>
              </a:rPr>
              <a:t>Clean the text, turn it into TF-IDF features, train four classifiers</a:t>
            </a:r>
            <a:endParaRPr lang="en-US" sz="1400" dirty="0"/>
          </a:p>
        </p:txBody>
      </p:sp>
      <p:sp>
        <p:nvSpPr>
          <p:cNvPr id="14" name="Card Key question"/>
          <p:cNvSpPr/>
          <p:nvPr/>
        </p:nvSpPr>
        <p:spPr>
          <a:xfrm>
            <a:off x="6126480" y="1371600"/>
            <a:ext cx="2560320" cy="2926080"/>
          </a:xfrm>
          <a:prstGeom prst="roundRect">
            <a:avLst>
              <a:gd name="adj" fmla="val 4286"/>
            </a:avLst>
          </a:prstGeom>
          <a:solidFill>
            <a:schemeClr val="bg2"/>
          </a:solidFill>
          <a:ln/>
        </p:spPr>
      </p:sp>
      <p:sp>
        <p:nvSpPr>
          <p:cNvPr id="15" name="Icon circle 3"/>
          <p:cNvSpPr/>
          <p:nvPr/>
        </p:nvSpPr>
        <p:spPr>
          <a:xfrm>
            <a:off x="6400800" y="1645920"/>
            <a:ext cx="731520" cy="731520"/>
          </a:xfrm>
          <a:prstGeom prst="ellipse">
            <a:avLst/>
          </a:prstGeom>
          <a:solidFill>
            <a:schemeClr val="tx2"/>
          </a:solidFill>
          <a:ln/>
        </p:spPr>
      </p:sp>
      <p:pic>
        <p:nvPicPr>
          <p:cNvPr id="16" name="Image 2" descr="Key question icon"/>
          <p:cNvPicPr>
            <a:picLocks noChangeAspect="1"/>
          </p:cNvPicPr>
          <p:nvPr/>
        </p:nvPicPr>
        <p:blipFill>
          <a:blip r:embed="rId5"/>
          <a:stretch>
            <a:fillRect/>
          </a:stretch>
        </p:blipFill>
        <p:spPr>
          <a:xfrm>
            <a:off x="6601968" y="1847088"/>
            <a:ext cx="329184" cy="329184"/>
          </a:xfrm>
          <a:prstGeom prst="rect">
            <a:avLst/>
          </a:prstGeom>
        </p:spPr>
      </p:pic>
      <p:sp>
        <p:nvSpPr>
          <p:cNvPr id="17" name="Text 11"/>
          <p:cNvSpPr txBox="1"/>
          <p:nvPr/>
        </p:nvSpPr>
        <p:spPr>
          <a:xfrm>
            <a:off x="6400800" y="2606040"/>
            <a:ext cx="2103120" cy="365760"/>
          </a:xfrm>
          <a:prstGeom prst="rect">
            <a:avLst/>
          </a:prstGeom>
          <a:noFill/>
          <a:ln/>
        </p:spPr>
        <p:txBody>
          <a:bodyPr wrap="square" lIns="0" tIns="0" rIns="0" bIns="0" rtlCol="0" anchor="ctr"/>
          <a:lstStyle/>
          <a:p>
            <a:pPr marL="0" indent="0">
              <a:buNone/>
            </a:pPr>
            <a:r>
              <a:rPr lang="en-US" sz="2000" b="1" dirty="0">
                <a:solidFill>
                  <a:schemeClr val="tx1"/>
                </a:solidFill>
              </a:rPr>
              <a:t>Key question</a:t>
            </a:r>
            <a:endParaRPr lang="en-US" sz="2000" dirty="0"/>
          </a:p>
        </p:txBody>
      </p:sp>
      <p:sp>
        <p:nvSpPr>
          <p:cNvPr id="18" name="Text 12"/>
          <p:cNvSpPr txBox="1"/>
          <p:nvPr/>
        </p:nvSpPr>
        <p:spPr>
          <a:xfrm>
            <a:off x="6400800" y="3017520"/>
            <a:ext cx="2103120" cy="1097280"/>
          </a:xfrm>
          <a:prstGeom prst="rect">
            <a:avLst/>
          </a:prstGeom>
          <a:noFill/>
          <a:ln/>
        </p:spPr>
        <p:txBody>
          <a:bodyPr wrap="square" lIns="0" tIns="0" rIns="0" bIns="0" rtlCol="0" anchor="t"/>
          <a:lstStyle/>
          <a:p>
            <a:pPr marL="0" indent="0">
              <a:buNone/>
            </a:pPr>
            <a:r>
              <a:rPr lang="en-US" sz="1400" dirty="0">
                <a:solidFill>
                  <a:schemeClr val="tx1"/>
                </a:solidFill>
              </a:rPr>
              <a:t>Which model catches the most spam without blocking real messages?</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8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26542" y="419100"/>
            <a:ext cx="2886075" cy="4305300"/>
          </a:xfrm>
          <a:prstGeom prst="rect">
            <a:avLst/>
          </a:prstGeom>
        </p:spPr>
      </p:pic>
      <p:sp>
        <p:nvSpPr>
          <p:cNvPr id="4" name="TextBox 3"/>
          <p:cNvSpPr txBox="1"/>
          <p:nvPr/>
        </p:nvSpPr>
        <p:spPr>
          <a:xfrm>
            <a:off x="245097" y="419100"/>
            <a:ext cx="5819991" cy="646331"/>
          </a:xfrm>
          <a:prstGeom prst="rect">
            <a:avLst/>
          </a:prstGeom>
          <a:noFill/>
        </p:spPr>
        <p:txBody>
          <a:bodyPr wrap="none" rtlCol="0">
            <a:spAutoFit/>
          </a:bodyPr>
          <a:lstStyle/>
          <a:p>
            <a:r>
              <a:rPr lang="en-US" sz="3600" b="1" dirty="0" smtClean="0"/>
              <a:t>Machine </a:t>
            </a:r>
            <a:r>
              <a:rPr lang="en-US" sz="3600" b="1" dirty="0" smtClean="0">
                <a:latin typeface="+mj-lt"/>
              </a:rPr>
              <a:t>Learning</a:t>
            </a:r>
            <a:r>
              <a:rPr lang="en-US" sz="3600" b="1" dirty="0" smtClean="0"/>
              <a:t> Approach</a:t>
            </a:r>
            <a:endParaRPr lang="en-IN" sz="3600" b="1" dirty="0"/>
          </a:p>
        </p:txBody>
      </p:sp>
    </p:spTree>
    <p:extLst>
      <p:ext uri="{BB962C8B-B14F-4D97-AF65-F5344CB8AC3E}">
        <p14:creationId xmlns:p14="http://schemas.microsoft.com/office/powerpoint/2010/main" val="21495720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600" b="1" dirty="0">
                <a:solidFill>
                  <a:schemeClr val="tx1"/>
                </a:solidFill>
              </a:rPr>
              <a:t>The dataset</a:t>
            </a:r>
            <a:endParaRPr lang="en-US" sz="3600" dirty="0"/>
          </a:p>
        </p:txBody>
      </p:sp>
      <p:sp>
        <p:nvSpPr>
          <p:cNvPr id="4" name="Stat card 1"/>
          <p:cNvSpPr/>
          <p:nvPr/>
        </p:nvSpPr>
        <p:spPr>
          <a:xfrm>
            <a:off x="457200" y="1280160"/>
            <a:ext cx="3931920" cy="914400"/>
          </a:xfrm>
          <a:prstGeom prst="roundRect">
            <a:avLst>
              <a:gd name="adj" fmla="val 12000"/>
            </a:avLst>
          </a:prstGeom>
          <a:solidFill>
            <a:schemeClr val="bg2"/>
          </a:solidFill>
          <a:ln/>
        </p:spPr>
      </p:sp>
      <p:sp>
        <p:nvSpPr>
          <p:cNvPr id="5" name="Text 2"/>
          <p:cNvSpPr txBox="1"/>
          <p:nvPr/>
        </p:nvSpPr>
        <p:spPr>
          <a:xfrm>
            <a:off x="640080" y="1280160"/>
            <a:ext cx="1554480" cy="914400"/>
          </a:xfrm>
          <a:prstGeom prst="rect">
            <a:avLst/>
          </a:prstGeom>
          <a:noFill/>
          <a:ln/>
        </p:spPr>
        <p:txBody>
          <a:bodyPr wrap="square" lIns="0" tIns="0" rIns="0" bIns="0" rtlCol="0" anchor="ctr"/>
          <a:lstStyle/>
          <a:p>
            <a:pPr marL="0" indent="0">
              <a:buNone/>
            </a:pPr>
            <a:r>
              <a:rPr lang="en-US" sz="3600" b="1" dirty="0">
                <a:solidFill>
                  <a:schemeClr val="tx1"/>
                </a:solidFill>
              </a:rPr>
              <a:t>5,572</a:t>
            </a:r>
            <a:endParaRPr lang="en-US" sz="3600" dirty="0"/>
          </a:p>
        </p:txBody>
      </p:sp>
      <p:sp>
        <p:nvSpPr>
          <p:cNvPr id="6" name="Text 3"/>
          <p:cNvSpPr txBox="1"/>
          <p:nvPr/>
        </p:nvSpPr>
        <p:spPr>
          <a:xfrm>
            <a:off x="2240280" y="1280160"/>
            <a:ext cx="2011680" cy="914400"/>
          </a:xfrm>
          <a:prstGeom prst="rect">
            <a:avLst/>
          </a:prstGeom>
          <a:noFill/>
          <a:ln/>
        </p:spPr>
        <p:txBody>
          <a:bodyPr wrap="square" lIns="0" tIns="0" rIns="0" bIns="0" rtlCol="0" anchor="ctr"/>
          <a:lstStyle/>
          <a:p>
            <a:pPr marL="0" indent="0">
              <a:buNone/>
            </a:pPr>
            <a:r>
              <a:rPr lang="en-US" sz="1400" dirty="0">
                <a:solidFill>
                  <a:schemeClr val="tx1"/>
                </a:solidFill>
              </a:rPr>
              <a:t>SMS messages, no missing values</a:t>
            </a:r>
            <a:endParaRPr lang="en-US" sz="1400" dirty="0"/>
          </a:p>
        </p:txBody>
      </p:sp>
      <p:sp>
        <p:nvSpPr>
          <p:cNvPr id="7" name="Stat card 2"/>
          <p:cNvSpPr/>
          <p:nvPr/>
        </p:nvSpPr>
        <p:spPr>
          <a:xfrm>
            <a:off x="457200" y="2331720"/>
            <a:ext cx="3931920" cy="914400"/>
          </a:xfrm>
          <a:prstGeom prst="roundRect">
            <a:avLst>
              <a:gd name="adj" fmla="val 12000"/>
            </a:avLst>
          </a:prstGeom>
          <a:solidFill>
            <a:schemeClr val="bg2"/>
          </a:solidFill>
          <a:ln/>
        </p:spPr>
      </p:sp>
      <p:sp>
        <p:nvSpPr>
          <p:cNvPr id="8" name="Text 5"/>
          <p:cNvSpPr txBox="1"/>
          <p:nvPr/>
        </p:nvSpPr>
        <p:spPr>
          <a:xfrm>
            <a:off x="640080" y="2331720"/>
            <a:ext cx="1554480" cy="914400"/>
          </a:xfrm>
          <a:prstGeom prst="rect">
            <a:avLst/>
          </a:prstGeom>
          <a:noFill/>
          <a:ln/>
        </p:spPr>
        <p:txBody>
          <a:bodyPr wrap="square" lIns="0" tIns="0" rIns="0" bIns="0" rtlCol="0" anchor="ctr"/>
          <a:lstStyle/>
          <a:p>
            <a:pPr marL="0" indent="0">
              <a:buNone/>
            </a:pPr>
            <a:r>
              <a:rPr lang="en-US" sz="3600" b="1" dirty="0">
                <a:solidFill>
                  <a:schemeClr val="accent2"/>
                </a:solidFill>
              </a:rPr>
              <a:t>4,825</a:t>
            </a:r>
            <a:endParaRPr lang="en-US" sz="3600" dirty="0"/>
          </a:p>
        </p:txBody>
      </p:sp>
      <p:sp>
        <p:nvSpPr>
          <p:cNvPr id="9" name="Text 6"/>
          <p:cNvSpPr txBox="1"/>
          <p:nvPr/>
        </p:nvSpPr>
        <p:spPr>
          <a:xfrm>
            <a:off x="2240280" y="2331720"/>
            <a:ext cx="2011680" cy="914400"/>
          </a:xfrm>
          <a:prstGeom prst="rect">
            <a:avLst/>
          </a:prstGeom>
          <a:noFill/>
          <a:ln/>
        </p:spPr>
        <p:txBody>
          <a:bodyPr wrap="square" lIns="0" tIns="0" rIns="0" bIns="0" rtlCol="0" anchor="ctr"/>
          <a:lstStyle/>
          <a:p>
            <a:pPr marL="0" indent="0">
              <a:buNone/>
            </a:pPr>
            <a:r>
              <a:rPr lang="en-US" sz="1400" dirty="0">
                <a:solidFill>
                  <a:schemeClr val="tx1"/>
                </a:solidFill>
              </a:rPr>
              <a:t>ham: legitimate messages</a:t>
            </a:r>
            <a:endParaRPr lang="en-US" sz="1400" dirty="0"/>
          </a:p>
        </p:txBody>
      </p:sp>
      <p:sp>
        <p:nvSpPr>
          <p:cNvPr id="10" name="Stat card 3"/>
          <p:cNvSpPr/>
          <p:nvPr/>
        </p:nvSpPr>
        <p:spPr>
          <a:xfrm>
            <a:off x="457200" y="3383280"/>
            <a:ext cx="3931920" cy="914400"/>
          </a:xfrm>
          <a:prstGeom prst="roundRect">
            <a:avLst>
              <a:gd name="adj" fmla="val 12000"/>
            </a:avLst>
          </a:prstGeom>
          <a:solidFill>
            <a:schemeClr val="bg2"/>
          </a:solidFill>
          <a:ln/>
        </p:spPr>
      </p:sp>
      <p:sp>
        <p:nvSpPr>
          <p:cNvPr id="11" name="Text 8"/>
          <p:cNvSpPr txBox="1"/>
          <p:nvPr/>
        </p:nvSpPr>
        <p:spPr>
          <a:xfrm>
            <a:off x="640080" y="3383280"/>
            <a:ext cx="1554480" cy="914400"/>
          </a:xfrm>
          <a:prstGeom prst="rect">
            <a:avLst/>
          </a:prstGeom>
          <a:noFill/>
          <a:ln/>
        </p:spPr>
        <p:txBody>
          <a:bodyPr wrap="square" lIns="0" tIns="0" rIns="0" bIns="0" rtlCol="0" anchor="ctr"/>
          <a:lstStyle/>
          <a:p>
            <a:pPr marL="0" indent="0">
              <a:buNone/>
            </a:pPr>
            <a:r>
              <a:rPr lang="en-US" sz="3600" b="1" dirty="0">
                <a:solidFill>
                  <a:schemeClr val="accent1"/>
                </a:solidFill>
              </a:rPr>
              <a:t>747</a:t>
            </a:r>
            <a:endParaRPr lang="en-US" sz="3600" dirty="0"/>
          </a:p>
        </p:txBody>
      </p:sp>
      <p:sp>
        <p:nvSpPr>
          <p:cNvPr id="12" name="Text 9"/>
          <p:cNvSpPr txBox="1"/>
          <p:nvPr/>
        </p:nvSpPr>
        <p:spPr>
          <a:xfrm>
            <a:off x="2240280" y="3383280"/>
            <a:ext cx="2011680" cy="914400"/>
          </a:xfrm>
          <a:prstGeom prst="rect">
            <a:avLst/>
          </a:prstGeom>
          <a:noFill/>
          <a:ln/>
        </p:spPr>
        <p:txBody>
          <a:bodyPr wrap="square" lIns="0" tIns="0" rIns="0" bIns="0" rtlCol="0" anchor="ctr"/>
          <a:lstStyle/>
          <a:p>
            <a:pPr marL="0" indent="0">
              <a:buNone/>
            </a:pPr>
            <a:r>
              <a:rPr lang="en-US" sz="1400" dirty="0">
                <a:solidFill>
                  <a:schemeClr val="tx1"/>
                </a:solidFill>
              </a:rPr>
              <a:t>spam: 13.4% of the data</a:t>
            </a:r>
            <a:endParaRPr lang="en-US" sz="1400" dirty="0"/>
          </a:p>
        </p:txBody>
      </p:sp>
      <p:graphicFrame>
        <p:nvGraphicFramePr>
          <p:cNvPr id="13" name="Chart 0"/>
          <p:cNvGraphicFramePr/>
          <p:nvPr/>
        </p:nvGraphicFramePr>
        <p:xfrm>
          <a:off x="4754880" y="1188720"/>
          <a:ext cx="393192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 10"/>
          <p:cNvSpPr txBox="1"/>
          <p:nvPr/>
        </p:nvSpPr>
        <p:spPr>
          <a:xfrm>
            <a:off x="4754880" y="4251960"/>
            <a:ext cx="3931920" cy="365760"/>
          </a:xfrm>
          <a:prstGeom prst="rect">
            <a:avLst/>
          </a:prstGeom>
          <a:noFill/>
          <a:ln/>
        </p:spPr>
        <p:txBody>
          <a:bodyPr wrap="square" lIns="0" tIns="0" rIns="0" bIns="0" rtlCol="0" anchor="ctr"/>
          <a:lstStyle/>
          <a:p>
            <a:pPr marL="0" indent="0">
              <a:buNone/>
            </a:pPr>
            <a:r>
              <a:rPr lang="en-US" sz="1200" i="1" dirty="0">
                <a:solidFill>
                  <a:schemeClr val="accent4"/>
                </a:solidFill>
              </a:rPr>
              <a:t>Imbalanced classes: accuracy alone can hide missed spam</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8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600" b="1" dirty="0">
                <a:solidFill>
                  <a:schemeClr val="tx1"/>
                </a:solidFill>
              </a:rPr>
              <a:t>Spam looks different</a:t>
            </a:r>
            <a:endParaRPr lang="en-US" sz="3600" dirty="0"/>
          </a:p>
        </p:txBody>
      </p:sp>
      <p:sp>
        <p:nvSpPr>
          <p:cNvPr id="4" name="EDA card 1"/>
          <p:cNvSpPr/>
          <p:nvPr/>
        </p:nvSpPr>
        <p:spPr>
          <a:xfrm>
            <a:off x="457200" y="1280160"/>
            <a:ext cx="2560320" cy="2651760"/>
          </a:xfrm>
          <a:prstGeom prst="roundRect">
            <a:avLst>
              <a:gd name="adj" fmla="val 4286"/>
            </a:avLst>
          </a:prstGeom>
          <a:solidFill>
            <a:schemeClr val="bg2"/>
          </a:solidFill>
          <a:ln/>
        </p:spPr>
      </p:sp>
      <p:sp>
        <p:nvSpPr>
          <p:cNvPr id="5" name="Text 2"/>
          <p:cNvSpPr txBox="1"/>
          <p:nvPr/>
        </p:nvSpPr>
        <p:spPr>
          <a:xfrm>
            <a:off x="685800" y="1417320"/>
            <a:ext cx="2103120" cy="365760"/>
          </a:xfrm>
          <a:prstGeom prst="rect">
            <a:avLst/>
          </a:prstGeom>
          <a:noFill/>
          <a:ln/>
        </p:spPr>
        <p:txBody>
          <a:bodyPr wrap="square" lIns="0" tIns="0" rIns="0" bIns="0" rtlCol="0" anchor="ctr"/>
          <a:lstStyle/>
          <a:p>
            <a:pPr marL="0" indent="0">
              <a:buNone/>
            </a:pPr>
            <a:r>
              <a:rPr lang="en-US" sz="1400" b="1" dirty="0">
                <a:solidFill>
                  <a:schemeClr val="tx1"/>
                </a:solidFill>
              </a:rPr>
              <a:t>Characters per message</a:t>
            </a:r>
            <a:endParaRPr lang="en-US" sz="1400" dirty="0"/>
          </a:p>
        </p:txBody>
      </p:sp>
      <p:sp>
        <p:nvSpPr>
          <p:cNvPr id="6" name="Text 3"/>
          <p:cNvSpPr txBox="1"/>
          <p:nvPr/>
        </p:nvSpPr>
        <p:spPr>
          <a:xfrm>
            <a:off x="685800" y="1828800"/>
            <a:ext cx="1051560" cy="731520"/>
          </a:xfrm>
          <a:prstGeom prst="rect">
            <a:avLst/>
          </a:prstGeom>
          <a:noFill/>
          <a:ln/>
        </p:spPr>
        <p:txBody>
          <a:bodyPr wrap="square" lIns="0" tIns="0" rIns="0" bIns="0" rtlCol="0" anchor="ctr"/>
          <a:lstStyle/>
          <a:p>
            <a:pPr marL="0" indent="0">
              <a:buNone/>
            </a:pPr>
            <a:r>
              <a:rPr lang="en-US" sz="3600" b="1" dirty="0">
                <a:solidFill>
                  <a:schemeClr val="accent2"/>
                </a:solidFill>
              </a:rPr>
              <a:t>71.5</a:t>
            </a:r>
            <a:endParaRPr lang="en-US" sz="3600" dirty="0"/>
          </a:p>
        </p:txBody>
      </p:sp>
      <p:sp>
        <p:nvSpPr>
          <p:cNvPr id="7" name="Text 4"/>
          <p:cNvSpPr txBox="1"/>
          <p:nvPr/>
        </p:nvSpPr>
        <p:spPr>
          <a:xfrm>
            <a:off x="1737360" y="1828800"/>
            <a:ext cx="1188720" cy="731520"/>
          </a:xfrm>
          <a:prstGeom prst="rect">
            <a:avLst/>
          </a:prstGeom>
          <a:noFill/>
          <a:ln/>
        </p:spPr>
        <p:txBody>
          <a:bodyPr wrap="square" lIns="0" tIns="0" rIns="0" bIns="0" rtlCol="0" anchor="ctr"/>
          <a:lstStyle/>
          <a:p>
            <a:pPr marL="0" indent="0">
              <a:buNone/>
            </a:pPr>
            <a:r>
              <a:rPr lang="en-US" sz="3600" b="1" dirty="0">
                <a:solidFill>
                  <a:schemeClr val="accent1"/>
                </a:solidFill>
              </a:rPr>
              <a:t>138.7</a:t>
            </a:r>
            <a:endParaRPr lang="en-US" sz="3600" dirty="0"/>
          </a:p>
        </p:txBody>
      </p:sp>
      <p:sp>
        <p:nvSpPr>
          <p:cNvPr id="8" name="Text 5"/>
          <p:cNvSpPr txBox="1"/>
          <p:nvPr/>
        </p:nvSpPr>
        <p:spPr>
          <a:xfrm>
            <a:off x="685800" y="2560320"/>
            <a:ext cx="1051560" cy="274320"/>
          </a:xfrm>
          <a:prstGeom prst="rect">
            <a:avLst/>
          </a:prstGeom>
          <a:noFill/>
          <a:ln/>
        </p:spPr>
        <p:txBody>
          <a:bodyPr wrap="square" lIns="0" tIns="0" rIns="0" bIns="0" rtlCol="0" anchor="ctr"/>
          <a:lstStyle/>
          <a:p>
            <a:pPr marL="0" indent="0">
              <a:buNone/>
            </a:pPr>
            <a:r>
              <a:rPr lang="en-US" sz="1200" dirty="0">
                <a:solidFill>
                  <a:schemeClr val="accent4"/>
                </a:solidFill>
              </a:rPr>
              <a:t>Ham (avg)</a:t>
            </a:r>
            <a:endParaRPr lang="en-US" sz="1200" dirty="0"/>
          </a:p>
        </p:txBody>
      </p:sp>
      <p:sp>
        <p:nvSpPr>
          <p:cNvPr id="9" name="Text 6"/>
          <p:cNvSpPr txBox="1"/>
          <p:nvPr/>
        </p:nvSpPr>
        <p:spPr>
          <a:xfrm>
            <a:off x="1737360" y="2560320"/>
            <a:ext cx="1188720" cy="274320"/>
          </a:xfrm>
          <a:prstGeom prst="rect">
            <a:avLst/>
          </a:prstGeom>
          <a:noFill/>
          <a:ln/>
        </p:spPr>
        <p:txBody>
          <a:bodyPr wrap="square" lIns="0" tIns="0" rIns="0" bIns="0" rtlCol="0" anchor="ctr"/>
          <a:lstStyle/>
          <a:p>
            <a:pPr marL="0" indent="0">
              <a:buNone/>
            </a:pPr>
            <a:r>
              <a:rPr lang="en-US" sz="1200" dirty="0">
                <a:solidFill>
                  <a:schemeClr val="accent4"/>
                </a:solidFill>
              </a:rPr>
              <a:t>Spam (avg)</a:t>
            </a:r>
            <a:endParaRPr lang="en-US" sz="1200" dirty="0"/>
          </a:p>
        </p:txBody>
      </p:sp>
      <p:sp>
        <p:nvSpPr>
          <p:cNvPr id="10" name="Text 7"/>
          <p:cNvSpPr txBox="1"/>
          <p:nvPr/>
        </p:nvSpPr>
        <p:spPr>
          <a:xfrm>
            <a:off x="685800" y="3200400"/>
            <a:ext cx="2103120" cy="365760"/>
          </a:xfrm>
          <a:prstGeom prst="rect">
            <a:avLst/>
          </a:prstGeom>
          <a:noFill/>
          <a:ln/>
        </p:spPr>
        <p:txBody>
          <a:bodyPr wrap="square" lIns="0" tIns="0" rIns="0" bIns="0" rtlCol="0" anchor="ctr"/>
          <a:lstStyle/>
          <a:p>
            <a:pPr marL="0" indent="0">
              <a:buNone/>
            </a:pPr>
            <a:r>
              <a:rPr lang="en-US" sz="1600" b="1" dirty="0">
                <a:solidFill>
                  <a:schemeClr val="tx1"/>
                </a:solidFill>
              </a:rPr>
              <a:t>1.9x longer in spam</a:t>
            </a:r>
            <a:endParaRPr lang="en-US" sz="1600" dirty="0"/>
          </a:p>
        </p:txBody>
      </p:sp>
      <p:sp>
        <p:nvSpPr>
          <p:cNvPr id="11" name="EDA card 2"/>
          <p:cNvSpPr/>
          <p:nvPr/>
        </p:nvSpPr>
        <p:spPr>
          <a:xfrm>
            <a:off x="3291840" y="1280160"/>
            <a:ext cx="2560320" cy="2651760"/>
          </a:xfrm>
          <a:prstGeom prst="roundRect">
            <a:avLst>
              <a:gd name="adj" fmla="val 4286"/>
            </a:avLst>
          </a:prstGeom>
          <a:solidFill>
            <a:schemeClr val="bg2"/>
          </a:solidFill>
          <a:ln/>
        </p:spPr>
      </p:sp>
      <p:sp>
        <p:nvSpPr>
          <p:cNvPr id="12" name="Text 9"/>
          <p:cNvSpPr txBox="1"/>
          <p:nvPr/>
        </p:nvSpPr>
        <p:spPr>
          <a:xfrm>
            <a:off x="3520440" y="1417320"/>
            <a:ext cx="2103120" cy="365760"/>
          </a:xfrm>
          <a:prstGeom prst="rect">
            <a:avLst/>
          </a:prstGeom>
          <a:noFill/>
          <a:ln/>
        </p:spPr>
        <p:txBody>
          <a:bodyPr wrap="square" lIns="0" tIns="0" rIns="0" bIns="0" rtlCol="0" anchor="ctr"/>
          <a:lstStyle/>
          <a:p>
            <a:pPr marL="0" indent="0">
              <a:buNone/>
            </a:pPr>
            <a:r>
              <a:rPr lang="en-US" sz="1400" b="1" dirty="0">
                <a:solidFill>
                  <a:schemeClr val="tx1"/>
                </a:solidFill>
              </a:rPr>
              <a:t>Words per message</a:t>
            </a:r>
            <a:endParaRPr lang="en-US" sz="1400" dirty="0"/>
          </a:p>
        </p:txBody>
      </p:sp>
      <p:sp>
        <p:nvSpPr>
          <p:cNvPr id="13" name="Text 10"/>
          <p:cNvSpPr txBox="1"/>
          <p:nvPr/>
        </p:nvSpPr>
        <p:spPr>
          <a:xfrm>
            <a:off x="3520440" y="1828800"/>
            <a:ext cx="1051560" cy="731520"/>
          </a:xfrm>
          <a:prstGeom prst="rect">
            <a:avLst/>
          </a:prstGeom>
          <a:noFill/>
          <a:ln/>
        </p:spPr>
        <p:txBody>
          <a:bodyPr wrap="square" lIns="0" tIns="0" rIns="0" bIns="0" rtlCol="0" anchor="ctr"/>
          <a:lstStyle/>
          <a:p>
            <a:pPr marL="0" indent="0">
              <a:buNone/>
            </a:pPr>
            <a:r>
              <a:rPr lang="en-US" sz="3600" b="1" dirty="0">
                <a:solidFill>
                  <a:schemeClr val="accent2"/>
                </a:solidFill>
              </a:rPr>
              <a:t>14.3</a:t>
            </a:r>
            <a:endParaRPr lang="en-US" sz="3600" dirty="0"/>
          </a:p>
        </p:txBody>
      </p:sp>
      <p:sp>
        <p:nvSpPr>
          <p:cNvPr id="14" name="Text 11"/>
          <p:cNvSpPr txBox="1"/>
          <p:nvPr/>
        </p:nvSpPr>
        <p:spPr>
          <a:xfrm>
            <a:off x="4572000" y="1828800"/>
            <a:ext cx="1188720" cy="731520"/>
          </a:xfrm>
          <a:prstGeom prst="rect">
            <a:avLst/>
          </a:prstGeom>
          <a:noFill/>
          <a:ln/>
        </p:spPr>
        <p:txBody>
          <a:bodyPr wrap="square" lIns="0" tIns="0" rIns="0" bIns="0" rtlCol="0" anchor="ctr"/>
          <a:lstStyle/>
          <a:p>
            <a:pPr marL="0" indent="0">
              <a:buNone/>
            </a:pPr>
            <a:r>
              <a:rPr lang="en-US" sz="3600" b="1" dirty="0">
                <a:solidFill>
                  <a:schemeClr val="accent1"/>
                </a:solidFill>
              </a:rPr>
              <a:t>23.9</a:t>
            </a:r>
            <a:endParaRPr lang="en-US" sz="3600" dirty="0"/>
          </a:p>
        </p:txBody>
      </p:sp>
      <p:sp>
        <p:nvSpPr>
          <p:cNvPr id="15" name="Text 12"/>
          <p:cNvSpPr txBox="1"/>
          <p:nvPr/>
        </p:nvSpPr>
        <p:spPr>
          <a:xfrm>
            <a:off x="3520440" y="2560320"/>
            <a:ext cx="1051560" cy="274320"/>
          </a:xfrm>
          <a:prstGeom prst="rect">
            <a:avLst/>
          </a:prstGeom>
          <a:noFill/>
          <a:ln/>
        </p:spPr>
        <p:txBody>
          <a:bodyPr wrap="square" lIns="0" tIns="0" rIns="0" bIns="0" rtlCol="0" anchor="ctr"/>
          <a:lstStyle/>
          <a:p>
            <a:pPr marL="0" indent="0">
              <a:buNone/>
            </a:pPr>
            <a:r>
              <a:rPr lang="en-US" sz="1200" dirty="0">
                <a:solidFill>
                  <a:schemeClr val="accent4"/>
                </a:solidFill>
              </a:rPr>
              <a:t>Ham (avg)</a:t>
            </a:r>
            <a:endParaRPr lang="en-US" sz="1200" dirty="0"/>
          </a:p>
        </p:txBody>
      </p:sp>
      <p:sp>
        <p:nvSpPr>
          <p:cNvPr id="16" name="Text 13"/>
          <p:cNvSpPr txBox="1"/>
          <p:nvPr/>
        </p:nvSpPr>
        <p:spPr>
          <a:xfrm>
            <a:off x="4572000" y="2560320"/>
            <a:ext cx="1188720" cy="274320"/>
          </a:xfrm>
          <a:prstGeom prst="rect">
            <a:avLst/>
          </a:prstGeom>
          <a:noFill/>
          <a:ln/>
        </p:spPr>
        <p:txBody>
          <a:bodyPr wrap="square" lIns="0" tIns="0" rIns="0" bIns="0" rtlCol="0" anchor="ctr"/>
          <a:lstStyle/>
          <a:p>
            <a:pPr marL="0" indent="0">
              <a:buNone/>
            </a:pPr>
            <a:r>
              <a:rPr lang="en-US" sz="1200" dirty="0">
                <a:solidFill>
                  <a:schemeClr val="accent4"/>
                </a:solidFill>
              </a:rPr>
              <a:t>Spam (avg)</a:t>
            </a:r>
            <a:endParaRPr lang="en-US" sz="1200" dirty="0"/>
          </a:p>
        </p:txBody>
      </p:sp>
      <p:sp>
        <p:nvSpPr>
          <p:cNvPr id="17" name="Text 14"/>
          <p:cNvSpPr txBox="1"/>
          <p:nvPr/>
        </p:nvSpPr>
        <p:spPr>
          <a:xfrm>
            <a:off x="3520440" y="3200400"/>
            <a:ext cx="2103120" cy="365760"/>
          </a:xfrm>
          <a:prstGeom prst="rect">
            <a:avLst/>
          </a:prstGeom>
          <a:noFill/>
          <a:ln/>
        </p:spPr>
        <p:txBody>
          <a:bodyPr wrap="square" lIns="0" tIns="0" rIns="0" bIns="0" rtlCol="0" anchor="ctr"/>
          <a:lstStyle/>
          <a:p>
            <a:pPr marL="0" indent="0">
              <a:buNone/>
            </a:pPr>
            <a:r>
              <a:rPr lang="en-US" sz="1600" b="1" dirty="0">
                <a:solidFill>
                  <a:schemeClr val="tx1"/>
                </a:solidFill>
              </a:rPr>
              <a:t>1.7x more in spam</a:t>
            </a:r>
            <a:endParaRPr lang="en-US" sz="1600" dirty="0"/>
          </a:p>
        </p:txBody>
      </p:sp>
      <p:sp>
        <p:nvSpPr>
          <p:cNvPr id="18" name="EDA card 3"/>
          <p:cNvSpPr/>
          <p:nvPr/>
        </p:nvSpPr>
        <p:spPr>
          <a:xfrm>
            <a:off x="6126480" y="1280160"/>
            <a:ext cx="2560320" cy="2651760"/>
          </a:xfrm>
          <a:prstGeom prst="roundRect">
            <a:avLst>
              <a:gd name="adj" fmla="val 4286"/>
            </a:avLst>
          </a:prstGeom>
          <a:solidFill>
            <a:schemeClr val="bg2"/>
          </a:solidFill>
          <a:ln/>
        </p:spPr>
      </p:sp>
      <p:sp>
        <p:nvSpPr>
          <p:cNvPr id="19" name="Text 16"/>
          <p:cNvSpPr txBox="1"/>
          <p:nvPr/>
        </p:nvSpPr>
        <p:spPr>
          <a:xfrm>
            <a:off x="6355080" y="1417320"/>
            <a:ext cx="2103120" cy="365760"/>
          </a:xfrm>
          <a:prstGeom prst="rect">
            <a:avLst/>
          </a:prstGeom>
          <a:noFill/>
          <a:ln/>
        </p:spPr>
        <p:txBody>
          <a:bodyPr wrap="square" lIns="0" tIns="0" rIns="0" bIns="0" rtlCol="0" anchor="ctr"/>
          <a:lstStyle/>
          <a:p>
            <a:pPr marL="0" indent="0">
              <a:buNone/>
            </a:pPr>
            <a:r>
              <a:rPr lang="en-US" sz="1400" b="1" dirty="0">
                <a:solidFill>
                  <a:schemeClr val="tx1"/>
                </a:solidFill>
              </a:rPr>
              <a:t>Punctuation marks</a:t>
            </a:r>
            <a:endParaRPr lang="en-US" sz="1400" dirty="0"/>
          </a:p>
        </p:txBody>
      </p:sp>
      <p:sp>
        <p:nvSpPr>
          <p:cNvPr id="20" name="Text 17"/>
          <p:cNvSpPr txBox="1"/>
          <p:nvPr/>
        </p:nvSpPr>
        <p:spPr>
          <a:xfrm>
            <a:off x="6355080" y="1828800"/>
            <a:ext cx="1051560" cy="731520"/>
          </a:xfrm>
          <a:prstGeom prst="rect">
            <a:avLst/>
          </a:prstGeom>
          <a:noFill/>
          <a:ln/>
        </p:spPr>
        <p:txBody>
          <a:bodyPr wrap="square" lIns="0" tIns="0" rIns="0" bIns="0" rtlCol="0" anchor="ctr"/>
          <a:lstStyle/>
          <a:p>
            <a:pPr marL="0" indent="0">
              <a:buNone/>
            </a:pPr>
            <a:r>
              <a:rPr lang="en-US" sz="3600" b="1" dirty="0">
                <a:solidFill>
                  <a:schemeClr val="accent2"/>
                </a:solidFill>
              </a:rPr>
              <a:t>3.9</a:t>
            </a:r>
            <a:endParaRPr lang="en-US" sz="3600" dirty="0"/>
          </a:p>
        </p:txBody>
      </p:sp>
      <p:sp>
        <p:nvSpPr>
          <p:cNvPr id="21" name="Text 18"/>
          <p:cNvSpPr txBox="1"/>
          <p:nvPr/>
        </p:nvSpPr>
        <p:spPr>
          <a:xfrm>
            <a:off x="7406640" y="1828800"/>
            <a:ext cx="1188720" cy="731520"/>
          </a:xfrm>
          <a:prstGeom prst="rect">
            <a:avLst/>
          </a:prstGeom>
          <a:noFill/>
          <a:ln/>
        </p:spPr>
        <p:txBody>
          <a:bodyPr wrap="square" lIns="0" tIns="0" rIns="0" bIns="0" rtlCol="0" anchor="ctr"/>
          <a:lstStyle/>
          <a:p>
            <a:pPr marL="0" indent="0">
              <a:buNone/>
            </a:pPr>
            <a:r>
              <a:rPr lang="en-US" sz="3600" b="1" dirty="0">
                <a:solidFill>
                  <a:schemeClr val="accent1"/>
                </a:solidFill>
              </a:rPr>
              <a:t>5.7</a:t>
            </a:r>
            <a:endParaRPr lang="en-US" sz="3600" dirty="0"/>
          </a:p>
        </p:txBody>
      </p:sp>
      <p:sp>
        <p:nvSpPr>
          <p:cNvPr id="22" name="Text 19"/>
          <p:cNvSpPr txBox="1"/>
          <p:nvPr/>
        </p:nvSpPr>
        <p:spPr>
          <a:xfrm>
            <a:off x="6355080" y="2560320"/>
            <a:ext cx="1051560" cy="274320"/>
          </a:xfrm>
          <a:prstGeom prst="rect">
            <a:avLst/>
          </a:prstGeom>
          <a:noFill/>
          <a:ln/>
        </p:spPr>
        <p:txBody>
          <a:bodyPr wrap="square" lIns="0" tIns="0" rIns="0" bIns="0" rtlCol="0" anchor="ctr"/>
          <a:lstStyle/>
          <a:p>
            <a:pPr marL="0" indent="0">
              <a:buNone/>
            </a:pPr>
            <a:r>
              <a:rPr lang="en-US" sz="1200" dirty="0">
                <a:solidFill>
                  <a:schemeClr val="accent4"/>
                </a:solidFill>
              </a:rPr>
              <a:t>Ham (avg)</a:t>
            </a:r>
            <a:endParaRPr lang="en-US" sz="1200" dirty="0"/>
          </a:p>
        </p:txBody>
      </p:sp>
      <p:sp>
        <p:nvSpPr>
          <p:cNvPr id="23" name="Text 20"/>
          <p:cNvSpPr txBox="1"/>
          <p:nvPr/>
        </p:nvSpPr>
        <p:spPr>
          <a:xfrm>
            <a:off x="7406640" y="2560320"/>
            <a:ext cx="1188720" cy="274320"/>
          </a:xfrm>
          <a:prstGeom prst="rect">
            <a:avLst/>
          </a:prstGeom>
          <a:noFill/>
          <a:ln/>
        </p:spPr>
        <p:txBody>
          <a:bodyPr wrap="square" lIns="0" tIns="0" rIns="0" bIns="0" rtlCol="0" anchor="ctr"/>
          <a:lstStyle/>
          <a:p>
            <a:pPr marL="0" indent="0">
              <a:buNone/>
            </a:pPr>
            <a:r>
              <a:rPr lang="en-US" sz="1200" dirty="0">
                <a:solidFill>
                  <a:schemeClr val="accent4"/>
                </a:solidFill>
              </a:rPr>
              <a:t>Spam (avg)</a:t>
            </a:r>
            <a:endParaRPr lang="en-US" sz="1200" dirty="0"/>
          </a:p>
        </p:txBody>
      </p:sp>
      <p:sp>
        <p:nvSpPr>
          <p:cNvPr id="24" name="Text 21"/>
          <p:cNvSpPr txBox="1"/>
          <p:nvPr/>
        </p:nvSpPr>
        <p:spPr>
          <a:xfrm>
            <a:off x="6355080" y="3200400"/>
            <a:ext cx="2103120" cy="365760"/>
          </a:xfrm>
          <a:prstGeom prst="rect">
            <a:avLst/>
          </a:prstGeom>
          <a:noFill/>
          <a:ln/>
        </p:spPr>
        <p:txBody>
          <a:bodyPr wrap="square" lIns="0" tIns="0" rIns="0" bIns="0" rtlCol="0" anchor="ctr"/>
          <a:lstStyle/>
          <a:p>
            <a:pPr marL="0" indent="0">
              <a:buNone/>
            </a:pPr>
            <a:r>
              <a:rPr lang="en-US" sz="1600" b="1" dirty="0">
                <a:solidFill>
                  <a:schemeClr val="tx1"/>
                </a:solidFill>
              </a:rPr>
              <a:t>1.5x more in spam</a:t>
            </a:r>
            <a:endParaRPr lang="en-US" sz="1600" dirty="0"/>
          </a:p>
        </p:txBody>
      </p:sp>
      <p:sp>
        <p:nvSpPr>
          <p:cNvPr id="25" name="Text 22"/>
          <p:cNvSpPr txBox="1"/>
          <p:nvPr/>
        </p:nvSpPr>
        <p:spPr>
          <a:xfrm>
            <a:off x="457200" y="4114800"/>
            <a:ext cx="8229600" cy="365760"/>
          </a:xfrm>
          <a:prstGeom prst="rect">
            <a:avLst/>
          </a:prstGeom>
          <a:noFill/>
          <a:ln/>
        </p:spPr>
        <p:txBody>
          <a:bodyPr wrap="square" lIns="0" tIns="0" rIns="0" bIns="0" rtlCol="0" anchor="ctr"/>
          <a:lstStyle/>
          <a:p>
            <a:pPr marL="0" indent="0">
              <a:buNone/>
            </a:pPr>
            <a:r>
              <a:rPr lang="en-US" sz="1600" dirty="0">
                <a:solidFill>
                  <a:schemeClr val="tx1"/>
                </a:solidFill>
              </a:rPr>
              <a:t>Spam clusters near 150 characters; most ham is far shorter (median 149 vs 52).</a:t>
            </a:r>
            <a:endParaRPr lang="en-US" sz="16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8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descr="data:image/png;base64,iVBORw0KGgoAAAANSUhEUgAAA1sAAAIjCAYAAAD1OgEdAAAAOnRFWHRTb2Z0d2FyZQBNYXRwbG90bGliIHZlcnNpb24zLjEwLjAsIGh0dHBzOi8vbWF0cGxvdGxpYi5vcmcvlHJYcgAAAAlwSFlzAAAPYQAAD2EBqD+naQAAj0FJREFUeJzs3Xt8U/X9x/HXSdKm9zttKbSAiAgIoqCIF0RBEfGOOhQZOpU5weumzqmo6Ma8I47pdD/FKTqd8z5FERAcInIZoFwEFCgCben9nqTJ+f2RJhAoUKBpmvT9fDzyaHPON+d8T5tq3ny/388xTNM0ERERERERkRZlCXUHREREREREIpHCloiIiIiISBAobImIiIiIiASBwpaIiIiIiEgQKGyJiIiIiIgEgcKWiIiIiIhIEChsiYiIiIiIBIHCloiIiIiISBAobImIiIiIiASBwpaIRJSHHnoIwzBa5VxDhw5l6NCh/udffvklhmHwzjvvtMr5r732Wrp27doq5zpc1dXV3HDDDWRnZ2MYBrfffnuouyRtiGEYTJo06bBe29p/b81lGAYPPfRQqLshIm2EwpaItFkzZ87EMAz/IyYmhpycHEaMGMH06dOpqqpqkfPs2LGDhx56iJUrV7bI8VpSW+5bc/zpT39i5syZ/OY3v+G1115j3Lhx+23btWtXDMNg+PDhTe5/6aWX/O+FZcuWBavLYefaa68lISEh1N3Yr6+//pqHHnqI8vLyUHfliKxcuZJrrrmG3Nxc7HY7aWlpDB8+nFdeeQW32x3q7olIG2ULdQdERA5mypQpdOvWDZfLRUFBAV9++SW33347Tz/9NB9++CH9+vXzt73//vv5/e9/f0jH37FjBw8//DBdu3alf//+zX7d559/fkjnORwH6ttLL72Ex+MJeh+OxLx58zjllFN48MEHm9U+JiaG+fPnU1BQQHZ2dsC+WbNmERMTQ319fTC6KkHy9ddf8/DDD3PttdeSkpIS6u4clr///e/cdNNNZGVlMW7cOHr06EFVVRVz587l+uuvZ+fOnfzhD38IdTdFpA1S2BKRNm/kyJEMHDjQ//zee+9l3rx5XHDBBVx00UWsW7eO2NhYAGw2GzZbcP/TVltbS1xcHNHR0UE9z8FERUWF9PzNUVRURO/evZvd/rTTTmPp0qW89dZb3Hbbbf7tP//8M1999RWXXnop//73v4PRVZEmffPNN9x0000MHjyYTz75hMTERP++22+/nWXLlvH999+HsIci0pZpGqGIhKWzzz6bBx54gK1bt/L666/7tze1ZmvOnDmcfvrppKSkkJCQQM+ePf3/Cv3ll19y0kknAXDdddf5p6nNnDkT8K7LOu6441i+fDlDhgwhLi7O/9q912z5uN1u/vCHP5CdnU18fDwXXXQR27ZtC2jTtWtXrr322n1eu+cxD9a3ptZs1dTU8Nvf/tY/1alnz548+eSTmKYZ0M63Vub999/nuOOOw26306dPH2bPnt30D3wvRUVFXH/99WRlZRETE8Pxxx/Pq6++6t/vW0+zefNm/vOf//j7vmXLlgMeNyYmhssuu4w33ngjYPubb75JamoqI0aMaPJ169ev5/LLLyctLY2YmBgGDhzIhx9+GNDG5XLx8MMP06NHD2JiYkhPT+f0009nzpw5/jYFBQVcd911dO7cGbvdTseOHbn44osD+v3BBx8watQocnJysNvtdO/enUceeaTJqWQzZszgqKOOIjY2lpNPPpmvvvqqyfeNw+HgwQcf5Oijj8Zut5Obm8vdd9+Nw+E44M/rUCxZsoTzzjuP5ORk4uLiOPPMM1m0aFFAG9/fz6ZNm/wjUcnJyVx33XXU1tYGtK2rq+PWW28lIyODxMRELrroIrZv3x6wZumhhx7irrvuAqBbt277fR8c7vsQDv739uCDDxIVFcWuXbv2ee2ECRNISUk54Gjpww8/jGEYzJo1KyBo+QwcOLDJv2WfrVu3cvPNN9OzZ09iY2NJT0/niiuu2Odn0FLvTxFpWzSyJSJha9y4cfzhD3/g888/58Ybb2yyzZo1a7jgggvo168fU6ZMwW63s2nTJv+HzF69ejFlyhQmT57MhAkTOOOMMwA49dRT/ccoKSlh5MiRjBkzhmuuuYasrKwD9uuPf/wjhmFwzz33UFRUxLRp0xg+fDgrV670j8A1R3P6tifTNLnooouYP38+119/Pf379+ezzz7jrrvuYvv27TzzzDMB7f/73//y7rvvcvPNN5OYmMj06dMZPXo0+fn5pKen77dfdXV1DB06lE2bNjFp0iS6devGv/71L6699lrKy8u57bbb6NWrF6+99hp33HEHnTt35re//S0AHTp0OOh1X3311Zx77rn8+OOPdO/eHYA33niDyy+/vMnRvDVr1nDaaafRqVMnfv/73xMfH8/bb7/NJZdcwr///W8uvfRSwPvBf+rUqdxwww2cfPLJVFZWsmzZMlasWME555wDwOjRo1mzZg233HILXbt2paioiDlz5pCfn+8PtjNnziQhIYE777yThIQE5s2bx+TJk6msrOSJJ57w9+v5559n0qRJnHHGGdxxxx1s2bKFSy65hNTUVDp37uxv5/F4uOiii/jvf//LhAkT6NWrF9999x3PPPMMGzZs4P333z/oz+xg5s2bx8iRIxkwYAAPPvggFouFV155hbPPPpuvvvqKk08+OaD9lVdeSbdu3Zg6dSorVqzg73//O5mZmTz22GP+Ntdeey1vv/0248aN45RTTmHBggWMGjUq4DiXXXYZGzZs4M033+SZZ54hIyMDCHwfHO770Odgf2/jxo1jypQpvPXWWwHFOJxOJ++88w6jR48mJiamyWPX1tYyd+5chgwZQl5e3sF/0E1YunQpX3/9NWPGjKFz585s2bKF559/nqFDh7J27Vri4uKAlnt/ikgbY4qItFGvvPKKCZhLly7db5vk5GTzhBNO8D9/8MEHzT3/0/bMM8+YgLlr1679HmPp0qUmYL7yyiv77DvzzDNNwHzhhRea3HfmmWf6n8+fP98EzE6dOpmVlZX+7W+//bYJmM8++6x/W5cuXczx48cf9JgH6tv48ePNLl26+J+///77JmA++uijAe0uv/xy0zAMc9OmTf5tgBkdHR2wbdWqVSZgPvfcc/uca0/Tpk0zAfP111/3b3M6nebgwYPNhISEgGvv0qWLOWrUqAMeb++2DQ0NZnZ2tvnII4+Ypmmaa9euNQFzwYIFTb4nhg0bZvbt29esr6/3b/N4POapp55q9ujRw7/t+OOPP2BfysrKTMB84oknDtjP2trafbb9+te/NuPi4vx9cDgcZnp6unnSSSeZLpfL327mzJkmEPA7fu2110yLxWJ+9dVXAcd84YUXTMBctGjRAfszfvx4Mz4+fr/7PR6P2aNHD3PEiBGmx+MJuI5u3bqZ55xzjn+b7+/nV7/6VcAxLr30UjM9Pd3/fPny5SZg3n777QHtrr32WhMwH3zwQf+2J554wgTMzZs379O3I3kfHsrf2+DBg81BgwYFvP7dd981AXP+/Pn7PYevL7fddtsB+7L3Ne15/U29XxYvXmwC5j/+8Q//tpZ6f4pI26JphCIS1hISEg5YldC3IP+DDz447GISdrud6667rtntf/nLXwZMN7r88svp2LEjn3zyyWGdv7k++eQTrFYrt956a8D23/72t5imyaeffhqwffjw4f6RI4B+/fqRlJTETz/9dNDzZGdnc9VVV/m3RUVFceutt1JdXc2CBQuO6DqsVitXXnklb775JuAtjJGbm+sf2dtTaWkp8+bN48orr6Sqqori4mKKi4spKSlhxIgRbNy4ke3btwPe98KaNWvYuHFjk+eNjY0lOjqaL7/8krKysv32b8/RSd85zzjjDGpra1m/fj0Ay5Yto6SkhBtvvDFgDeHYsWNJTU0NON6//vUvevXqxbHHHuvvf3FxMWeffTYA8+fPb86Pbb9WrlzJxo0bufrqqykpKfEfv6amhmHDhrFw4cJ9/jZuuummgOdnnHEGJSUlVFZWAvin+d18880B7W655ZZD7t/hvg99mvP39stf/pIlS5bw448/+rf53ldnnnnmfo/tu96mpg82157vF5fLRUlJCUcffTQpKSmsWLHCv6+l3p8i0rYobIlIWKuurj7gB6Ff/OIXnHbaadxwww1kZWUxZswY3n777UMKXp06dTqkYhg9evQIeG4YBkcffXTQ11Vs3bqVnJycfX4evXr18u/fU1PTolJTUw/6QW7r1q306NEDiyXwfyH7O8/huPrqq1m7di2rVq3ijTfeYMyYMU3eP23Tpk2YpskDDzxAhw4dAh6+CohFRUWAt6pleXk5xxxzDH379uWuu+5i9erV/mPZ7XYee+wxPv30U7KyshgyZAiPP/44BQUFAedcs2YNl156KcnJySQlJdGhQweuueYaACoqKgJ+BkcffXTAa2022z7TvTZu3MiaNWv26f8xxxwT0P/D5fvwPn78+H3O8fe//x2Hw+Hvt8/e7w1fQPS9N7Zu3YrFYqFbt24B7fa+3uY43PehT3P+3n7xi19gt9uZNWsW4P09ffzxx4wdO/aA9+VLSkoCOKLbTNTV1TF58mT/OsqMjAw6dOhAeXl5wM+9pd6fItK2aM2WiIStn3/+mYqKigN+wIuNjWXhwoXMnz+f//znP8yePZu33nqLs88+m88//xyr1XrQ8xzKOqvm2t8HPLfb3aw+tYT9ncfcq5hGKAwaNIju3btz++23s3nzZq6++uom2/lC8+9+97v9Fs/wvT+GDBnCjz/+yAcffMDnn3/O3//+d5555hleeOEFbrjhBsBbXe7CCy/k/fff57PPPuOBBx5g6tSpzJs3jxNOOIHy8nLOPPNMkpKSmDJlCt27dycmJoYVK1Zwzz33HNboqcfjoW/fvjz99NNN7s/NzT3kY+59fIAnnnhiv7c22Ps+Xa353miNc6WmpnLBBRcwa9YsJk+ezDvvvIPD4fCH5P05+uijsdlsfPfdd4d97ltuuYVXXnmF22+/ncGDB5OcnIxhGIwZMybg/dIS708RaXsUtkQkbL322msA+/2Q7WOxWBg2bBjDhg3j6aef5k9/+hP33Xcf8+fPZ/jw4Qf8l+3Dsfc0INM02bRpU8D9wFJTU5u8yevWrVs56qij/M8PpW9dunThiy++oKqqKmB0yze1rUuXLs0+1sHOs3r1ajweT8DoVkuf56qrruLRRx+lV69e+w0Jvp9VVFTUfm+GvKe0tDSuu+46rrvuOqqrqxkyZAgPPfSQ/8MsQPfu3fntb3/Lb3/7WzZu3Ej//v156qmneP311/nyyy8pKSnh3XffZciQIf7XbN68OeA8vp/Bpk2bOOuss/zbGxoa2LJlS8B7oXv37qxatYphw4a1+HvRd3zwjtI052fUHF26dMHj8bB58+aAkaVNmzbt0zYY17Sn5vy9gXcq4cUXX8zSpUuZNWsWJ5xwAn369DngsePi4jj77LOZN28e27ZtO6zg+8477zB+/Hieeuop/7b6+vom//6P9P0pIm2PphGKSFiaN28ejzzyCN26dWPs2LH7bVdaWrrPNt8Hd19Z7fj4eIAmP/wcjn/84x8B047eeecddu7cyciRI/3bunfvzjfffIPT6fRv+/jjj/cpEX8ofTv//PNxu9385S9/Cdj+zDPPYBhGwPmPxPnnn09BQQFvvfWWf1tDQwPPPfccCQkJB1wDcyhuuOEGHnzwwYAPqXvLzMxk6NCh/O1vf2Pnzp377N+z3HdJSUnAvoSEBI4++mj/+6C2tnafEuDdu3cnMTHR38Y3CrPnqIvT6eSvf/1rwOsGDhxIeno6L730Eg0NDf7ts2bN2md63JVXXsn27dt56aWX9ul/XV0dNTU1+73+5hgwYADdu3fnySefpLq6ep/9TZVEPxjfP3Dsfd3PPffcPm1b+u9rb835ewPv/foyMjJ47LHHWLBgwUFHtXwefPBBTNNk3LhxTf78li9fHnDbg71ZrdZ9Rumee+65fW4V0BLvTxFpezSyJSJt3qeffsr69etpaGigsLCQefPmMWfOHLp06cKHH36437LN4F0HsXDhQkaNGkWXLl0oKirir3/9K507d+b0008HvB9YUlJSeOGFF0hMTCQ+Pp5Bgwbtsx6ludLS0jj99NO57rrrKCwsZNq0aRx99NEB5elvuOEG3nnnHc477zyuvPJKfvzxR15//fWAQgGH2rcLL7yQs846i/vuu48tW7Zw/PHH8/nnn/PBBx9w++2373PswzVhwgT+9re/ce2117J8+XK6du3KO++8w6JFi5g2bdoRFRPYU5cuXfz3azqQGTNmcPrpp9O3b19uvPFGjjrqKAoLC1m8eDE///wzq1atAqB3794MHTqUAQMGkJaWxrJly3jnnXf85cA3bNjAsGHDuPLKK+nduzc2m4333nuPwsJCxowZA3jL7qempjJ+/HhuvfVWDMPgtdde2+fDdHR0NA899BC33HILZ599NldeeSVbtmxh5syZdO/ePWC0Z9y4cbz99tvcdNNNzJ8/n9NOOw2328369et5++23+eyzzwJu6t0Ul8vFo48+us/2tLQ0br75Zv7+978zcuRI+vTpw3XXXUenTp3Yvn078+fPJykpiY8++uigP+c9DRgwgNGjRzNt2jRKSkr8pd83bNgABI5mDRgwAID77ruPMWPGEBUVxYUXXugPYUeqOX9v4B39HDNmDH/5y1+wWq0BBV4O5NRTT2XGjBncfPPNHHvssYwbN44ePXpQVVXFl19+yYcfftjkz97nggsu4LXXXiM5OZnevXuzePFivvjii33K2rfE+1NE2qAQVUEUETkoX5lv3yM6OtrMzs42zznnHPPZZ58NKPfss3fp97lz55oXX3yxmZOTY0ZHR5s5OTnmVVddZW7YsCHgdR988IHZu3dv02azBZRaP/PMM80+ffo02b/9lX5/8803zXvvvdfMzMw0Y2NjzVGjRplbt27d5/VPPfWU2alTJ9Nut5unnXaauWzZsn2OeaC+7V363TRNs6qqyrzjjjvMnJwcMyoqyuzRo4f5xBNPBJT8Nk1veeqJEyfu06f9laTfW2FhoXndddeZGRkZZnR0tNm3b98my9MfTun3A9nf7QB+/PFH85e//KWZnZ1tRkVFmZ06dTIvuOAC85133vG3efTRR82TTz7ZTElJMWNjY81jjz3W/OMf/2g6nU7TNE2zuLjYnDhxonnsscea8fHxZnJysjlo0CDz7bffDjjXokWLzFNOOcWMjY01c3JyzLvvvtv87LPPmiwjPn36dLNLly6m3W43Tz75ZHPRokXmgAEDzPPOOy+gndPpNB977DGzT58+pt1uN1NTU80BAwaYDz/8sFlRUXHAn8n48eMD/k72fHTv3t3f7n//+5952WWXmenp6abdbje7dOliXnnllebcuXP9bXx/P3vfKsH3c9+zfHtNTY05ceJEMy0tzUxISDAvueQS84cffjAB889//nPA6x955BGzU6dOpsViCTjOkbwPD/XvzTRN89tvvzUB89xzzz3gsZuyfPly8+qrr/b/baWmpprDhg0zX331VdPtdvvbsVfp97KyMv/fSkJCgjlixAhz/fr1+1xjS70/RaRtMUyzDayEFhERaQc8Hg8dOnTgsssua3LaYLhbuXIlJ5xwAq+//voBp/eGyqpVq+jfvz//+Mc/GDduXKi7IyLtgNZsiYiIBEF9ff0+0wv/8Y9/UFpaytChQ0PTqRZUV1e3z7Zp06ZhsVgCioe0JS+99BIJCQlcdtlloe6KiLQTWrMlIiISBN988w133HEHV1xxBenp6axYsYL/+7//47jjjuOKK64IdfeO2OOPP87y5cs566yzsNlsfPrpp3z66adMmDDhiMvVt7SPPvqItWvX8uKLLzJp0qQWWy8mInIwmkYoIiISBFu2bOHWW2/l22+/pbS0lLS0NM4//3z+/Oc/k5mZGeruHbE5c+bw8MMPs3btWqqrq8nLy2PcuHHcd9992Gxt699yu3btSmFhISNGjOC1115rsSIuIiIHo7AlIiIiIiISBFqzJSIiIiIiEgQKWyIiIiIiIkHQtiZVt1Eej4cdO3aQmJgYcKNGERERERFpX0zTpKqqipycHCyWA49dKWw1w44dO9pcZSUREREREQmdbdu20blz5wO2UdhqBl/Vom3btpGUlBTi3oiIiIiISKhUVlaSm5vbrMqmClvN4Js6mJSUpLAlIiIiIiLNWl6kAhkiIiIiIiJBoLAlIiIiIiISBApbIiIiIiIiQaA1WyIiIiIiYco0TRoaGnC73aHuSkSJiorCarUe8XEUtkREREREwpDT6WTnzp3U1taGuisRxzAMOnfuTEJCwhEdR2FLRERERCTMeDweNm/ejNVqJScnh+jo6GZVx5ODM02TXbt28fPPP9OjR48jGuFS2BIRERERCTNOpxOPx0Nubi5xcXGh7k7E6dChA1u2bMHlch1R2FKBDBERERGRMGWx6ON8MLTUKKF+OyIiIiIiIkGgsCUiIiIiIhIEClsiIiIiItIsQ4cO5fbbb29W2y+//BLDMCgvLz+ic3bt2pVp06Yd0TFCRWFLREREREQkCBS2REREREREgkBhS0REREREDtlrr73GwIEDSUxMJDs7m6uvvpqioqJ92i1atIh+/foRExPDKaecwvfffx+w/7///S9nnHEGsbGx5Obmcuutt1JTU9NalxFUClsiIiIiInLIXC4XjzzyCKtWreL9999ny5YtXHvttfu0u+uuu3jqqadYunQpHTp04MILL8TlcgHw448/ct555zF69GhWr17NW2+9xX//+18mTZrUylcTHLqpsYiIiIiIHLJf/epX/u+POuoopk+fzkknnUR1dTUJCQn+fQ8++CDnnHMOAK+++iqdO3fmvffe48orr2Tq1KmMHTvWX3SjR48eTJ8+nTPPPJPnn3+emJiYVr2mlqaRLREREREROWTLly/nwgsvJC8vj8TERM4880wA8vPzA9oNHjzY/31aWho9e/Zk3bp1AKxatYqZM2eSkJDgf4wYMQKPx8PmzZtb72KCRCNbIiIiIiJySGpqahgxYgQjRoxg1qxZdOjQgfz8fEaMGIHT6Wz2caqrq/n1r3/Nrbfeus++vLy8luxySChstTP5+fkUFxcf8usyMjIi4g0vIiIiIkdu/fr1lJSU8Oc//5nc3FwAli1b1mTbb775xv85sqysjA0bNtCrVy8ATjzxRNauXcvRRx/dOh1vZQpb7Uh+fj7H9upFXW3tIb82Ni6O9evWKXCJiIiICHl5eURHR/Pcc89x00038f333/PII4802XbKlCmkp6eTlZXFfffdR0ZGBpdccgkA99xzD6eccgqTJk3ihhtuID4+nrVr1zJnzhz+8pe/tOIVBYfCVjtSXFxMXW0tY+95gqy87s1+XWH+j8x67C6Ki4sVtkRERESEDh06MHPmTP7whz8wffp0TjzxRJ588kkuuuiifdr++c9/5rbbbmPjxo3079+fjz76iOjoaAD69evHggULuO+++zjjjDMwTZPu3bvzi1/8orUvKSgUttqhrLzudO7RJ9TdEBEREZEw8+WXX/q/v+qqq7jqqqsC9pum6f9+6NCh/ucXXHDBfo950kkn8fnnn+93/5YtWw6vs22AqhGKiIiIiIgEgcKWiIiIiIhIEChsiYiIiIiIBIHCloiIiIiISBAobImIiIiIiASBwpaIiIiIiEgQKGyJiIiIiIgEgcKWiIiIiIhIEIT0psYLFy7kiSeeYPny5ezcuZP33nuPSy65pMm2N910E3/729945plnuP322/3bS0tLueWWW/joo4+wWCyMHj2aZ599loSEBH+b1atXM3HiRJYuXUqHDh245ZZbuPvuu4N8dSIiIiIirS8/P5/i4uJWO19GRgZ5eXmtdr5wEtKwVVNTw/HHH8+vfvUrLrvssv22e++99/jmm2/IycnZZ9/YsWPZuXMnc+bMweVycd111zFhwgTeeOMNACorKzn33HMZPnw4L7zwAt999x2/+tWvSElJYcKECUG7NhERERGR1pafn8+xvXpRV1vbaueMjYtj/bp1zQ5cQ4cOpX///kybNi24HWsDQhq2Ro4cyciRIw/YZvv27dxyyy189tlnjBo1KmDfunXrmD17NkuXLmXgwIEAPPfcc5x//vk8+eST5OTkMGvWLJxOJy+//DLR0dH06dOHlStX8vTTTytsiYiIiEhEKS4upq62lrH3PEFWXvegn68w/0dmPXYXxcXFGt1qQkjD1sF4PB7GjRvHXXfdRZ8+ffbZv3jxYlJSUvxBC2D48OFYLBaWLFnCpZdeyuLFixkyZAjR0dH+NiNGjOCxxx6jrKyM1NTUfY7rcDhwOBz+55WVlS18ZSIiIiIiwZOV153OPfb9/Cytq00XyHjsscew2WzceuutTe4vKCggMzMzYJvNZiMtLY2CggJ/m6ysrIA2vue+NnubOnUqycnJ/kdubu6RXoqIiIiIiDTyeDzcfffdpKWlkZ2dzUMPPeTf9/TTT9O3b1/i4+PJzc3l5ptvprq62r9/5syZpKSk8PHHH9OzZ0/i4uK4/PLLqa2t5dVXX6Vr166kpqZy66234na7Q3B1u7XZsLV8+XKeffZZZs6ciWEYrXrue++9l4qKCv9j27ZtrXp+EREREZFI9uqrrxIfH8+SJUt4/PHHmTJlCnPmzAHAYrEwffp01qxZw6uvvsq8efP2KW5XW1vL9OnT+ec//8ns2bP58ssvufTSS/nkk0/45JNPeO211/jb3/7GO++8E4rL82uz0wi/+uorioqKAuZ+ut1ufvvb3zJt2jS2bNlCdnY2RUVFAa9raGigtLSU7OxsALKzsyksLAxo43vua7M3u92O3W5vycsREREREZFG/fr148EHHwSgR48e/OUvf2Hu3Lmcc845AZXHu3btyqOPPspNN93EX//6V/92l8vF888/T/fu3nVpl19+Oa+99hqFhYUkJCTQu3dvzjrrLObPn88vfvGLVr22PbXZka1x48axevVqVq5c6X/k5ORw11138dlnnwEwePBgysvLWb58uf918+bNw+PxMGjQIH+bhQsX4nK5/G3mzJlDz549m1yvJSIiIiIiwdWvX7+A5x07dvQPonzxxRcMGzaMTp06kZiYyLhx4ygpKaF2jwqLcXFx/qAF3mVCXbt2Dbj9U1ZW1j4DM60tpGGrurraH6QANm/ezMqVK8nPzyc9PZ3jjjsu4BEVFUV2djY9e/YEoFevXpx33nnceOONfPvttyxatIhJkyYxZswYf5n4q6++mujoaK6//nrWrFnDW2+9xbPPPsudd94ZqssWEREREWnXoqKiAp4bhoHH42HLli1ccMEF9OvXj3//+98sX76cGTNmAOB0Og/4+v0dM5RCOo1w2bJlnHXWWf7nvgA0fvx4Zs6c2axjzJo1i0mTJjFs2DD/TY2nT5/u35+cnMznn3/OxIkTGTBgABkZGUyePFll30VERERE2pjly5fj8Xh46qmnsFi840Jvv/12iHt1+EIatoYOHYppms1uv2XLln22paWl+W9gvD/9+vXjq6++OtTuiYiIiIiEpcL8H8PyPEcffTQul4vnnnuOCy+8kEWLFvHCCy+06DlaU5stkCEiIiIiIocmIyOD2Lg4Zj12V6udMzYujoyMjBY51vHHH8/TTz/NY489xr333suQIUOYOnUqv/zlL1vk+K3NMA9laKmdqqysJDk5mYqKCpKSkkLdncO2YsUKBgwYwJ0z3j2km9z9vHENT0+8jOXLl3PiiScGsYciIiIi0hz19fVs3ryZbt26ERMTE7AvPz+f4uLiVutLRkZGQAXxSHCgn++hZAONbImIiIiIRJC8vLyICz/hqs2WfhcREREREQlnClsiIiIiIiJBoLAlIiIiIiISBApbIiIiIiIiQaCwJSIiIiIiEgQKWyIiIiIiIkGgsCUiIiIiIhIEus+WiIiIiEgE0U2N2w6FLRERERGRCJGfn0+vXsdSW1vXaueMi4tl3br1ClxNUNgSEREREYkQxcXF1NbW8fofrqRXXoegn29d/i6u+dPbFBcXK2w1QWFLRERERCTC9MrrwInHdAp1N9o9FcgQEREREZFW884779C3b19iY2NJT09n+PDh1NTUcO2113LJJZfw8MMP06FDB5KSkrjppptwOp3+186ePZvTTz+dlJQU0tPTueCCC/jxxx/9+7ds2YJhGLz99tucccYZxMbGctJJJ7FhwwaWLl3KwIEDSUhIYOTIkezatSvo16qwJSIiIiIirWLnzp1cddVV/OpXv2LdunV8+eWXXHbZZZimCcDcuXP92998803effddHn74Yf/ra2pquPPOO1m2bBlz587FYrFw6aWX4vF4As7z4IMPcv/997NixQpsNhtXX301d999N88++yxfffUVmzZtYvLkyUG/Xk0jFBERERGRVrFz504aGhq47LLL6NKlCwB9+/b174+Ojubll18mLi6OPn36MGXKFO666y4eeeQRLBYLo0ePDjjeyy+/TIcOHVi7di3HHXecf/vvfvc7RowYAcBtt93GVVddxdy5cznttNMAuP7665k5c2aQr1YjWyIiIiIi0kqOP/54hg0bRt++fbniiit46aWXKCsrC9gfFxfnfz548GCqq6vZtm0bABs3buSqq67iqKOOIikpia5duwLeKox76tevn//7rKwsIDDUZWVlUVRU1OLXtzeFLRERERERaRVWq5U5c+bw6aef0rt3b5577jl69uzJ5s2bm/X6Cy+8kNLSUl566SWWLFnCkiVLAALWdQFERUX5vzcMo8lte089DAaFLRERERERaTWGYXDaaafx8MMP87///Y/o6Gjee+89AFatWkVd3e57hH3zzTckJCSQm5tLSUkJP/zwA/fffz/Dhg2jV69eAaNibZHWbImIiIiIRJh1+cGvtHc451myZAlz587l3HPPJTMzkyVLlrBr1y569erF6tWrcTqdXH/99dx///1s2bKFBx98kEmTJmGxWEhNTSU9PZ0XX3yRjh07kp+fz+9///sgXVnLUNgSEREREYkQGRkZxMXFcs2f3m61c8bFxZKRkdGstklJSSxcuJBp06ZRWVlJly5deOqppxg5ciRvvfUWw4YNo0ePHgwZMgSHw8FVV13FQw89BIDFYuGf//wnt956K8cddxw9e/Zk+vTpDB06NHgXd4QUtkREREREIkReXh7r1q2nuLi41c6ZkZFBXl5es9r26tWL2bNnH7DNww8/HFDufU/Dhw9n7dq1Adt8ZeMBunbtGvAcYOjQoftsu/baa7n22mub1ecjobAlIiIiIhJB8vLymh1+JLhUIENERERERCQINLIlIiIiIiIh1xo3GW5tGtkSEREREREJAoUtEREREZEwtXfhB2kZLfVzVdgSEREREQkzUVFRANTW1oa4J5HJ6XQCYLVaj+g4WrMlIiIiIhJmrFYrKSkpFBUVARAXF4dhGCHuVWTweDzs2rWLuLg4bLYji0sKWyIiIiIiYSg7OxvAH7ik5VgsFvLy8o44wCpsiYiIiIiEIcMw6NixI5mZmbhcrlB3J6JER0djsRz5iiuFLRERERGRMGa1Wo94bZEEhwpkiIiIiIiIBIHCloiIiIiISBAobImIiIiIiASBwpaIiIiIiEgQKGyJiIiIiIgEgcKWiIiIiIhIEChsiYiIiIiIBIHCloiIiIiISBAobImIiIiIiASBwpaIiIiIiEgQKGyJiIiIiIgEgcKWiIiIiIhIEChsiYiIiIiIBIHCloiIiIiISBAobImIiIiIiASBwpaIiIiIiEgQKGyJiIiIiIgEQUjD1sKFC7nwwgvJycnBMAzef/99/z6Xy8U999xD3759iY+PJycnh1/+8pfs2LEj4BilpaWMHTuWpKQkUlJSuP7666murg5os3r1as444wxiYmLIzc3l8ccfb43LExERERGRdiykYaumpobjjz+eGTNm7LOvtraWFStW8MADD7BixQreffddfvjhBy666KKAdmPHjmXNmjXMmTOHjz/+mIULFzJhwgT//srKSs4991y6dOnC8uXLeeKJJ3jooYd48cUXg359IiIiIiLSftlCefKRI0cycuTIJvclJyczZ86cgG1/+ctfOPnkk8nPzycvL49169Yxe/Zsli5dysCBAwF47rnnOP/883nyySfJyclh1qxZOJ1OXn75ZaKjo+nTpw8rV67k6aefDghle3I4HDgcDv/zysrKFrpiERERERFpL8JqzVZFRQWGYZCSkgLA4sWLSUlJ8QctgOHDh2OxWFiyZIm/zZAhQ4iOjva3GTFiBD/88ANlZWVNnmfq1KkkJyf7H7m5ucG7KBERERERiUhhE7bq6+u55557uOqqq0hKSgKgoKCAzMzMgHY2m420tDQKCgr8bbKysgLa+J772uzt3nvvpaKiwv/Ytm1bS1+OiIiIiIhEuJBOI2wul8vFlVdeiWmaPP/880E/n91ux263B/08IiIiIiISudp82PIFra1btzJv3jz/qBZAdnY2RUVFAe0bGhooLS0lOzvb36awsDCgje+5r43sy+MxsViMUHdDRERERCRstelphL6gtXHjRr744gvS09MD9g8ePJjy8nKWL1/u3zZv3jw8Hg+DBg3yt1m4cCEul8vfZs6cOfTs2ZPU1NTWuZAws2pbOX9d8CMbC6tC3RURERERkbAV0rBVXV3NypUrWblyJQCbN29m5cqV5Ofn43K5uPzyy1m2bBmzZs3C7XZTUFBAQUEBTqcTgF69enHeeedx44038u2337Jo0SImTZrEmDFjyMnJAeDqq68mOjqa66+/njVr1vDWW2/x7LPPcuedd4bqstu8DYVVuD0mc9cXUeNoCHV3RERERETCUkinES5btoyzzjrL/9wXgMaPH89DDz3Ehx9+CED//v0DXjd//nyGDh0KwKxZs5g0aRLDhg3DYrEwevRopk+f7m+bnJzM559/zsSJExkwYAAZGRlMnjx5v2Xf2zuPabKr2lv23tHgYd76IvrHhrhTIiIiIiJhKKRha+jQoZimud/9B9rnk5aWxhtvvHHANv369eOrr7465P61R+W1LlxuE6vFwDRNfiquISO9Tc82FRERERFpk/QpWgIUVdYDkJlo5+RuaQCsLLNiiUsJYa9ERERERMKPwpYEKKzyTiHMTLQzsEsaHRLsOD0Gaef8OsQ9ExEREREJLwpbEqCoqnFkKykGq8XgnN7eG0DHH3sGdS5PKLsmIiIiIhJWFLbEzzRNdu0xsgXQIdGO3eJdO7ejyh2yvomIiIiIhBuFLfErayyOYbMYpMVF+7cnRnnD1rZK1/5eKiIiIiIie1HYEj/fFMIOiXYsFsO/PakxbP1cqXtuiYiIiIg0l8KW+BVVBk4h9ElU2BIREREROWQKW+JX5F+vFROw3T+yVaWwJSIiIiLSXApbAuxVHCNpr5EtmzdsFVS7cTSoSIaIiIiISHMobAkA5bUunG7PPsUxAGKs4HHU4DFhS3FtiHooIiIiIhJeFLYEgMLG4hgZCYHFMQAMA1zF2wDYWFTV6n0TEREREQlHClsC7LFea68phD6uEm/Y2lRU3Wp9EhEREREJZwpbAuy/EqGPqyQfUNgSEREREWkuhS0JLI6xVyVCH980QoUtEREREZHmUdgSKuq8xTGsFoP0+Ogm2/imEf5UXEOD29Oa3RMRERERCUsKW0KNw1vOPdFu26c4hk9D5S6ireBs8LCtrK41uyciIiIiEpYUtoRal/dmxbHR1v03Mj10SrQBmkooIiIiItIcCltCndM7shV3oLAFdE7yhi2VfxcREREROTiFLfGHrdio5oUtjWyJiIiIiBycwpZQ52oMW80c2VLYEhERERE5OIUtobaZI1u5jWHrx6JqTNMMer9ERERERMKZwpb4R7biom0HbJedYMNmMahxutlZUd8aXRMRERERCVsKW7J7zdZBphHaLAZdM+IB2KiphCIiIiIiB6SwJc2eRghwdIcEQOu2REREREQORmGrnTNNk3pX80q/AxzVwTuytaW4Jqj9EhEREREJdwpb7Vy9y4Ov1EVMM0a2clJiAdhZURfEXomIiIiIhD+FrXau1tkAgN1mwWoxDtq+U2PY2lGuAhkiIiIiIgeisNXONfceWz4dU2IA2KGRLRERERGRA1LYaud8lQjjmjGFEHZPIyyvdflHxUREREREZF8KW+1c7SGObCXFRJFg996PS1MJRURERET2T2GrnWvuPbb2lOObSliuqYQiIiIiIvujsNXO7Z5GaGv2azomqyKhiIiIiMjBKGy1c4daIAN2r9varmmEIiIiIiL7pbDVztX6phE2s0AGQKfGaYQ7NY1QRERERGS/FLbaOd/IVtwhjGz5phGq/LuIiIiIyP4pbLVzh1cgo3HNlqYRioiIiIjsl8JWO+Yxzd1rtg5hGqGvGuH28jpM0wxK30REREREwp3CVjtW3xi04NDCVnayN2w5GjyU1jhbvF8iIiIiIpFAYasd800hjLFZsFiMZr/ObrPSIdEOwM4KTSUUEREREWmKwlY7djhl331ykndPJRQRERERkX0pbLVjtYdRHMNnd5EMhS0RERERkaYobLVjvmmEcVG2Q37t7vLvmkYoIiIiItIUha12rPZIphE2ViTcoZEtEREREZEmKWy1Y4dzjy0f3zRChS0RERERkaYpbLVju6cRHknY0jRCEREREZGmKGy1Y0dUjbBxGmFRVT0ut6dF+yUiIiIiEgkUttqxWmcDcGg3NPbJiLcTZTXwmFBYqdEtEREREZG9KWy1Y0cysmWxGP6KhLqxsYiIiIjIvhS22imPx6Te5Z3+F3cYYQugY7IqEoqIiIiI7E9Iw9bChQu58MILycnJwTAM3n///YD9pmkyefJkOnbsSGxsLMOHD2fjxo0BbUpLSxk7dixJSUmkpKRw/fXXU11dHdBm9erVnHHGGcTExJCbm8vjjz8e7Etr83yjWgAxhzGNEKCTimSIiIiIiOxXSMNWTU0Nxx9/PDNmzGhy/+OPP8706dN54YUXWLJkCfHx8YwYMYL6+t0f7seOHcuaNWuYM2cOH3/8MQsXLmTChAn+/ZWVlZx77rl06dKF5cuX88QTT/DQQw/x4osvBv362jL/FMIoKxbDOKxjqPy7iIiIiMj+2UJ58pEjRzJy5Mgm95mmybRp07j//vu5+OKLAfjHP/5BVlYW77//PmPGjGHdunXMnj2bpUuXMnDgQACee+45zj//fJ588klycnKYNWsWTqeTl19+mejoaPr06cPKlSt5+umnA0JZe+O/x9ZhjmoBdGysSLizQmFLRERERGRvbXbN1ubNmykoKGD48OH+bcnJyQwaNIjFixcDsHjxYlJSUvxBC2D48OFYLBaWLFnibzNkyBCio6P9bUaMGMEPP/xAWVlZk+d2OBxUVlYGPCLNkRTH8PGNbG3XNEIRERERkX202bBVUFAAQFZWVsD2rKws/76CggIyMzMD9ttsNtLS0gLaNHWMPc+xt6lTp5KcnOx/5ObmHvkFtTG1zhYIW8maRigiIiIisj9tNmyF0r333ktFRYX/sW3btlB3qcX5phHGHcE0Qt+NjSvqXNQ4GlqkXyIiIiIikaLNhq3s7GwACgsLA7YXFhb692VnZ1NUVBSwv6GhgdLS0oA2TR1jz3PszW63k5SUFPCINLWuxhsaH8HIVmJMFAl277K/At3YWEREREQkQJsNW926dSM7O5u5c+f6t1VWVrJkyRIGDx4MwODBgykvL2f58uX+NvPmzcPj8TBo0CB/m4ULF+Jyufxt5syZQ8+ePUlNTW2lq2l76lpgGiFAduO9tgp0Y2MRERERkQAhrUZYXV3Npk2b/M83b97MypUrSUtLIy8vj9tvv51HH32UHj160K1bNx544AFycnK45JJLAOjVqxfnnXceN954Iy+88AIul4tJkyYxZswYcnJyALj66qt5+OGHuf7667nnnnv4/vvvefbZZ3nmmWdCcclthqPxhsYxtuaHrXXr1u2zLc5wAvDN6vXEVsbtsz8jI4O8vLzD7KWIiIiISPgKadhatmwZZ511lv/5nXfeCcD48eOZOXMmd999NzU1NUyYMIHy8nJOP/10Zs+eTUxMjP81s2bNYtKkSQwbNgyLxcLo0aOZPn26f39ycjKff/45EydOZMCAAWRkZDB58uR2XfYdwOH2hi277eCDm5WluwC45ppr9tmXfv5tJPQ9hylPTOd33/xrn/2xcXGsX7dOgUtERERE2h3DNE0z1J1o6yorK0lOTqaioiKs12+tWLGCAQMGcOeMd/liVzwVdS6uGNDZX8J9f5bP/ZBZj93FqF/fR89+AwL2rSm3sr7SylEJbk5IcwfsK8z/kVmP3cXy5cs58cQTW/x6RERERERa26Fkg5CObEnoOBq8wag5I1s+6Tld6NyjT8C20p/LWV+5C2KS6Nwjp0X7KCIiIiISztpsgQwJHtMEZ4N3GmH0IYStpviqEVar9LuIiIiISACFrXbIbYKncfKo/RAKZDQlIUZhS0RERESkKQpb7ZCrMWgZQJTVOKJj+Ua2ap1u3B4t/xMRERER8VHYaocaq74TbbNgGEcWtmKjrFgbj1Hj1OiWiIiIiIiPwlY71ODxhqMjXa8FYBgG8XbvVMTqeoUtEREREREfha12yDeydSiVCA/EN5WwRuu2RERERET8FLbaId+arZYY2YLdYatKYUtERERExE9hqx1yNU4jPNJKhD6+ioQa2RIRERER2U1hqx3as0BGS4j33WtLa7ZERERERPwUttoh/8iWtWWnEepeWyIiIiIiuylstUMtPbKlsCUiIiIisi+FrXaoobFARstXI3RjmrqxsYiIiIgIKGy1S84WvM8W7F6z5TZN6lzuFjmmiIiIiEi4U9hqhxr899lqmWqEVotBXHTjjY01lVBEREREBFDYapdaes0W7LFuSxUJRUREREQAha12yWX67rMVhLClkS0REREREUBhq10K6siWwpaIiIiICKCw1S65/Gu2Wu7XHx+jsCUiIiIisieFrXbGsNkxadlqhACJGtkSEREREQmgsNXOWOxx/u+jrS04suW711a9Sr+LiIiIiIDCVrtj2OMB76iWYRgtdlyNbImIiIiIBFLYamd8I1stuV4Ldo9sOd0eHA0a3RIRERERUdhqZyx7jGy1pGibxX/MGofCloiIiIiIwlY74x/ZasH1Wj4q/y4iIiIispvCVjsTrJEt2CNs1StsiYiIiIgobLUzvgIZdpu1xY+tkS0RERERkd0UttoZ3zTCoI5sKWyJiIiIiChstTcW/8hWEMJWjDdsVdW7WvzYIiIiIiLhRmGrnQnmyJbutSUiIiIispvCVjsTzJGtRP/IlsKWiIiIiIjCVjuz+6bGQSiQ0Ri2HA0enA2eFj++iIiIiEg4UdhqZ4wgln6326xEN96/S1MJRURERKS9U9hqZ3aPbAXnV5+oIhkiIiIiIoDCVrsTzJsaw54VCTWyJSIiIiLtm8JWO2KaZuuNbGkaoYiIiIi0cwpb7YjTDYY1CgjeyFai3Xv8ao1siYiIiEg7p7DVjtS6fBUCTX8hi5amNVsiIiIiIl4KW+1IrcsEIMoAwzCCcg5NIxQRERER8VLYakd8I1tRQfytJ9i9Yau6vgHTDN55RERERETaOoWtdqSmcWTLZgleCvJVI2zwmDh1X2MRERERaccUttqR1hjZslksxEVbAahzB2eqooiIiIhIOFDYakf2XLMVTL6phLVatiUiIiIi7ZjCVjuye2QruIupfEUyajWyJSIiIiLtmMJWO+If2Qrybz0xxnuvrboGhS0RERERab8UttqRmlZYswWQ2DiNsM4d3POIiIiIiLRlClvtyO41W8GdRpigaYQiIiIiIgpb7YlvzZYt6NMIG0e2NI1QRERERNqxw/rYfdRRR1FSUrLP9vLyco466qgj7pQER6ut2bI3rtlyA4byvIiIiIi0T4f1SXjLli243fsuyHE4HGzfvv2IOyXBUdNK1Qjj7FYsBpgYWBNSg3ouEREREZG26pDC1ocffsiHH34IwGeffeZ//uGHH/Lee+/xyCOP0LVr1xbrnNvt5oEHHqBbt27ExsbSvXt3HnnkEUxzd1gwTZPJkyfTsWNHYmNjGT58OBs3bgw4TmlpKWPHjiUpKYmUlBSuv/56qqurW6yf4aK17rNlMQziG4tkWBM7BPdkIiIiIiJtlO1QGl9yySUAGIbB+PHjA/ZFRUXRtWtXnnrqqRbr3GOPPcbzzz/Pq6++Sp8+fVi2bBnXXXcdycnJ3HrrrQA8/vjjTJ8+nVdffZVu3brxwAMPMGLECNauXUtMTAwAY8eOZefOncyZMweXy8V1113HhAkTeOONN1qsr+GgtaYRgrciYVV9A7akjOCfTERERESkDTqksOXxeKehdevWjaVLl5KREdwP0l9//TUXX3wxo0aNAqBr1668+eabfPvtt4B3VGvatGncf//9XHzxxQD84x//ICsri/fff58xY8awbt06Zs+ezdKlSxk4cCAAzz33HOeffz5PPvkkOTk5Qb2GtsI0zVa7qTE0ViSsAFuSRrZEREREpH06rDGOzZs3Bz1oAZx66qnMnTuXDRs2ALBq1Sr++9//MnLkSH8/CgoKGD58uP81ycnJDBo0iMWLFwOwePFiUlJS/EELYPjw4VgsFpYsWdLkeR0OB5WVlQGPcOdo8NDgzVqtM7LVeGNjTSMUERERkfbqkEa29jR37lzmzp1LUVGRf8TL5+WXXz7ijgH8/ve/p7KykmOPPRar1Yrb7eaPf/wjY8eOBaCgoACArKysgNdlZWX59xUUFJCZmRmw32azkZaW5m+zt6lTp/Lwww+3yDW0FZX1LgBM04OtFSqy+25sbEvUNEIRERERaZ8Oa4zj4Ycf5txzz2Xu3LkUFxdTVlYW8Ggpb7/9NrNmzeKNN95gxYoVvPrqqzz55JO8+uqrLXaOptx7771UVFT4H9u2bQvq+VpDVX0DAKazDqM1wlbjvbasmkYoIiIiIu3UYY1svfDCC8ycOZNx48a1dH8C3HXXXfz+979nzJgxAPTt25etW7cydepUxo8fT3Z2NgCFhYV07NjR/7rCwkL69+8PQHZ2NkVFRQHHbWhooLS01P/6vdntdux2exCuKHR8YcvjqAFSgn4+3zRCFcgQERERkfbqsEa2nE4np556akv3ZR+1tbVYLIFdtFqtAYU6srOzmTt3rn9/ZWUlS5YsYfDgwQAMHjyY8vJyli9f7m8zb948PB4PgwYNCvo1tBXV/rBV1yrnS/CNbMWn4nQHvyCHiIiIiEhbc1hh64YbbmiVsukXXnghf/zjH/nPf/7Dli1beO+993j66ae59NJLAW8J+ttvv51HH32UDz/8kO+++45f/vKX5OTk+MvU9+rVi/POO48bb7yRb7/9lkWLFjFp0iTGjBnTbioRAlQ7vGu2vCNbwRdjs2A1vCGruHbfG2CLiIiIiES6w5pGWF9fz4svvsgXX3xBv379iIqKCtj/9NNPt0jnnnvuOR544AFuvvlmioqKyMnJ4de//jWTJ0/2t7n77rupqalhwoQJlJeXc/rppzN79mz/PbYAZs2axaRJkxg2bBgWi4XRo0czffr0FuljuKh2eAOP6axtlfMZhkGczaTKZVBUo7AlIiIiIu3PYYWt1atX+9dEff/99wH7jBasvpCYmMi0adOYNm3aftsYhsGUKVOYMmXKftukpaW1uxsY7626sRqhx9k60wgB4q1Q5YLCmoZWO6eIiIiISFtxWGFr/vz5Ld0PCbJqh2/NVuuMbAEkRJlQD4XVGtkSERERkfanFW5vK21BlWN36ffWEm/zrtkq0DRCEREREWmHDmtk66yzzjrgdMF58+YddockOGp8I1uttGYLdoetwmpNIxQRERGR9uewwpZvvZaPy+Vi5cqVfP/994wfP74l+iUtrLVLv8MeYavGjWmaLbqeT0RERESkrTussPXMM880uf2hhx6iurr6iDokwVHtn0bYiiNbVu/XWpdJea2L1PjoVju3iIiIiEioteiarWuuuYaXX365JQ8pLSQUBTKsFmioKgEgv7T1zisiIiIi0ha0aNhavHhxwP2tpO3wh61WLJAB0FBeAChsiYiIiEj7c1jTCC+77LKA56ZpsnPnTpYtW8YDDzzQIh2TluVbs2W24sgWNIat3D4KWyIiIiLS7hxW2EpOTg54brFY6NmzJ1OmTOHcc89tkY5Jy6oOQTVCgIaKxpGtEoUtEREREWlfDitsvfLKKy3dDwmy6hDcZwugoWwnoGmEIiIiItL+HFbY8lm+fDnr1q0DoE+fPpxwwgkt0ilpWS63h3qXB2jdAhmwx8iWwpaIiIiItDOHFbaKiooYM2YMX375JSkpKQCUl5dz1lln8c9//pMOHTq0ZB/lCPluaAytXyDD1VggY2dFHc4GD9G2Fq3JIiIiIiLSZh3WJ99bbrmFqqoq1qxZQ2lpKaWlpXz//fdUVlZy6623tnQf5Qj5phBGWwFPw4EbtzBPTTl2q4HHhO3lrRv0RERERERC6bBGtmbPns0XX3xBr169/Nt69+7NjBkzVCCjDfKFrZgQjSplJVjJr2ggv7SWbhnxIemDiIiIiEhrO6xP3x6Ph6ioqH22R0VF4fF4jrhT0rJ8Zd/jooyQnD8r3gpo3ZaIiIiItC+HFbbOPvtsbrvtNnbs2OHftn37du644w6GDRvWYp2TllHVOLIVawtV2PIOoOaX1ITk/CIiIiIioXBYYesvf/kLlZWVdO3ale7du9O9e3e6detGZWUlzz33XEv3UY6Qr0BGbFTophGCRrZEREREpH05rDVbubm5rFixgi+++IL169cD0KtXL4YPH96inZOW4Z9GGKKRrWx/2FKBDBERERFpPw5pqGPevHn07t2byspKDMPgnHPO4ZZbbuGWW27hpJNOok+fPnz11VfB6qscpmr/yFbopxGaphmSPoiIiIiItLZDClvTpk3jxhtvJCkpaZ99ycnJ/PrXv+bpp59usc5Jy/CFrbgQTSPMbCyQUeN0U1rjDEkfRERERERa2yF9+l61ahXnnXfefvefe+65LF++/Ig7JS3LN40wVAUyoq0G2UkxgNZtiYiIiEj7cUhhq7CwsMmS7z42m41du3YdcaekZYV6GiFAXnocoLAlIiIiIu3HIYWtTp068f333+93/+rVq+nYseMRd0palq/0e1yIbmoMkJfWGLZKFLZEREREpH04pE/f559/Pg888AD19fX77Kurq+PBBx/kggsuaLHOScvwlX6PCeXIVppGtkRERESkfTmk0u/3338/7777LscccwyTJk2iZ8+eAKxfv54ZM2bgdru57777gtJROXz+0u8hDFtdGqcR/lSsGxuLiIiISPtwSGErKyuLr7/+mt/85jfce++9/jLehmEwYsQIZsyYQVZWVlA6KofPv2YrhNMIe2QmArCpqBrTNDGM0AU/EREREZHWcMg3Ne7SpQuffPIJZWVlbNq0CdM06dGjB6mpqcHon7SA3aXfQxdwjuoQj8WAijoXu6odZCbGhKwvIiIiIiKt4ZDDlk9qaionnXRSS/ZFgmT3yFbowlZMlJW8tDi2lNSyqbBaYUtEREREIl7o5pVJqzBNc/d9tkJ0U2OfoxunEm4sqg5pP0REREREWoPCVoRzNHho8HjX1oVyGiFAj6wEADYWVYW0HyIiIiIirUFhK8L5phACxIRwGiFAj8zGsFWokS0RERERiXwKWxHON4UwPtqKJcQVAI/J0jRCEREREWk/FLYinG9kKyHmsGuhtJjuHRIwDCitcVJS7Qh1d0REREREgkphK8L5wla8PfRhKzbaSufUWECjWyIiIiIS+RS2IpxvGmFiGwhbsPvmxgpbIiIiIhLpFLYiXFuaRgi7i2RsKlRFQhERERGJbApbEa7KF7bayMjW0b6KhBrZEhEREZEIp7AV4Wra0JotgB6qSCgiIiIi7YTCVoRra2u2fCNbu6oclNc6Q9wbEREREZHgUdiKcG1tzVaC3UZOcgwAmzS6JSIiIiIRTGErwrWl0u8+vqmEGwoVtkREREQkcilsRbi2No0Qdlck3FikioQiIiIiErkUtiJcW5tGCNAjq7H8u6YRioiIiEgEU9iKcP6wZY8KcU92O9p3Y2NNIxQRERGRCKawFeF2r9myhrgnu/kqEhZU1lNZ7wpxb0REREREgkNhK8LtXrPVdka2kmOjyEqyA7CxUOu2RERERCQyKWxFuLa4Zgugd8ckAL7fXhninoiIiIiIBIfCVgTzeExqnG1vGiFA384pAKz+uSK0HRERERERCRKFrQhW63Jjmt7v29I0QoB+nZIB+H67wpaIiIiIRCaFrQjmW69ltRjERLWtX3Xfzt6wtbGoitrG0TcRERERkUjStj6BN2H79u1cc801pKenExsbS9++fVm2bJl/v2maTJ48mY4dOxIbG8vw4cPZuHFjwDFKS0sZO3YsSUlJpKSkcP3111NdHfllx3eXfbdhGEaIexMoKymGzEQ7HhPW7tC6LRERERGJPG06bJWVlXHaaacRFRXFp59+ytq1a3nqqadITU31t3n88ceZPn06L7zwAkuWLCE+Pp4RI0ZQX1/vbzN27FjWrFnDnDlz+Pjjj1m4cCETJkwIxSW1qj3DVlvUr3F0S+u2RERERCQStc1P4Y0ee+wxcnNzeeWVV/zbunXr5v/eNE2mTZvG/fffz8UXXwzAP/7xD7Kysnj//fcZM2YM69atY/bs2SxdupSBAwcC8Nxzz3H++efz5JNPkpOT07oX1Yp80wjbatjq2ymFL9YVad2WiIiIiESkNj2y9eGHHzJw4ECuuOIKMjMzOeGEE3jppZf8+zdv3kxBQQHDhw/3b0tOTmbQoEEsXrwYgMWLF5OSkuIPWgDDhw/HYrGwZMmSJs/rcDiorKwMeISjaof3hsFtrey7j39kS2FLRERERCJQmw5bP/30E88//zw9evTgs88+4ze/+Q233norr776KgAFBQUAZGVlBbwuKyvLv6+goIDMzMyA/TabjbS0NH+bvU2dOpXk5GT/Izc3t6UvrVVUO9wAxLfRka3jGisS/rir2j/lUUREREQkUrTpsOXxeDjxxBP505/+xAknnMCECRO48cYbeeGFF4J63nvvvZeKigr/Y9u2bUE9X7BU13tHthLbaNjqkGinY3IMpglrNLolIiIiIhGmbX4Kb9SxY0d69+4dsK1Xr178+9//BiA7OxuAwsJCOnbs6G9TWFhI//79/W2KiooCjtHQ0EBpaan/9Xuz2+3Y7faWuoyQaSsFMtatW7fffbkJJjsr4NMla4gqT/Bvz8jIIC8vrzW6JyIiIiISFG06bJ122mn88MMPAds2bNhAly5dAG+xjOzsbObOnesPV5WVlSxZsoTf/OY3AAwePJjy8nKWL1/OgAEDAJg3bx4ej4dBgwa13sWEgG8aYajWbFWW7gLgmmuu2W+bpMFXkjrkl8x44yMe/vhJ//bYuDjWr1unwCUiIiIiYatNh6077riDU089lT/96U9ceeWVfPvtt7z44ou8+OKLABiGwe23386jjz5Kjx496NatGw888AA5OTlccsklgHck7LzzzvNPP3S5XEyaNIkxY8ZEdCVC2F0gI1RrtuqqvYVFRv36Pnr2G9Bkm4I6g0W7IOv4M/nlyFMBKMz/kVmP3UVxcbHCloiIiIiErTYdtk466STee+897r33XqZMmUK3bt2YNm0aY8eO9be5++67qampYcKECZSXl3P66acze/ZsYmJi/G1mzZrFpEmTGDZsGBaLhdGjRzN9+vRQXFKr8pV+D/WarfScLnTu0afpfU43i3b9RHWDQYdux2K3WVu5dyIiIiIiwdGmwxbABRdcwAUXXLDf/YZhMGXKFKZMmbLfNmlpabzxxhvB6F6b5l+z1UZLvwPERltJjLFRVd9AUaWD3LS4UHdJRERERKRFtOlqhHJkfGGrrZZ+98lK9I5CFlU5QtwTEREREZGWo7AVwarayDTCg8lM8lZ+LKysD3FPRERERERajsJWBPOHrTY8jRAgK8k7slWgsCUiIiIiEURhK4JVNd7UOCk2KsQ9ObDspBgMwxsOKxv7LCIiIiIS7hS2IpRpmmEzshVts9AhwTuVcGe5RrdEREREJDIobEWoOpebBo8JQGJM2x7ZAuiUEgvA9vK6EPdERERERKRlKGxFKN+olsWA+Oi2f++qnMawtaNCYUtEREREIoPCVoTyrddKjInCMIwQ9+bgOiZ7i2SUVDtxekLcGRERERGRFqCwFaEq6sJjvZZPvN1GSmMhjxJH2w+HIiIiIiIHo7AVofYc2QoXvqmEJQ69LUVEREQk/OlTbYTyrdlKCpORLYCcFO9UwmKNbImIiIhIBFDYilC7y76H38hWmcMAa/j0W0RERESkKQpbEcp3c+BwGtlKiY0iLtqKBwN7do9Qd0dERERE5IgobEUo35qtpNjwGSEyDIOcZO/olr1z7xD3RkRERETkyChsRajd0wjDZ2QLdq/bsuf2CXFPRERERESOjMJWhKqs81UjDLew5R3ZiunUC49phrg3IiIiIiKHT2ErQu2uRhg+0wgBOiTYsRomlpgE8isaQt0dEREREZHDprAVocKxGiGAxWKQbveOaK3Z5Qxxb0REREREDp/CVoSqrA/PaYQAHeweAL4vcoS4JyIiIiIih09hK0KFa4EMgA4xu0e2PB6t2xIRERGR8KSwFaEqw7D0u09qtInHUUu102TtzspQd0dERERE5LAobEUgj8ek2hG+I1sWA+p/XgPANz+VhLg3IiIiIiKHR2ErAlU7G/BVTQ+3aoQ+jvzVAHz9o8KWiIiIiIQnha0I5FuvFW21YLeF56+4fqs3bH27uZQGtyfEvREREREROXTh+UlcDqhqj0qEhmGEuDeHx1m0mfgog2pHA99trwh1d0REREREDpnCVgSqrAvf9Vp+poc+mdEALNa6LREREREJQwpbEagqjCsR7qlvBzsAi7VuS0RERETCkMJWBArne2zt6bjGka1lW8pwNmjdloiIiIiEF4WtCORfs2UP75Gt3GQb6fHR1LncrPq5PNTdERERERE5JApbEaiycWQrKTa8R7YshsEpR6UD8PUmTSUUERERkfCisBWBKv3VCMN7ZAtgcHdv2Fr8U3GIeyIiIiIicmgUtiJQpKzZgt1ha8XWcupd7hD3RkRERESk+RS2IlBlXeSMbB2VEU9moh2n28OKrWWh7o6IiIiISLMpbEUg38hWUgSMbBmGwan+qYRatyUiIiIi4UNhKwJVRdCaLdg9lfBr3W9LRERERMKIwlYEqoygkS2AU7tnALBqWzk1joYQ90ZEREREpHkUtiKQb2QrKTYyRrZy0+LolBJLg8dk6ZbSUHdHRERERKRZFLYiUCRVI/QZrHVbIiIiIhJmFLYiTIPbQ63TWyI9UtZsAf4iGd9o3ZaIiIiIhAmFrQjjG9WCyBzZ+m57hf+mzSIiIiIibZnCVoTxha3YKCtR1sj59XZMjqVbRjweE779Seu2RERERKTti5xP4wLgH/WJpFEtn1OOUgl4EREREQkfClsRJpLDlopkiIiIiEg4UdiKML5phJFS9n1PgxtHttbtrKS0xhni3oiIiIiIHFjkDX+0c7vLvod/2Fq3bt0+23KTbGyrbOCNL5Zyam7sPvszMjLIy8trje6JiIiIiByQwlaEqYqAaYSVpbsAuOaaa/bZlzr81yQNuJAHZ8yidM7z++yPjYtj/bp1ClwiIiIiEnLh+4lcmlRZ1ziNMIxHtuqqKwEY9ev76NlvQMC+HbUGi4uh48nnc+0l5wTsK8z/kVmP3UVxcbHCloiIiIiEnMJWhPGNbCWF8ciWT3pOFzr36BOwrUODm28W/ER1g0FS7jFhHSpFREREJLKpQEaE2b1mK/zDVlPsNitZSTEAbCutDXFvRERERET2L6zC1p///GcMw+D222/3b6uvr2fixImkp6eTkJDA6NGjKSwsDHhdfn4+o0aNIi4ujszMTO666y4aGhpaufetw1f6PRKrEfrkpnkLY2wrqwtxT0RERERE9i9swtbSpUv529/+Rr9+/QK233HHHXz00Uf861//YsGCBezYsYPLLrvMv9/tdjNq1CicTidff/01r776KjNnzmTy5MmtfQmtItJHtgDy0uIA78iWaZoh7o2IiIiISNPCImxVV1czduxYXnrpJVJTU/3bKyoq+L//+z+efvppzj77bAYMGMArr7zC119/zTfffAPA559/ztq1a3n99dfp378/I0eO5JFHHmHGjBk4nZF3ryZ/NUJ75I5sZSfHYLMY1Drdut+WiIiIiLRZYRG2Jk6cyKhRoxg+fHjA9uXLl+NyuQK2H3vsseTl5bF48WIAFi9eTN++fcnKyvK3GTFiBJWVlaxZs6bJ8zkcDiorKwMe4aIygm9q7GOzWMhJ8U4lzNe6LRERERFpo9p82PrnP//JihUrmDp16j77CgoKiI6OJiUlJWB7VlYWBQUF/jZ7Bi3fft++pkydOpXk5GT/Izc3twWupHVEwn22mkPrtkRERESkrWvTYWvbtm3cdtttzJo1i5iYmFY777333ktFRYX/sW3btlY795GqbAdrtgDyUr3rtraX1eH2aN2WiIiIiLQ9bTpsLV++nKKiIk488URsNhs2m40FCxYwffp0bDYbWVlZOJ1OysvLA15XWFhIdnY2ANnZ2ftUJ/Q997XZm91uJykpKeARDupdbpwNHgASI/z+Ux0S7cTYLDjdHgor60PdHRERERGRfbTpsDVs2DC+++47Vq5c6X8MHDiQsWPH+r+Piopi7ty5/tf88MMP5OfnM3jwYAAGDx7Md999R1FRkb/NnDlzSEpKonfv3q1+TcHkq0RoGJBoj+yRLcMw6OyrSlimdVsiIiIi0va06U/kiYmJHHfccQHb4uPjSU9P92+//vrrufPOO0lLSyMpKYlbbrmFwYMHc8oppwBw7rnn0rt3b8aNG8fjjz9OQUEB999/PxMnTsRut7f6NQWTb71WQrQNi8UIcW+CLy81jk1F1WwrrWNQt1D3RkREREQkUJsOW83xzDPPYLFYGD16NA6HgxEjRvDXv/7Vv99qtfLxxx/zm9/8hsGDBxMfH8/48eOZMmVKCHsdHO3hHlt78hXJ2FlR558+KSIiIiLSVoTdp/Ivv/wy4HlMTAwzZsxgxowZ+31Nly5d+OSTT4Lcs9CrbBzZiuSy73tKiYsmOTaKijoX28pqCadxyvz8fIqLiw/5dRkZGeTl5QWhRyIiIiLS0sIubMn+tbeRLYCu6XGs+rmCLcU19AyTy87Pz6dXr2OprT30svVxcbGsW7degUtEREQkDITJx1NpjrJaJ+Ad8WkvuqbHe8NWSS3HZIa6N81TXFxMbW0dr//hSnrldWj269bl7+KaP71NcXGxwpaIiIhIGFDYiiCl1d6wlR7ffsJW59RYrBaDakcDVa7wKgrSK68DJx7TKdTdEBEREZEgadOl3+XQlDaObKW2o7Bls1ronOotlFFQH15hS0REREQim8JWBCmr8YattHY0jRC8UwkBCur0dhYRERGRtkOfTiNIaa23GmF7GtkC6JLuvblxscPAiI4NcW9ERERERLwUtiKIf2Qrvn2UfvdJbSwBb2IQ0+X4UHdHRERERARQ2IoopY1hK7WdTSMEbwl4gNijBoS4J4ehwQE7V4GjKtQ9EREREZEWpGqEEcRX+j2tnU0jBOjSWAI+9qgBmKYZ6u4cms0LYMcKsEZDl9Og00CwWEPdKxERERE5QhrZihD1Lje1TjfQ/tZsgbcEvAUTW1Im2yobQt2dQ1P6o/er2wk/zYflr0DF9tD2SURERESOmMJWhPCNakVZDRLt7W/AMspqoUOMd0Rr+U5HiHtzCOrKob4CDAscfS7YYqG2GL7/F7hdoe6diIiIiBwBha0IUVK9e72WYbTP+03lxHoA+HpbfYh7cgjKtni/JuVApxPh5Algi4GGeqgtCWnXREREROTIKGxFiPa8XssnJ86D6XHzY5mLrSU1oe5O85Rv8X5N6er9GhUL8R2839cWh6JHIiIiItJCFLYiRHuuROgTY4X6/NUAfLx6Z4h70wymCWVbvd+ndt29PT7D+7VGYUtEREQknClsRYjd99hqv2ELoHbdV0B4hK3YhjJoqPNWIUzsuHtHXGPY0siWiIiISFhT2IoQpbXeYgqp7eyGxnur3bAYqwHrdlby467qUHfngBIdjYEwOTew1HucRrZEREREIoHCVoTwj2y142mEAJ76Kvpl2QH4Txsf3Uryha09pxDC7mmE9eWqSCgiIiISxhS2IkRpY4GM9niPrb2dlhsDwMerd4S4J/tnt0KCs8j7ZO+wFRXnrUgIqkgoIiIiEsYUtiKE1mztNqhTDNFWCxsKq9lQWBXq7jRpcK4VC26Iit89bdDHMHaPbilsiYiIiIQtha0IoWqEu8VHWxhyjDestNVCGcO6Nd54OrWrN1ztTeu2RERERMKewlaEKNXIVoBR/bzV/T5etQPTNEPcm30NP6qxIEZql6YbxKsioYiIiEi4U9iKAKZp6qbGexneK4vYKCs/Fdfw9Y9tayqexVXNSTmNYStlP2FL5d9FREREwp7CVgSodjTgcntHbzSN0CsxJoorB3YG4MWFP4W4N4HiKjZitRg4rPEQk9x0I9/IVl25KhKKiIiIhCmFrQhQVuP9MB4bZSU22nqQ1u3Hr07vhsWABRt28UNB2ymUEVe+EYDaqPT9N4qKb6xIaEJdaet0TERERERalMJWBCjVFMImdUmP57zjsgH4+1dtZ3QrrmIDAHW21P03MgwVyRAREREJcwpbEcBX9j01PirEPWl7bjzjKADeX7mdosr6EPfGK7ZiE3CQkS1QkQwRERGRMKewFQFU9n3/TshL5aSuqbjcJjO/3hLq7oCzhpjqfABqo9IO3FYjWyIiIiJhTWErAqgS4YH5Rrde/2YrNY6G0Ham4HsMTHZUeWiwxh64rUa2RERERMKaLdQdkCNXopGtAxreK4tuGfFsLq7htW+2ctOZ3UPXmZ2rAFix001FzK4DNrW5XfQDzLpyVv6Qz7ptKpQhIiIiEk4UtiKAb81Wuka2mmSxGPxmaHfufmc1z8zZwPBeWRydmRCazhT4wpaHB998+6DNS+9OJDUWrn3oRVYXegDYuXNnULsoIiIiIi1DYSsC+NdsKWzt1xUDOvPRqh18tbGY3769kn//5lRs1hDMom0c2fpfgZtRV15Dzx5HHbB5ufUtUtnJXTdezj83RPOft1+nvLy8FToqIiIiIkdKYSsCaM3WwRmGweOX92PEMwtZ9XMFf/3yR24d1qN1O9HggKJ1gHca4dDhmXTu0uWAL6ku6wK1O+mR4iY9M7M1eikiIiIiLUQFMiKAqhE2T8fkWKZcfBwA0+du5LufK1q3A0VrwdOAwxJPfoXZrJeU2bwBK7mhJJg9ExEREZEgUNiKAGW1LkAjW81xcf8czu+bTYPH5Pa3/seuKkfrnXznagBK7bnNfkmVNQWARHdZMHokIiIiIkGksBXm3B6T8lrd1Li5DMPg0Uv6kplo58ddNVwyYxEbC6ta5+SN67VKYw4lbKUCkOguD0aPRERERCSItGYrzFXWufA0zkjTNEKvdevWHbTN5NOT+ONXpWwvr+Piv3zFHSclMKDzoVcozMjIIC8vr3mNG8NWmT0XDAvNmUhYaUsBIMFdgYHnkPsnIiIiIqGjsBXmfPfYSoyxERWK6nptSGWp975V11xzTbPaW2KT6HDZfdC5D49+VUbFN3+jaukHeBw1zT5nbFwc69etO3jgcjfgLFjHQveJzCg5mdw7/sViK5jlTvom1RK1n19drSUJNxaseEix1DW7XyIiIiISegpbYU6VCHerq64EYNSv76NnvwHNeo3bhHkbdlIZ25GU064m4/SrODrRQ49EN9HWA7+2MP9HZj12F8XFxQcMW/UuNy99+i0v1zxNGYngAksUuICvSuwsK4vnxJQaTkipxWoEvtY0LFRbk0l2l5FuqW7WNYmIiIhI26CwFeZ8lQgVtnZLz+lC5x59mt2+77YPef/9mXS99HfUmFGsr7SysdpG1/Q4jslKpGt6PNG2Qx81NE2TT78v4I//Wcf28jogkQ7WGo5JsfLO0/dy5pgJFMb3oKLBxqLSRGrdFoZk7Buoqq0pJLvLSFPYEhEREQkrClthrswXtrRe67AZQO0PixgQM57EowewZHMJxdVOftxVw4+7arBZDDqnxpKXFkeX9HhS46IwDGO/x6tzuvl8bQGvf7OVpVu8VQQ72h383vMiFwzuzz/L+vJGwUY6NuxkRF4a31XG8mVxEqsq4uiXXEdKlDvgeJXWVDqxmXRL86c3ioiIiEjoKWyFuVJ/JUKFrSNlGHB0ZgLdO8Szq9rBxsJqNhZVU1HnYktJLVtKamFjMfHRVjIS7didVuJ7D+XrbXVs8myj1tHAup1V/Oe7nVQ7GgCw2yz8+szu3LTlDuK2L4ac8VC2u9CFxYDjk+vYXGNna52dRSUJjMoOvP9XdWP5d41siYiIiIQXha0wV6ZphC3OMAwyE2PITIzh1O7pFFc7yS+tZWtpDTvK66lxuqkpqQWsZFz4O55cXA6UBxwjNy2Wy07ozC9OyiUnwQp/Xta442RY880+5zw9vYr8n6PZVBPDjrpacmJd/n2VjeXf060a2RIREREJJwpbYa60xvuhXGXfg8MwDDok2umQaGdAl1Rcbg+7qhyUVDvZsn0na9eu5cQBA8hKSybebiMjwc7I47I5qWsaFkvjVMPtK6ChHmJTIe0oYN+wlWF30zuxjjVVcXxVksCVncrwzVT0jWypQIaIiIhIeFHYCnO7qxHqhsatIcpqIScllpyUWFLrfmb+m/fy6O+Wc+KJJ+7/RT83jmp1GggHWOs1OK2GDdUxFDii2Vhj55gEBwCVNu/IVprWbImIiIiElfZ9Y6YI4KtGqJGtNuznpd6vnU86YLN4m4cBKbUALCpJ8N+suqpxZCvJUk+M/nlEREREJGwobIW5khrv6IfWbLVh/rA18KBNT0ypIcbiobLBxo5672ilw4jDaXh/v7lJ+pMVERERCRf65BbGPB6Twgpv2MpOjglxb6RJNcVQttn7faeD32g5ygJHxXt/pxurG3+nhkFVY5GM3OT9T0MUERERkbZFk5LCWHGNA6fbg8WArCSFrVBZt27dfvclFSzmaKAuoQvr1v0EwObNmw94vB7x9aytimVTjZ0zM6qwGN6phOkNheQl699HRERERMKFwlYY21FeD3iDVpRVH8JbW2XpLgCuueaa/baZcpadB4bYefOrjVx/V+DIVm3jvbj2lhvnJNriodZtZWd9FJ1iXbtHtpI0siUiIiISLhS2wtiO8joAclJiQ9yT9qmuuhKAUb++j579mp4i+IuyJ8C1hsQhE7hzxFAAvp37Mf9992UcrqbDltWA7nEO1lXHsqkmpjFspQBoZEtEREQkjLTpT25Tp07lpJNOIjExkczMTC655BJ++OGHgDb19fVMnDiR9PR0EhISGD16NIWFhQFt8vPzGTVqFHFxcWRmZnLXXXfR0ND0B91worDVNqTndKFzjz77PHKPPpYuni0A1Hc/1789uUPHgx7z6ATvqOWmajumyR4jW236T1ZERERE9tCmP7ktWLCAiRMn8s033zBnzhxcLhfnnnsuNTW77zd0xx138NFHH/Gvf/2LBQsWsGPHDi677DL/frfbzahRo3A6nXz99de8+uqrzJw5k8mTJ4fiklrUz2W+sKX1Wm1RWt0W7O4anJZYSuKOOqTX5sU5iTY8VLut7HRE7TGypWmEIiIiIuGiTU8jnD17dsDzmTNnkpmZyfLlyxkyZAgVFRX83//9H2+88QZnn302AK+88gq9evXim2++4ZRTTuHzzz9n7dq1fPHFF2RlZdG/f38eeeQR7rnnHh566CGio8O3ZLpvZKuTRrbapOyq7wEoTOiNaVgP6bU2A7rFO/ihOpZN1XZ6p/iqEVpYYZot3lcRERERaXltemRrbxUVFQCkpaUBsHz5clwuF8OHD/e3OfbYY8nLy2Px4sUALF68mL59+5KVleVvM2LECCorK1mzZk2T53E4HFRWVgY82qIdFQpbbVnHqu8A2Jl43GG9vkdCYwn4mhgqLckAJEQbRHtqW6aDIiIiIhJUYRO2PB4Pt99+O6eddhrHHef98FpQUEB0dDQpKSkBbbOysigoKPC32TNo+fb79jVl6tSpJCcn+x+5ubktfDUtw1eNUGu22qaOjSNbOxP7Htbru8Q6iDI8VDdY2eGMo9LjnS4a11DWYn0UERERkeAJm7A1ceJEvv/+e/75z38G/Vz33nsvFRUV/se2bduCfs5DVed0U1rjBBS22qLohmrSa7331SpI7HNYx7BZoFu893e8qSaGUk88APGu0pbppIiIiIgEVViErUmTJvHxxx8zf/58Onfu7N+enZ2N0+mkvLw8oH1hYSHZ2dn+NntXJ/Q997XZm91uJykpKeDR1vimECbYbSTFtOmld+1Sx6rVGJhU2HOojc447OMcFeedSri1NpoSTwKgkS0RERGRcNGmw5ZpmkyaNIn33nuPefPm0a1bt4D9AwYMICoqirlz5/q3/fDDD+Tn5zN48GAABg8ezHfffUdRUZG/zZw5c0hKSqJ3796tcyFBsH2PSoSGoQp1oVRWXs7OnTsDHhnb5wHwQ3SfffZVVlU1+9i5jWGr2BnFT+5MAOIVtkRERETCQpseEpk4cSJvvPEGH3zwAYmJif41VsnJycTGxpKcnMz111/PnXfeSVpaGklJSdxyyy0MHjyYU045BYBzzz2X3r17M27cOB5//HEKCgq4//77mThxIna7PZSXd0R0j63Qq6vz/g7mz5vHwm9XBuz75aAFkAjPf13Ce4UvBuxzFm0GaNa93uKsJh2iXexyRrHM7MUVLNXIloiIiEiYaNNh6/nnnwdg6NChAdtfeeUVrr32WgCeeeYZLBYLo0ePxuFwMGLECP7617/621qtVj7++GN+85vfMHjwYOLj4xk/fjxTpkxprcsICpV9Dz2HwzvqNLBnJ046YXfFwQSzmuMcHwPQdeBwJhjxAa+bN6+G5RvB7XE36zx5cU52OaP4Hu+9urRmS0RERCQ8tOmwZTbjfkIxMTHMmDGDGTNm7LdNly5d+OSTT1qyayG3XZUI24zEODsd03ev6+tZuxEcUBjViaSMjuy94i8u5tDu7dYl1sHy8nh+MnIxTa3ZEhEREQkXbXrNluyfRrbari6ODQDk23u2yPE6xrqwGSZ1Riw/mLnENZRDM0fFRERERCR0FLbClK8aoUa22hjTJK/+BwDy7ce0yCFtBnSK9ZaA/7KhLxY8UNX0PeJEREREpO1Q2ApDHo/JTv80wpgQ90b2lNpQRKKnggZsbLd3O/gLmimvMWx94Wq8QXLZlhY7toiIiIgER5tesyVNK6524HR7sBiw48d1FFmaV/p93bp1Qe6ZdHF4R7W224/CbRza2qwDHjfOwVcliayy9KLejCKmbDN0Pa3Fji8iIiIiLU9hKwyt+GELAM6KIgaddMEhv766urqFeyQ+eY6NQMtNIfRJi3IT7XHgtNhZ5unJ6aWbW/T4IiIiItLyFLbC0KYdJQCkJSXwixnvNvt1675dwKevPkt9fX2wutauWUw3nYMUtgwDUt2lFFo68pWnL6eXKWyJiIiItHUKW2FoV623El1ynJ3OPY5t9usK838MVpcEyHZuxW46qLPEUxTVqcWPn+YupTCqIws9fbm39J0WP76IiIiItCwVyAhDxY1hK1ZRuU3J85d87wFGy/9ppbi9NzNeZ3alqLi4xY8vIiIiIi1LYSsM7arxhq0468Fv+iytp2v9eqDl7q+1t2hcuAo3AbCwrgvU6ebGIiIiIm2ZwlYY8k0jjLMpbLUVCQ1ldHRtxcTgp5jeQTtPzY/LAPjS3R9UJENERESkTVPYCkO+aYRx1hB3RPx61K8GYHt0N2qtSUE7T/1P3rC10NOPhhKFLREREZG2TGErzNQ6G6hyeke0NLLVdhxd5w1bm2L7BfU8jh0bSDTqqSSelT8VBPVcIiIiInJkFLbCzI5yb9l2j6OGKP322oRUay2dnN5Rpo0xwQ1bmB6OtxcC8OW2huCeS0RERESOiD6uh5kd5XUANFTuCnFPxOeU2G0YmOyM6kK1LTXo5zsuvhKAL4uDN11RRERERI6cwlaY2a6w1eacGrcNgI2xx7fK+Y5K9H793pFJUZVuUC0iIiLSVilshZkEu41j0qNwFf4U6q4IkBFncFyMd1rfxiCv1/KxxKbQ1/D+/hes3dEq5xQRERGRQ6ewFWYuPD6HPw/LoPyr10LdFQEu7mnDapgURnWi0pbeKud0WBMYGrUOgC/X5LfKOUVERETk0ClsiRyBy3tHAa03hRAAw2BoWgkAX22pocHtab1zi4iIiEizKWyJHKZ4o55h3bw3O9sU04phC+jfMYYUqqh0wv+2lbfquUVERESkeRS2RA7TWbE/EGU12OJMoSwqs1XPbU3ryhmW7wCYv76oVc8tIiIiIs2jsCVyOEwPo+K8NzKeXdWj9c+f1o1h1v8B8Ml3OzFN3eBaREREpK1R2BI5DF3Kl5BrK6ei3mR+zVGt34HUbpxjWUas4WRLSa2mEoqIiIi0QQpbIoeh/863AHhlpZM6M6r1O5DWjXjDwXmWpQC8t2J76/dBRERERA5IYUvkEKXU5XNU2SI8JvzlW2doOpHUCSxRXGpZCMBHq3fgbFBVQhEREZG2RGFL5BD13/k2AMscXfmxLERrpSxWSO3CaZbvyYwzKK918eUPKpQhIiIi0pYobIkcguiGanoXfQzAR7WtW+59H6ndsBomF3eqAeC9/2kqoYiIiEhborAlcgh6F/0Hu7uGktiu/M+ZG9rOpHkLc1ya+iMAc9cVUVHrCmWPRERERGQPClsizRTdUM3A7f8AYFXHKwAjtB1qDFu961dybHYiTreH/3y3M7R9EhERERE/hS2RZhqyeRqJziLKYzqzJvOiUHcHOg3wft22hEv75wDw3v9+DmGHRERERGRPClsizdCl7Gv6Fn2AicHnR0+mwRoT6i5Bx+PBFgt1pVycW49hwNItZWwqqg51z0REREQEhS2Rg4puqOacTX8E4H8df8H25BNC3KNGtmjoPBCA7LJvGXZsFgDPzNkQyl6JiIiISCOFLZGD8E0fLIvJZVGXiaHuTqAup3q/bl3M70Ycg2HAf77byeqfy0PaLRERERFR2BLZP9PkxO2zdk8f7NFGpg/uKW+w92v+Yo7NTuLS/p0AeGz2+hB2SkRERERAYUukSVaPgxEbH+bMLdMAWNp5PDuS+oe0T03qfBIYVqjYBuXbuOOcY4i2Wli0qYT/biwOde9ERERE2jWFLZG9JDgKufK7CfTe9R88WJnf7bcsyrs51N1qmj3BWygDIH8xuWlxjD0lD/CObnk8Zgg7JyIiItK+2ULdAZG2IrFyA6eu/pwTq78kynRSY0lkVtbdbDKOh4KCfdpXVlWFoJdN6HIq7FgBW7+Gflcy8ayjeXvpNr7bXsEn3+/kgn45oe6hiIiISLuksCXtms1dz4CGFVw3Lo5hCS9CY376tjyFG9ecwNa6JcCSJl/rLNoMQENDQyv11mvz5s2sWLHC/zy5IZPuQN2Geaxr3H5Bj1jeWlPNH/69CqPsZzom2sjIyCAvL69V+yoiIiLSnilsSbvUsXI1xxW+zzHFc4lOqIUEG27T4Htrb/5rO4WtWbmMyDYOeIx582pYvhHcHner9Lm6qhKABx54gAceeMC/PSPOYNddicRWbeWc0wdSWmdi2OxkXf1nKjv2YMKslRS89jvsFjfr161T4BIRERFpJQpb0q50rFzN4G0v0qV892hVQUMSf1u0i63dx9B30BBvu2YcKy4mOki9bJqjrg6AIVffysDThgbsKyy5lyz3Tp74432ssZ8IQL0b5heY1KZ1os9t/8d3T46luLhYYUtERESklShsSbuQVvsTQzZPo1v5YgDchpX1HUbyfdbFvDZnFf/58k9c2DU+xL1snuSsznTu0SdgW5ExiKzC9+kXX0JFt937Ujs7eHvZz1S648g4/zbcKpghIiIi0moUtiTilJWXs3PnTgCspouzyt/h7LJ/YaMBNxaWJw5jbsoVlEVlQw1UVlWHuMdHbnvSCfQtfJ9OlSsDtqcn2BnVryPv/+9n4nsP5YEvS3ixWy156XGh6aiIiIhIO6KwJRGjrnGa3fx581j47UoGJpUxvfdqeid4q17M3pXJ7zf0YUudHfjQ/7pQFbpoSdsb7wGWWbMem7uOBmusf19eWhyDMhr4eruL9cVxjHx2IZMv7M2VA3MxjAOvSxMRERGRw6ewJRHD4XAAMKx3Bn/o9TMnu72V+aqJ54Oo81nVuQ/n5u4bLlq70EUwVNo7UmHvSLJjJ72L/sPqjpcH7O8UZ7Lj5Umc+8DrrC12cs+/v+Pfy7dz45CjGHZsJhaLQpeIiIhIS1PYkohhxc3Ek6L4c/fZJLidAKyJO5mFSRdRb43fb9GL1i50ERSGwfJO13D2T09wyraXWJd5Pi5r4FRBd2URDw9NY0VNCk99voFvt5Ty7ZZSuqbHce2pXbnw+BzSE+whugARERGRyKOwJW2OgUmsDTCbUczBNMmqXkuvXZ/wq8wPST4/FnBSGNWJ+cmj2WnvFuzuthnfZV3KCTv+SWr9NgZsn8U3eTfu08ZqMfj1md258PgcXl28hTeW5LOlpJaHPlrLlI/XMqhbOiP7ZnNO7yw6Jsc2cRYRERERaS6FLQmp6IZqupX9l6NKvyK5fjsJzl3E2ot57b4kXObvcX6bQr0tifqoZO9XWyJuw06cq5R4ZzGJjgISXMXeg1mgoNrDe45TcPT9BaZhCe3FtTKPJYpFXW7mgh/uZcD211idfSm10RkBbdatW+f/fkQWDBmZzvwtdczbUstPZQ0s/qmExT+VMPmDNeQm2eifbefMYzpwwaBjiYmytvYliYiIiIQ1hS0Juj2rAwLYPE761C6hf/UCjqn7H1GmK/AFjcuHonAT5Soh3lUCdfs/vsti58e0oby5IZo//mUW548/hrPaWdDy2Zg+jJ0JfehYvYZTtv2ded1/D0Bl6S4Arrnmmv2+1pacRVzPU4k95lTsOT3ZVtnAtsoGPtpQwx8+3cqgo9IZ0qMDpx2dQc/sRKxa5yUiIiJyQApbEjR7Vgf877f/o19iBVfn/MwV2dtJjdodsDbWxPNBUUf+V5nCToedbdt3Ubh+GRfe+DsGHt+HOE8Vse5q4jxVxHmqifI4qLamUGlLo9KaRlF0ZxyWOL4peRd3O7iNVFVlZUB43dv7iWP5TfUfOK7gPT63DWNXdGd2/pwPwKhf30fPfgMOeg6nu4GiegtbSqrZXumCpA58tbGYrzZ6RxET7TZO7JLKSV1T6dUxiWOyEumUEhtQaCM/P5/i4uJDvr6MjAzdeFlEREQigsKWNEt6rEHXquX0WruSbOdW4jxVxHhqiPXUAFBrSaDWkkStNRGnYcdlsZNubmbY+TGc2Wc9PeKqiGZ3wCojmeXW41llPY5CeyakG3QCOgG1C75i0+plfPjf7/nPyh376VE18HPAlkgo4X4g9S5vtcRly5bxv/U/HbBt1+OzGNmhkPPX3cO13w1gzRbvyFZsSod9boi8P0cBnTeu4emJl/H039+gMq4TKwudrCt2UuVoYMGGXSzYsMvfPsZmkBlvJcluIcrjZNG8z2hwOhr3moCBYYvCsEY3fo3CsEVjWKPAYgVPA6bHjQWTUeeeTecOqaTGRZOeEE2nlFg6pcbSKSWWeHvL/mfrQKHQbFw32FSJfIVCERERORiFLdmH3VVBVs16sqrXklW9jrFRy3n97kTgTShr/nGGpAFp0UApAE4jmi0xvfg+7hTy7cdgGhYssE+VwOjGtUHHd8/k1JNOaPb5IqGE+4E4G7zX1Zyfy3eebpzh/D/6JFax6NRFTO/cg7s2gsPpPKRz+qYf3nnD1bs3GhaiOnQlpnNv7J2OJSqjC1FpnaknivyK3UE3rt+IQzrXnr7YWAEbK5rclxBt0CHOSod4q/dr4/c9ctLp3T2P2CgrcdE27DYLTrcHR4MHZ4OHynoXpTVOSqqdlNY4Ka1xsKWghNf/9T5mdDzWuGQscclYYhIxrDYMi/d9aJoeTGc9psuBx1WHp64ad205hrOGX119BV07ZpCeYCc9Ppq0eG84TI+3Ext96GvcXG4PtQ43HtPEY5qYQLTNQqLdpnuiiYiIhKF2FbZmzJjBE088QUFBAccffzzPPfccJ598cqi7FTIWj4uU+p9JrdtCWu0WMmt+IKt6HcmOvUaTGj8z5jsSKIntxnZLR6qNBOqIoc6IwcAkzqwjzqwljjqicBFluij8eQtbf/oJ91FDyDn+bMpsGXAIa6niY6LomJ7U7PYRUcK9GZr3c0niDffdjCh7gy6ODfwuby3HXhXLCttGrO563NaYZp2rrroSOPj0Q49pUtPgpNZt4HQbbN28iR++W0G/My8kq3MepgmGATaLBavF8D9sjV8NwGPCtk1rWfj+axj2BKyxiVhik7DGp2JL6oA1ORNrTALVTpNqZwOby/cewSwHfmzWde0ppucZB9xvGBYMexzY47CSCqm79725shhWNj0qZrcaJNktJMdYvKN9Fu/4ntvtAcNCXYNJnctDXYNJrcv7vcvTdB8sBiTaraQnxNAxJYbc1Dhy0+LonBpL59Q4ctNi6ZBgVyATERFpY9pN2Hrrrbe48847eeGFFxg0aBDTpk1jxIgR/PDDD2RmZoa6ey3G4nER21BBjKuc2IYKYl3lxDR+Pda2ggtHx9LPOY3sJY+R1FCClaY/3RXbOvKz/Wh+th/N56t38Orr/+LMq67hrFOb/sBdj2/8arf3ls7mqy/Wce7VeZwXFTk/43BRY03m3fRfc2L1Ak6t+IgLjoniAt7C9e375KcMYmficVTEdKY8pjOV9o44rQl4LE3/JyE9p0uzpx8CRJds5Nv/vkG3c4bSv3vGwV/QqHpNIdWr5+w33Lk8TmobDGrdeL82fl9R66Csqo6YpDQazH0DhwHERhkk273Bx/dwVZfx/luzOPfy8XTKzSM22kpMlNUfAA3DewcCl9uDy23icnuod7n58Ye1LPr8Q+9oWGwS1vgU79e4ZKxxKRi2KBxuk121bnbVHvlIq8eEino3FfU1/FRcA5Ts0ybaCpnxNjLjrGTGW8mIs5IYbaFjRjJH53YkJtpKtNVClNWCxcA74uf2jvr5Hq7GkcA6l5sdhcWUVlbjaDBxuE0cDSZOt3e0zWwcdbMaBnabQbTVIMZmYLd6H+kpiXTumElijI1Eu43EmCgSYmwkxtiIj7a1eHEVj8fE3Tga6PGA2zSpd7mpdbipcTZQ42igxumm1tFAtaOBWqd3+86iUkqraqhvMKlzmdQ3mDR4TAzD+56xGAbRNoNY3yPKINZmIT0lgdzsTBLsNpJibCTE2Eiwe78m2qOIibIo+IqICNCOwtbTTz/NjTfeyHXXXQfACy+8wH/+8x9efvllfv/734e4d4dg80JyV/2NN0fH0rtoKskV+NdOxXhqiDYPME3MBhwXBfwMjYMCVQ1WNtUmsKEmgbXVifyvMoVVVUlUNPhGiXbhLPqZOkfkroWKaIaFFYln8a+VFfQqmcPlJ6SRZaume+lCupcu3Ke5y4jGYcTisHgf51gcXH11LB09L5Ow7mNMw4bHsGAaVjyGFQ9WLLgxTA+G6caCB8P0cHrUz1zxi1hyHC+QuOINLI2h3o339W7Dhgdr41fvc7dhpZt7B8efY+fY7DV0sNd5z2FY8Zeo3I/CbT+x9L/vAXiPZ43GbURjNV1YPC4sZsN+j3BzNJzsiiezPtf7rwb7Ye5xhO0Na+lr/YRj+59Nh+xOwO4pj6YJ9aaNatNOlcdOtRlNtceOGwvVZbso3LqRnG49yUhJIMZoaHy4/N9HGw1YGs9mGOA0LewoKuH71atwRCVRE92BmpjMxkcWNfZMau3pON0Wfq5s4OfKvf9OK4D8A/78Wl4lsH2/e+2GG4thYjNMrIaJBbAaJlY8GAZ4TAMPBh4T3BiYpoEHcJsGJgZuk8b93natrwrYf5EaKybRFjfRhkmUxUO04SGq8RFt8V63xTAxMLEClsbnFt/3eH8uBt6fS7TNSow9Govha+/dbjG87a2G95ze57v3+X62vtwXUD/I3Heb73tzj3+wMGmiXROv3bv9nsdp+hxNbMP7u28wwe0xaDC9v+uArx7vV0/j83pXA84GD27T8D4wdn/f+By8/wUxGn++3u89WAwDA9/PqPFr48/RaPzeF7x9/wXYc5v/4T/m7v0W3++j8XcZbbNit0c3vs+9vxNr4+/O4v8b2P373HOb1TA53Ox+2DWjDvOFR1Kj6nBfazbxD2zNPZ/H9H71vff8z/3/jQFP4/M6hxOXq6HxueF9DYa/rWn6VicT8PccFWUjzh7t/3v1/V4N3+/a176Jv9m9+9ucjQf7uwzY3sTPrrmvb+pWqIfyO6ytd1DvdDX+3L1/q77fg7vxv/n+7Y0/Y7dpYFht3H/F6XTrGj73UW0XYcvpdLJ8+XLuvfde/zaLxcLw4cNZvHjxPu0dDgcOh8P/vKLC+0GqsrIy+J09mC2rsG/4iPN72MCxHnZ3k/rGh9uEcqeN0sZHmSuKUoeN4qp6ft65CzoehyU9j5KGWErdsQR8kE2AYxICT7mhykM+sG3rFr5dFtXsrhbu8E5H3LFtG98uW6HXheh1AKvWlzNjaT2/W59D3+wohnUo5+jEerrG1dMlrp7MGN8HdAfgIIpyooAEIC/PBo41sHNNs8+XDfTsZgPPRu/svuaywdkDosExFzbNPYQXwjln2Pd4ZrL7j8OKfy7s/lR/ABuaf67jgfPPsAOL9h3SPRA7cAzAV1BzCK+LAgYAFAGb9tntNK0UmGlsNzP42cxgu9mBIjOZSuKpMBOoIA4H0TSYVhqw4sZCNA1EGQ1E0UA0LqJxe78aDcRQTywuYgwHcTix4yTWcBBNgzcQ4Q0KDdioJ4o6M5p67NQRTb3p/VqLnSozlhpiqTFjqCIOF97/fhzgTg6NWqasaAz1xFNPnOEgjnricRBr1JPQ+DUe73b/NuqJNtz+D1Fu00I9dqqJodaMoZYY//e+rzXEUG3GUk0MNcRiNv7Tgou9f8UGB30fymFo/v+TvHz/v9PvQg6V/eBN5BDEHvYrL1rxLelp6S3Yl0PnywRmU6lzL4bZnFZhbseOHXTq1Imvv/6awYMH+7fffffdLFiwgCVLlgS0f+ihh3j44Ydbu5siIiIiIhImtm3bRufOnQ/Ypl2MbB2qe++9lzvvvNP/3OPxUFpaSnp6ekjn4VdWVpKbm8u2bdtISmp+4QiRQ6X3mrQWvdekNen9Jq1F77XIZpomVVVV5OTkHLRtuwhbGRkZWK1WCgsLA7YXFhaSnZ29T3u73Y7dHjhcnJKSEswuHpKkpCT94Uqr0HtNWovea9Ka9H6T1qL3WuRKTk5uVrvm1+EOY9HR0QwYMIC5c3evAfF4PMydOzdgWqGIiIiIiEhLaRcjWwB33nkn48ePZ+DAgZx88slMmzaNmpoaf3VCERERERGRltRuwtYvfvELdu3axeTJkykoKKB///7Mnj2brKysUHet2ex2Ow8++OA+UxxFWprea9Ja9F6T1qT3m7QWvdfEp11UIxQREREREWlt7WLNloiIiIiISGtT2BIREREREQkChS0REREREZEgUNgSEREREREJAoWtMDJjxgy6du1KTEwMgwYN4ttvvw11lySMTJ06lZNOOonExEQyMzO55JJL+OGHHwLa1NfXM3HiRNLT00lISGD06NH73Aw8Pz+fUaNGERcXR2ZmJnfddRcNDQ2teSkSZv785z9jGAa33367f5vea9JStm/fzjXXXEN6ejqxsbH07duXZcuW+febpsnkyZPp2LEjsbGxDB8+nI0bNwYco7S0lLFjx5KUlERKSgrXX3891dXVrX0p0sa53W4eeOABunXrRmxsLN27d+eRRx5hz1pzer/J3hS2wsRbb73FnXfeyYMPPsiKFSs4/vjjGTFiBEVFRaHumoSJBQsWMHHiRL755hvmzJmDy+Xi3HPPpaamxt/mjjvu4KOPPuJf//oXCxYsYMeOHVx22WX+/W73/7d370FR1e8fwN/AckcERXehAiktCNFAUhFHSzaQGMfLqBMxpKhRhhcy76TZOEpqmiNNXmeUJsgu4lQmJoJoKiGgoCKCIYgZiDdCFIVln98fjufXBn6/+o113Xq/ZnZmz+fz7DnP58wzs/vM2T3bisjISDQ3N+PIkSNISUnBtm3bsHjxYlMsicxAfn4+Nm7ciD59+hiMs9aoI1y/fh0hISGwtrZGRkYGTp8+jdWrV8PV1VWJWblyJdatW4cNGzYgLy8Pjo6OCA8Px+3bt5WY6OholJSUIDMzE7t27cLBgwcRFxdniiXRY2zFihVYv349Pv30U5SWlmLFihVYuXIlkpOTlRjWG7UhZBb69+8v8fHxynZra6t4eHhIUlKSCbMic1ZXVycA5MCBAyIiUl9fL9bW1vLNN98oMaWlpQJAcnNzRURk9+7dYmlpKbW1tUrM+vXrxdnZWe7cufNoF0CPvRs3bkivXr0kMzNThg4dKjNnzhQR1hp1nHnz5sngwYPvO6/X60Wj0ciqVauUsfr6erG1tZUvv/xSREROnz4tACQ/P1+JycjIEAsLC7l48aLxkiezExkZKZMmTTIYGzNmjERHR4sI643axytbZqC5uRmFhYXQarXKmKWlJbRaLXJzc02YGZmzP/74AwDQpUsXAEBhYSFaWloM6szHxweenp5KneXm5sLf39/gz8DDw8PR0NCAkpKSR5g9mYP4+HhERkYa1BTAWqOO8/333yMoKAjjxo1D9+7dERAQgM2bNyvzlZWVqK2tNai1zp07Y8CAAQa15uLigqCgICVGq9XC0tISeXl5j24x9NgbNGgQsrKyUF5eDgAoLi7GoUOHEBERAYD1Ru1TmToB+u+uXLmC1tZWgw8dAKBWq3HmzBkTZUXmTK/XIyEhASEhIejduzcAoLa2FjY2NnBxcTGIVavVqK2tVWLaq8N7c0T3bN++HceOHUN+fn6bOdYadZRz585h/fr1mDVrFhYuXIj8/HzMmDEDNjY2mDBhglIr7dXSn2ute/fuBvMqlQpdunRhrZGB+fPno6GhAT4+PrCyskJrayuWLVuG6OhoAGC9UbvYbBH9C8XHx+PUqVM4dOiQqVOhf6ALFy5g5syZyMzMhJ2dnanToX8wvV6PoKAgLF++HAAQEBCAU6dOYcOGDZgwYYKJs6N/mq+//hqpqalIS0uDn58fioqKkJCQAA8PD9Yb3Re/RmgG3NzcYGVl1eZOXZcuXYJGozFRVmSupk2bhl27dmH//v148sknlXGNRoPm5mbU19cbxP+5zjQaTbt1eG+OCLj7NcG6ujoEBgZCpVJBpVLhwIEDWLduHVQqFdRqNWuNOoS7uzuef/55gzFfX19UV1cD+P9a+U/vnxqNps3NpnQ6Ha5du8ZaIwNz5szB/Pnz8dprr8Hf3x8xMTF49913kZSUBID1Ru1js2UGbGxs0K9fP2RlZSljer0eWVlZCA4ONmFmZE5EBNOmTcPOnTuRnZ0Nb29vg/l+/frB2traoM7KyspQXV2t1FlwcDBOnjxp8EaRmZkJZ2fnNh946N8rNDQUJ0+eRFFRkfIICgpCdHS08py1Rh0hJCSkzV9YlJeXw8vLCwDg7e0NjUZjUGsNDQ3Iy8szqLX6+noUFhYqMdnZ2dDr9RgwYMAjWAWZi1u3bsHS0vCjs5WVFfR6PQDWG92Hqe/QQQ9m+/btYmtrK9u2bZPTp09LXFycuLi4GNypi+g/mTp1qnTu3FlycnKkpqZGedy6dUuJefvtt8XT01Oys7OloKBAgoODJTg4WJnX6XTSu3dvCQsLk6KiItmzZ49069ZNFixYYIolkRn5890IRVhr1DGOHj0qKpVKli1bJmfPnpXU1FRxcHCQL774Qon56KOPxMXFRb777js5ceKEjBw5Ury9vaWpqUmJGT58uAQEBEheXp4cOnRIevXqJVFRUaZYEj3GJkyYIE888YTs2rVLKisrJT09Xdzc3GTu3LlKDOuN/orNlhlJTk4WT09PsbGxkf79+8svv/xi6pTIjABo97F161YlpqmpSd555x1xdXUVBwcHGT16tNTU1Bjsp6qqSiIiIsTe3l7c3Nzkvffek5aWlke8GjI3f222WGvUUX744Qfp3bu32Nraio+Pj2zatMlgXq/Xy6JFi0StVoutra2EhoZKWVmZQczVq1clKipKnJycxNnZWWJjY+XGjRuPchlkBhoaGmTmzJni6ekpdnZ28vTTT0tiYqLB31Gw3uivLET+9LfXRERERERE1CH4my0iIiIiIiIjYLNFRERERERkBGy2iIiIiIiIjIDNFhERERERkRGw2SIiIiIiIjICNltERERERERGwGaLiIiIiIjICNhsERERERERGQGbLSIiosfIkiVL8MILL5g6DSIi6gBstoiIiIiIiIyAzRYREREREZERsNkiIiKTeumllzB9+nQkJCTA1dUVarUamzdvxs2bNxEbG4tOnTqhZ8+eyMjIUF5z6tQpREREwMnJCWq1GjExMbhy5Yoy/+2338Lf3x/29vbo2rUrtFotbt68CQDIyclB//794ejoCBcXF4SEhOD8+fMAgIqKCowcORJqtRpOTk548cUXsW/fPoN8a2pqEBkZCXt7e3h7eyMtLQ09evTA2rVrlZj6+npMmTIF3bp1g7OzM4YNG4bi4uL/+Rxt2bIFvr6+sLOzg4+PDz777DNlrqqqChYWFkhPT8fLL78MBwcH9O3bF7m5uf/z8YiIqGOw2SIiIpNLSUmBm5sbjh49iunTp2Pq1KkYN24cBg0ahGPHjiEsLAwxMTG4desW6uvrMWzYMAQEBKCgoAB79uzBpUuXMH78eAB3m6GoqChMmjQJpaWlyMnJwZgxYyAi0Ol0GDVqFIYOHYoTJ04gNzcXcXFxsLCwAAA0Njbi1VdfRVZWFo4fP47hw4djxIgRqK6uVnJ944038PvvvyMnJwc7duzApk2bUFdXZ7CecePGoa6uDhkZGSgsLERgYCBCQ0Nx7dq1hz43qampWLx4MZYtW4bS0lIsX74cixYtQkpKikFcYmIiZs+ejaKiIjz77LOIioqCTqd76OMREVEHEiIiIhMaOnSoDB48WNnW6XTi6OgoMTExylhNTY0AkNzcXFm6dKmEhYUZ7OPChQsCQMrKyqSwsFAASFVVVZtjXb16VQBITk7OA+fn5+cnycnJIiJSWloqACQ/P1+ZP3v2rACQTz75REREfv75Z3F2dpbbt28b7OeZZ56RjRs3/tfjffDBB9K3b1+D16WlpRnELF26VIKDg0VEpLKyUgDIli1blPmSkhIBIKWlpQ+8TiIi6ngq07V5REREd/Xp00d5bmVlha5du8Lf318ZU6vVAIC6ujoUFxdj//79cHJyarOfiooKhIWFITQ0FP7+/ggPD0dYWBjGjh0LV1dXdOnSBRMnTkR4eDheeeUVaLVajB8/Hu7u7gDuXtlasmQJfvzxR9TU1ECn06GpqUm5slVWVgaVSoXAwEDlmD179oSrq6uyXVxcjMbGRnTt2tUgt6amJlRUVDzUebl58yYqKiowefJkvPnmm8q4TqdD586d73sO762nrq4OPj4+D3VMIiLqOGy2iIjI5KytrQ22LSwsDMbufc1Pr9ejsbERI0aMwIoVK9rsx93dHVZWVsjMzMSRI0ewd+9eJCcnIzExEXl5efD29sbWrVsxY8YM7NmzB1999RXef/99ZGZmYuDAgZg9ezYyMzPx8ccfo2fPnrC3t8fYsWPR3Nz8wGtpbGyEu7s7cnJy2sy5uLg88H7u7QsANm/ejAEDBhjMWVlZGWzf73wREZHpsNkiIiKzEhgYiB07dqBHjx5Qqdp/G7OwsEBISAhCQkKwePFieHl5YefOnZg1axYAICAgAAEBAViwYAGCg4ORlpaGgQMH4vDhw5g4cSJGjx4N4G6zU1VVpez3ueeeg06nw/Hjx9GvXz8AwK+//orr168b5FdbWwuVSoUePXr8rbWq1Wp4eHjg3LlziI6O/lv7IiKiR483yCAiIrMSHx+Pa9euISoqCvn5+aioqMBPP/2E2NhYtLa2Ii8vD8uXL0dBQQGqq6uRnp6Oy5cvw9fXF5WVlViwYAFyc3Nx/vx57N27F2fPnoWvry8AoFevXkhPT0dRURGKi4vx+uuvG1wd8vHxgVarRVxcHI4ePYrjx48jLi4O9vb2ytUkrVaL4OBgjBo1Cnv37kVVVRWOHDmCxMREFBQUPPR6P/zwQyQlJWHdunUoLy/HyZMnsXXrVqxZs6ZjTigRERkNr2wREZFZ8fDwwOHDhzFv3jyEhYXhzp078PLywvDhw2FpaQlnZ2ccPHgQa9euRUNDA7y8vLB69WpERETg0qVLOHPmDFJSUnD16lW4u7sjPj4eb731FgBgzZo1mDRpEgYNGgQ3NzfMmzcPDQ0NBsf//PPPMXnyZAwZMgQajQZJSUkoKSmBnZ0dgLtX1Xbv3o3ExETExsbi8uXL0Gg0GDJkiPLbs4cxZcoUODg4YNWqVZgzZw4cHR3h7++PhISEv30uiYjIuCxEREydBBERkbn67bff8NRTT2Hfvn0IDQ01dTpERPQYYbNFRET0ELKzs9HY2Ah/f3/U1NRg7ty5uHjxIsrLy9vc6IOIiP7d+JstIiKih9DS0oKFCxfCz88Po0ePRrdu3ZCTk/PAjZafnx+cnJzafaSmpho5eyIiepR4ZYuIiOgROn/+PFpaWtqdU6vV6NSp0yPOiIiIjIXNFhERERERkRHwa4RERERERERGwGaLiIiIiIjICNhsERERERERGQGbLSIiIiIiIiNgs0VERERERGQEbLaIiIiIiIiMgM0WERERERGREfwf1nCjeMfulYQAAAAASUVORK5CYII="/>
          <p:cNvSpPr>
            <a:spLocks noChangeAspect="1" noChangeArrowheads="1"/>
          </p:cNvSpPr>
          <p:nvPr/>
        </p:nvSpPr>
        <p:spPr bwMode="auto">
          <a:xfrm>
            <a:off x="2333167" y="22122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8" descr="data:image/png;base64,iVBORw0KGgoAAAANSUhEUgAAA1sAAAIjCAYAAAD1OgEdAAAAOnRFWHRTb2Z0d2FyZQBNYXRwbG90bGliIHZlcnNpb24zLjEwLjAsIGh0dHBzOi8vbWF0cGxvdGxpYi5vcmcvlHJYcgAAAAlwSFlzAAAPYQAAD2EBqD+naQAAj0FJREFUeJzs3Xt8U/X9x/HXSdKm9zttKbSAiAgIoqCIF0RBEfGOOhQZOpU5weumzqmo6Ma8I47pdD/FKTqd8z5FERAcInIZoFwEFCgCben9nqTJ+f2RJhAoUKBpmvT9fDzyaHPON+d8T5tq3ny/388xTNM0ERERERERkRZlCXUHREREREREIpHCloiIiIiISBAobImIiIiIiASBwpaIiIiIiEgQKGyJiIiIiIgEgcKWiIiIiIhIEChsiYiIiIiIBIHCloiIiIiISBAobImIiIiIiASBwpaIRJSHHnoIwzBa5VxDhw5l6NCh/udffvklhmHwzjvvtMr5r732Wrp27doq5zpc1dXV3HDDDWRnZ2MYBrfffnuouyRtiGEYTJo06bBe29p/b81lGAYPPfRQqLshIm2EwpaItFkzZ87EMAz/IyYmhpycHEaMGMH06dOpqqpqkfPs2LGDhx56iJUrV7bI8VpSW+5bc/zpT39i5syZ/OY3v+G1115j3Lhx+23btWtXDMNg+PDhTe5/6aWX/O+FZcuWBavLYefaa68lISEh1N3Yr6+//pqHHnqI8vLyUHfliKxcuZJrrrmG3Nxc7HY7aWlpDB8+nFdeeQW32x3q7olIG2ULdQdERA5mypQpdOvWDZfLRUFBAV9++SW33347Tz/9NB9++CH9+vXzt73//vv5/e9/f0jH37FjBw8//DBdu3alf//+zX7d559/fkjnORwH6ttLL72Ex+MJeh+OxLx58zjllFN48MEHm9U+JiaG+fPnU1BQQHZ2dsC+WbNmERMTQ319fTC6KkHy9ddf8/DDD3PttdeSkpIS6u4clr///e/cdNNNZGVlMW7cOHr06EFVVRVz587l+uuvZ+fOnfzhD38IdTdFpA1S2BKRNm/kyJEMHDjQ//zee+9l3rx5XHDBBVx00UWsW7eO2NhYAGw2GzZbcP/TVltbS1xcHNHR0UE9z8FERUWF9PzNUVRURO/evZvd/rTTTmPp0qW89dZb3Hbbbf7tP//8M1999RWXXnop//73v4PRVZEmffPNN9x0000MHjyYTz75hMTERP++22+/nWXLlvH999+HsIci0pZpGqGIhKWzzz6bBx54gK1bt/L666/7tze1ZmvOnDmcfvrppKSkkJCQQM+ePf3/Cv3ll19y0kknAXDdddf5p6nNnDkT8K7LOu6441i+fDlDhgwhLi7O/9q912z5uN1u/vCHP5CdnU18fDwXXXQR27ZtC2jTtWtXrr322n1eu+cxD9a3ptZs1dTU8Nvf/tY/1alnz548+eSTmKYZ0M63Vub999/nuOOOw26306dPH2bPnt30D3wvRUVFXH/99WRlZRETE8Pxxx/Pq6++6t/vW0+zefNm/vOf//j7vmXLlgMeNyYmhssuu4w33ngjYPubb75JamoqI0aMaPJ169ev5/LLLyctLY2YmBgGDhzIhx9+GNDG5XLx8MMP06NHD2JiYkhPT+f0009nzpw5/jYFBQVcd911dO7cGbvdTseOHbn44osD+v3BBx8watQocnJysNvtdO/enUceeaTJqWQzZszgqKOOIjY2lpNPPpmvvvqqyfeNw+HgwQcf5Oijj8Zut5Obm8vdd9+Nw+E44M/rUCxZsoTzzjuP5ORk4uLiOPPMM1m0aFFAG9/fz6ZNm/wjUcnJyVx33XXU1tYGtK2rq+PWW28lIyODxMRELrroIrZv3x6wZumhhx7irrvuAqBbt277fR8c7vsQDv739uCDDxIVFcWuXbv2ee2ECRNISUk54Gjpww8/jGEYzJo1KyBo+QwcOLDJv2WfrVu3cvPNN9OzZ09iY2NJT0/niiuu2Odn0FLvTxFpWzSyJSJha9y4cfzhD3/g888/58Ybb2yyzZo1a7jgggvo168fU6ZMwW63s2nTJv+HzF69ejFlyhQmT57MhAkTOOOMMwA49dRT/ccoKSlh5MiRjBkzhmuuuYasrKwD9uuPf/wjhmFwzz33UFRUxLRp0xg+fDgrV670j8A1R3P6tifTNLnooouYP38+119/Pf379+ezzz7jrrvuYvv27TzzzDMB7f/73//y7rvvcvPNN5OYmMj06dMZPXo0+fn5pKen77dfdXV1DB06lE2bNjFp0iS6devGv/71L6699lrKy8u57bbb6NWrF6+99hp33HEHnTt35re//S0AHTp0OOh1X3311Zx77rn8+OOPdO/eHYA33niDyy+/vMnRvDVr1nDaaafRqVMnfv/73xMfH8/bb7/NJZdcwr///W8uvfRSwPvBf+rUqdxwww2cfPLJVFZWsmzZMlasWME555wDwOjRo1mzZg233HILXbt2paioiDlz5pCfn+8PtjNnziQhIYE777yThIQE5s2bx+TJk6msrOSJJ57w9+v5559n0qRJnHHGGdxxxx1s2bKFSy65hNTUVDp37uxv5/F4uOiii/jvf//LhAkT6NWrF9999x3PPPMMGzZs4P333z/oz+xg5s2bx8iRIxkwYAAPPvggFouFV155hbPPPpuvvvqKk08+OaD9lVdeSbdu3Zg6dSorVqzg73//O5mZmTz22GP+Ntdeey1vv/0248aN45RTTmHBggWMGjUq4DiXXXYZGzZs4M033+SZZ54hIyMDCHwfHO770Odgf2/jxo1jypQpvPXWWwHFOJxOJ++88w6jR48mJiamyWPX1tYyd+5chgwZQl5e3sF/0E1YunQpX3/9NWPGjKFz585s2bKF559/nqFDh7J27Vri4uKAlnt/ikgbY4qItFGvvPKKCZhLly7db5vk5GTzhBNO8D9/8MEHzT3/0/bMM8+YgLlr1679HmPp0qUmYL7yyiv77DvzzDNNwHzhhRea3HfmmWf6n8+fP98EzE6dOpmVlZX+7W+//bYJmM8++6x/W5cuXczx48cf9JgH6tv48ePNLl26+J+///77JmA++uijAe0uv/xy0zAMc9OmTf5tgBkdHR2wbdWqVSZgPvfcc/uca0/Tpk0zAfP111/3b3M6nebgwYPNhISEgGvv0qWLOWrUqAMeb++2DQ0NZnZ2tvnII4+Ypmmaa9euNQFzwYIFTb4nhg0bZvbt29esr6/3b/N4POapp55q9ujRw7/t+OOPP2BfysrKTMB84oknDtjP2trafbb9+te/NuPi4vx9cDgcZnp6unnSSSeZLpfL327mzJkmEPA7fu2110yLxWJ+9dVXAcd84YUXTMBctGjRAfszfvx4Mz4+fr/7PR6P2aNHD3PEiBGmx+MJuI5u3bqZ55xzjn+b7+/nV7/6VcAxLr30UjM9Pd3/fPny5SZg3n777QHtrr32WhMwH3zwQf+2J554wgTMzZs379O3I3kfHsrf2+DBg81BgwYFvP7dd981AXP+/Pn7PYevL7fddtsB+7L3Ne15/U29XxYvXmwC5j/+8Q//tpZ6f4pI26JphCIS1hISEg5YldC3IP+DDz447GISdrud6667rtntf/nLXwZMN7r88svp2LEjn3zyyWGdv7k++eQTrFYrt956a8D23/72t5imyaeffhqwffjw4f6RI4B+/fqRlJTETz/9dNDzZGdnc9VVV/m3RUVFceutt1JdXc2CBQuO6DqsVitXXnklb775JuAtjJGbm+sf2dtTaWkp8+bN48orr6Sqqori4mKKi4spKSlhxIgRbNy4ke3btwPe98KaNWvYuHFjk+eNjY0lOjqaL7/8krKysv32b8/RSd85zzjjDGpra1m/fj0Ay5Yto6SkhBtvvDFgDeHYsWNJTU0NON6//vUvevXqxbHHHuvvf3FxMWeffTYA8+fPb86Pbb9WrlzJxo0bufrqqykpKfEfv6amhmHDhrFw4cJ9/jZuuummgOdnnHEGJSUlVFZWAvin+d18880B7W655ZZD7t/hvg99mvP39stf/pIlS5bw448/+rf53ldnnnnmfo/tu96mpg82157vF5fLRUlJCUcffTQpKSmsWLHCv6+l3p8i0rYobIlIWKuurj7gB6Ff/OIXnHbaadxwww1kZWUxZswY3n777UMKXp06dTqkYhg9evQIeG4YBkcffXTQ11Vs3bqVnJycfX4evXr18u/fU1PTolJTUw/6QW7r1q306NEDiyXwfyH7O8/huPrqq1m7di2rVq3ijTfeYMyYMU3eP23Tpk2YpskDDzxAhw4dAh6+CohFRUWAt6pleXk5xxxzDH379uWuu+5i9erV/mPZ7XYee+wxPv30U7KyshgyZAiPP/44BQUFAedcs2YNl156KcnJySQlJdGhQweuueYaACoqKgJ+BkcffXTAa2022z7TvTZu3MiaNWv26f8xxxwT0P/D5fvwPn78+H3O8fe//x2Hw+Hvt8/e7w1fQPS9N7Zu3YrFYqFbt24B7fa+3uY43PehT3P+3n7xi19gt9uZNWsW4P09ffzxx4wdO/aA9+VLSkoCOKLbTNTV1TF58mT/OsqMjAw6dOhAeXl5wM+9pd6fItK2aM2WiIStn3/+mYqKigN+wIuNjWXhwoXMnz+f//znP8yePZu33nqLs88+m88//xyr1XrQ8xzKOqvm2t8HPLfb3aw+tYT9ncfcq5hGKAwaNIju3btz++23s3nzZq6++uom2/lC8+9+97v9Fs/wvT+GDBnCjz/+yAcffMDnn3/O3//+d5555hleeOEFbrjhBsBbXe7CCy/k/fff57PPPuOBBx5g6tSpzJs3jxNOOIHy8nLOPPNMkpKSmDJlCt27dycmJoYVK1Zwzz33HNboqcfjoW/fvjz99NNN7s/NzT3kY+59fIAnnnhiv7c22Ps+Xa353miNc6WmpnLBBRcwa9YsJk+ezDvvvIPD4fCH5P05+uijsdlsfPfdd4d97ltuuYVXXnmF22+/ncGDB5OcnIxhGIwZMybg/dIS708RaXsUtkQkbL322msA+/2Q7WOxWBg2bBjDhg3j6aef5k9/+hP33Xcf8+fPZ/jw4Qf8l+3Dsfc0INM02bRpU8D9wFJTU5u8yevWrVs56qij/M8PpW9dunThiy++oKqqKmB0yze1rUuXLs0+1sHOs3r1ajweT8DoVkuf56qrruLRRx+lV69e+w0Jvp9VVFTUfm+GvKe0tDSuu+46rrvuOqqrqxkyZAgPPfSQ/8MsQPfu3fntb3/Lb3/7WzZu3Ej//v156qmneP311/nyyy8pKSnh3XffZciQIf7XbN68OeA8vp/Bpk2bOOuss/zbGxoa2LJlS8B7oXv37qxatYphw4a1+HvRd3zwjtI052fUHF26dMHj8bB58+aAkaVNmzbt0zYY17Sn5vy9gXcq4cUXX8zSpUuZNWsWJ5xwAn369DngsePi4jj77LOZN28e27ZtO6zg+8477zB+/Hieeuop/7b6+vom//6P9P0pIm2PphGKSFiaN28ejzzyCN26dWPs2LH7bVdaWrrPNt8Hd19Z7fj4eIAmP/wcjn/84x8B047eeecddu7cyciRI/3bunfvzjfffIPT6fRv+/jjj/cpEX8ofTv//PNxu9385S9/Cdj+zDPPYBhGwPmPxPnnn09BQQFvvfWWf1tDQwPPPfccCQkJB1wDcyhuuOEGHnzwwYAPqXvLzMxk6NCh/O1vf2Pnzp377N+z3HdJSUnAvoSEBI4++mj/+6C2tnafEuDdu3cnMTHR38Y3CrPnqIvT6eSvf/1rwOsGDhxIeno6L730Eg0NDf7ts2bN2md63JVXXsn27dt56aWX9ul/XV0dNTU1+73+5hgwYADdu3fnySefpLq6ep/9TZVEPxjfP3Dsfd3PPffcPm1b+u9rb835ewPv/foyMjJ47LHHWLBgwUFHtXwefPBBTNNk3LhxTf78li9fHnDbg71ZrdZ9Rumee+65fW4V0BLvTxFpezSyJSJt3qeffsr69etpaGigsLCQefPmMWfOHLp06cKHH36437LN4F0HsXDhQkaNGkWXLl0oKirir3/9K507d+b0008HvB9YUlJSeOGFF0hMTCQ+Pp5Bgwbtsx6ludLS0jj99NO57rrrKCwsZNq0aRx99NEB5elvuOEG3nnnHc477zyuvPJKfvzxR15//fWAQgGH2rcLL7yQs846i/vuu48tW7Zw/PHH8/nnn/PBBx9w++2373PswzVhwgT+9re/ce2117J8+XK6du3KO++8w6JFi5g2bdoRFRPYU5cuXfz3azqQGTNmcPrpp9O3b19uvPFGjjrqKAoLC1m8eDE///wzq1atAqB3794MHTqUAQMGkJaWxrJly3jnnXf85cA3bNjAsGHDuPLKK+nduzc2m4333nuPwsJCxowZA3jL7qempjJ+/HhuvfVWDMPgtdde2+fDdHR0NA899BC33HILZ599NldeeSVbtmxh5syZdO/ePWC0Z9y4cbz99tvcdNNNzJ8/n9NOOw2328369et5++23+eyzzwJu6t0Ul8vFo48+us/2tLQ0br75Zv7+978zcuRI+vTpw3XXXUenTp3Yvn078+fPJykpiY8++uigP+c9DRgwgNGjRzNt2jRKSkr8pd83bNgABI5mDRgwAID77ruPMWPGEBUVxYUXXugPYUeqOX9v4B39HDNmDH/5y1+wWq0BBV4O5NRTT2XGjBncfPPNHHvssYwbN44ePXpQVVXFl19+yYcfftjkz97nggsu4LXXXiM5OZnevXuzePFivvjii33K2rfE+1NE2qAQVUEUETkoX5lv3yM6OtrMzs42zznnHPPZZ58NKPfss3fp97lz55oXX3yxmZOTY0ZHR5s5OTnmVVddZW7YsCHgdR988IHZu3dv02azBZRaP/PMM80+ffo02b/9lX5/8803zXvvvdfMzMw0Y2NjzVGjRplbt27d5/VPPfWU2alTJ9Nut5unnXaauWzZsn2OeaC+7V363TRNs6qqyrzjjjvMnJwcMyoqyuzRo4f5xBNPBJT8Nk1veeqJEyfu06f9laTfW2FhoXndddeZGRkZZnR0tNm3b98my9MfTun3A9nf7QB+/PFH85e//KWZnZ1tRkVFmZ06dTIvuOAC85133vG3efTRR82TTz7ZTElJMWNjY81jjz3W/OMf/2g6nU7TNE2zuLjYnDhxonnsscea8fHxZnJysjlo0CDz7bffDjjXokWLzFNOOcWMjY01c3JyzLvvvtv87LPPmiwjPn36dLNLly6m3W43Tz75ZHPRokXmgAEDzPPOOy+gndPpNB977DGzT58+pt1uN1NTU80BAwaYDz/8sFlRUXHAn8n48eMD/k72fHTv3t3f7n//+5952WWXmenp6abdbje7dOliXnnllebcuXP9bXx/P3vfKsH3c9+zfHtNTY05ceJEMy0tzUxISDAvueQS84cffjAB889//nPA6x955BGzU6dOpsViCTjOkbwPD/XvzTRN89tvvzUB89xzzz3gsZuyfPly8+qrr/b/baWmpprDhg0zX331VdPtdvvbsVfp97KyMv/fSkJCgjlixAhz/fr1+1xjS70/RaRtMUyzDayEFhERaQc8Hg8dOnTgsssua3LaYLhbuXIlJ5xwAq+//voBp/eGyqpVq+jfvz//+Mc/GDduXKi7IyLtgNZsiYiIBEF9ff0+0wv/8Y9/UFpaytChQ0PTqRZUV1e3z7Zp06ZhsVgCioe0JS+99BIJCQlcdtlloe6KiLQTWrMlIiISBN988w133HEHV1xxBenp6axYsYL/+7//47jjjuOKK64IdfeO2OOPP87y5cs566yzsNlsfPrpp3z66adMmDDhiMvVt7SPPvqItWvX8uKLLzJp0qQWWy8mInIwmkYoIiISBFu2bOHWW2/l22+/pbS0lLS0NM4//3z+/Oc/k5mZGeruHbE5c+bw8MMPs3btWqqrq8nLy2PcuHHcd9992Gxt699yu3btSmFhISNGjOC1115rsSIuIiIHo7AlIiIiIiISBFqzJSIiIiIiEgQKWyIiIiIiIkHQtiZVt1Eej4cdO3aQmJgYcKNGERERERFpX0zTpKqqipycHCyWA49dKWw1w44dO9pcZSUREREREQmdbdu20blz5wO2UdhqBl/Vom3btpGUlBTi3oiIiIiISKhUVlaSm5vbrMqmClvN4Js6mJSUpLAlIiIiIiLNWl6kAhkiIiIiIiJBoLAlIiIiIiISBApbIiIiIiIiQaA1WyIiIiIiYco0TRoaGnC73aHuSkSJiorCarUe8XEUtkREREREwpDT6WTnzp3U1taGuisRxzAMOnfuTEJCwhEdR2FLRERERCTMeDweNm/ejNVqJScnh+jo6GZVx5ODM02TXbt28fPPP9OjR48jGuFS2BIRERERCTNOpxOPx0Nubi5xcXGh7k7E6dChA1u2bMHlch1R2FKBDBERERGRMGWx6ON8MLTUKKF+OyIiIiIiIkGgsCUiIiIiIhIEClsiIiIiItIsQ4cO5fbbb29W2y+//BLDMCgvLz+ic3bt2pVp06Yd0TFCRWFLREREREQkCBS2REREREREgkBhS0REREREDtlrr73GwIEDSUxMJDs7m6uvvpqioqJ92i1atIh+/foRExPDKaecwvfffx+w/7///S9nnHEGsbGx5Obmcuutt1JTU9NalxFUClsiIiIiInLIXC4XjzzyCKtWreL9999ny5YtXHvttfu0u+uuu3jqqadYunQpHTp04MILL8TlcgHw448/ct555zF69GhWr17NW2+9xX//+18mTZrUylcTHLqpsYiIiIiIHLJf/epX/u+POuoopk+fzkknnUR1dTUJCQn+fQ8++CDnnHMOAK+++iqdO3fmvffe48orr2Tq1KmMHTvWX3SjR48eTJ8+nTPPPJPnn3+emJiYVr2mlqaRLREREREROWTLly/nwgsvJC8vj8TERM4880wA8vPzA9oNHjzY/31aWho9e/Zk3bp1AKxatYqZM2eSkJDgf4wYMQKPx8PmzZtb72KCRCNbIiIiIiJySGpqahgxYgQjRoxg1qxZdOjQgfz8fEaMGIHT6Wz2caqrq/n1r3/Nrbfeus++vLy8luxySChstTP5+fkUFxcf8usyMjIi4g0vIiIiIkdu/fr1lJSU8Oc//5nc3FwAli1b1mTbb775xv85sqysjA0bNtCrVy8ATjzxRNauXcvRRx/dOh1vZQpb7Uh+fj7H9upFXW3tIb82Ni6O9evWKXCJiIiICHl5eURHR/Pcc89x00038f333/PII4802XbKlCmkp6eTlZXFfffdR0ZGBpdccgkA99xzD6eccgqTJk3ihhtuID4+nrVr1zJnzhz+8pe/tOIVBYfCVjtSXFxMXW0tY+95gqy87s1+XWH+j8x67C6Ki4sVtkRERESEDh06MHPmTP7whz8wffp0TjzxRJ588kkuuuiifdr++c9/5rbbbmPjxo3079+fjz76iOjoaAD69evHggULuO+++zjjjDMwTZPu3bvzi1/8orUvKSgUttqhrLzudO7RJ9TdEBEREZEw8+WXX/q/v+qqq7jqqqsC9pum6f9+6NCh/ucXXHDBfo950kkn8fnnn+93/5YtWw6vs22AqhGKiIiIiIgEgcKWiIiIiIhIEChsiYiIiIiIBIHCloiIiIiISBAobImIiIiIiASBwpaIiIiIiEgQKGyJiIiIiIgEgcKWiIiIiIhIEIT0psYLFy7kiSeeYPny5ezcuZP33nuPSy65pMm2N910E3/729945plnuP322/3bS0tLueWWW/joo4+wWCyMHj2aZ599loSEBH+b1atXM3HiRJYuXUqHDh245ZZbuPvuu4N8dSIiIiIirS8/P5/i4uJWO19GRgZ5eXmtdr5wEtKwVVNTw/HHH8+vfvUrLrvssv22e++99/jmm2/IycnZZ9/YsWPZuXMnc+bMweVycd111zFhwgTeeOMNACorKzn33HMZPnw4L7zwAt999x2/+tWvSElJYcKECUG7NhERERGR1pafn8+xvXpRV1vbaueMjYtj/bp1zQ5cQ4cOpX///kybNi24HWsDQhq2Ro4cyciRIw/YZvv27dxyyy189tlnjBo1KmDfunXrmD17NkuXLmXgwIEAPPfcc5x//vk8+eST5OTkMGvWLJxOJy+//DLR0dH06dOHlStX8vTTTytsiYiIiEhEKS4upq62lrH3PEFWXvegn68w/0dmPXYXxcXFGt1qQkjD1sF4PB7GjRvHXXfdRZ8+ffbZv3jxYlJSUvxBC2D48OFYLBaWLFnCpZdeyuLFixkyZAjR0dH+NiNGjOCxxx6jrKyM1NTUfY7rcDhwOBz+55WVlS18ZSIiIiIiwZOV153OPfb9/Cytq00XyHjsscew2WzceuutTe4vKCggMzMzYJvNZiMtLY2CggJ/m6ysrIA2vue+NnubOnUqycnJ/kdubu6RXoqIiIiIiDTyeDzcfffdpKWlkZ2dzUMPPeTf9/TTT9O3b1/i4+PJzc3l5ptvprq62r9/5syZpKSk8PHHH9OzZ0/i4uK4/PLLqa2t5dVXX6Vr166kpqZy66234na7Q3B1u7XZsLV8+XKeffZZZs6ciWEYrXrue++9l4qKCv9j27ZtrXp+EREREZFI9uqrrxIfH8+SJUt4/PHHmTJlCnPmzAHAYrEwffp01qxZw6uvvsq8efP2KW5XW1vL9OnT+ec//8ns2bP58ssvufTSS/nkk0/45JNPeO211/jb3/7GO++8E4rL82uz0wi/+uorioqKAuZ+ut1ufvvb3zJt2jS2bNlCdnY2RUVFAa9raGigtLSU7OxsALKzsyksLAxo43vua7M3u92O3W5vycsREREREZFG/fr148EHHwSgR48e/OUvf2Hu3Lmcc845AZXHu3btyqOPPspNN93EX//6V/92l8vF888/T/fu3nVpl19+Oa+99hqFhYUkJCTQu3dvzjrrLObPn88vfvGLVr22PbXZka1x48axevVqVq5c6X/k5ORw11138dlnnwEwePBgysvLWb58uf918+bNw+PxMGjQIH+bhQsX4nK5/G3mzJlDz549m1yvJSIiIiIiwdWvX7+A5x07dvQPonzxxRcMGzaMTp06kZiYyLhx4ygpKaF2jwqLcXFx/qAF3mVCXbt2Dbj9U1ZW1j4DM60tpGGrurraH6QANm/ezMqVK8nPzyc9PZ3jjjsu4BEVFUV2djY9e/YEoFevXpx33nnceOONfPvttyxatIhJkyYxZswYf5n4q6++mujoaK6//nrWrFnDW2+9xbPPPsudd94ZqssWEREREWnXoqKiAp4bhoHH42HLli1ccMEF9OvXj3//+98sX76cGTNmAOB0Og/4+v0dM5RCOo1w2bJlnHXWWf7nvgA0fvx4Zs6c2axjzJo1i0mTJjFs2DD/TY2nT5/u35+cnMznn3/OxIkTGTBgABkZGUyePFll30VERERE2pjly5fj8Xh46qmnsFi840Jvv/12iHt1+EIatoYOHYppms1uv2XLln22paWl+W9gvD/9+vXjq6++OtTuiYiIiIiEpcL8H8PyPEcffTQul4vnnnuOCy+8kEWLFvHCCy+06DlaU5stkCEiIiIiIocmIyOD2Lg4Zj12V6udMzYujoyMjBY51vHHH8/TTz/NY489xr333suQIUOYOnUqv/zlL1vk+K3NMA9laKmdqqysJDk5mYqKCpKSkkLdncO2YsUKBgwYwJ0z3j2km9z9vHENT0+8jOXLl3PiiScGsYciIiIi0hz19fVs3ryZbt26ERMTE7AvPz+f4uLiVutLRkZGQAXxSHCgn++hZAONbImIiIiIRJC8vLyICz/hqs2WfhcREREREQlnClsiIiIiIiJBoLAlIiIiIiISBApbIiIiIiIiQaCwJSIiIiIiEgQKWyIiIiIiIkGgsCUiIiIiIhIEus+WiIiIiEgE0U2N2w6FLRERERGRCJGfn0+vXsdSW1vXaueMi4tl3br1ClxNUNgSEREREYkQxcXF1NbW8fofrqRXXoegn29d/i6u+dPbFBcXK2w1QWFLRERERCTC9MrrwInHdAp1N9o9FcgQEREREZFW884779C3b19iY2NJT09n+PDh1NTUcO2113LJJZfw8MMP06FDB5KSkrjppptwOp3+186ePZvTTz+dlJQU0tPTueCCC/jxxx/9+7ds2YJhGLz99tucccYZxMbGctJJJ7FhwwaWLl3KwIEDSUhIYOTIkezatSvo16qwJSIiIiIirWLnzp1cddVV/OpXv2LdunV8+eWXXHbZZZimCcDcuXP92998803effddHn74Yf/ra2pquPPOO1m2bBlz587FYrFw6aWX4vF4As7z4IMPcv/997NixQpsNhtXX301d999N88++yxfffUVmzZtYvLkyUG/Xk0jFBERERGRVrFz504aGhq47LLL6NKlCwB9+/b174+Ojubll18mLi6OPn36MGXKFO666y4eeeQRLBYLo0ePDjjeyy+/TIcOHVi7di3HHXecf/vvfvc7RowYAcBtt93GVVddxdy5cznttNMAuP7665k5c2aQr1YjWyIiIiIi0kqOP/54hg0bRt++fbniiit46aWXKCsrC9gfFxfnfz548GCqq6vZtm0bABs3buSqq67iqKOOIikpia5duwLeKox76tevn//7rKwsIDDUZWVlUVRU1OLXtzeFLRERERERaRVWq5U5c+bw6aef0rt3b5577jl69uzJ5s2bm/X6Cy+8kNLSUl566SWWLFnCkiVLAALWdQFERUX5vzcMo8lte089DAaFLRERERERaTWGYXDaaafx8MMP87///Y/o6Gjee+89AFatWkVd3e57hH3zzTckJCSQm5tLSUkJP/zwA/fffz/Dhg2jV69eAaNibZHWbImIiIiIRJh1+cGvtHc451myZAlz587l3HPPJTMzkyVLlrBr1y569erF6tWrcTqdXH/99dx///1s2bKFBx98kEmTJmGxWEhNTSU9PZ0XX3yRjh07kp+fz+9///sgXVnLUNgSEREREYkQGRkZxMXFcs2f3m61c8bFxZKRkdGstklJSSxcuJBp06ZRWVlJly5deOqppxg5ciRvvfUWw4YNo0ePHgwZMgSHw8FVV13FQw89BIDFYuGf//wnt956K8cddxw9e/Zk+vTpDB06NHgXd4QUtkREREREIkReXh7r1q2nuLi41c6ZkZFBXl5es9r26tWL2bNnH7DNww8/HFDufU/Dhw9n7dq1Adt8ZeMBunbtGvAcYOjQoftsu/baa7n22mub1ecjobAlIiIiIhJB8vLymh1+JLhUIENERERERCQINLIlIiIiIiIh1xo3GW5tGtkSEREREREJAoUtEREREZEwtXfhB2kZLfVzVdgSEREREQkzUVFRANTW1oa4J5HJ6XQCYLVaj+g4WrMlIiIiIhJmrFYrKSkpFBUVARAXF4dhGCHuVWTweDzs2rWLuLg4bLYji0sKWyIiIiIiYSg7OxvAH7ik5VgsFvLy8o44wCpsiYiIiIiEIcMw6NixI5mZmbhcrlB3J6JER0djsRz5iiuFLRERERGRMGa1Wo94bZEEhwpkiIiIiIiIBIHCloiIiIiISBAobImIiIiIiASBwpaIiIiIiEgQKGyJiIiIiIgEgcKWiIiIiIhIEChsiYiIiIiIBIHCloiIiIiISBAobImIiIiIiASBwpaIiIiIiEgQKGyJiIiIiIgEgcKWiIiIiIhIEChsiYiIiIiIBIHCloiIiIiISBAobImIiIiIiASBwpaIiIiIiEgQKGyJiIiIiIgEQUjD1sKFC7nwwgvJycnBMAzef/99/z6Xy8U999xD3759iY+PJycnh1/+8pfs2LEj4BilpaWMHTuWpKQkUlJSuP7666murg5os3r1as444wxiYmLIzc3l8ccfb43LExERERGRdiykYaumpobjjz+eGTNm7LOvtraWFStW8MADD7BixQreffddfvjhBy666KKAdmPHjmXNmjXMmTOHjz/+mIULFzJhwgT//srKSs4991y6dOnC8uXLeeKJJ3jooYd48cUXg359IiIiIiLSftlCefKRI0cycuTIJvclJyczZ86cgG1/+ctfOPnkk8nPzycvL49169Yxe/Zsli5dysCBAwF47rnnOP/883nyySfJyclh1qxZOJ1OXn75ZaKjo+nTpw8rV67k6aefDghle3I4HDgcDv/zysrKFrpiERERERFpL8JqzVZFRQWGYZCSkgLA4sWLSUlJ8QctgOHDh2OxWFiyZIm/zZAhQ4iOjva3GTFiBD/88ANlZWVNnmfq1KkkJyf7H7m5ucG7KBERERERiUhhE7bq6+u55557uOqqq0hKSgKgoKCAzMzMgHY2m420tDQKCgr8bbKysgLa+J772uzt3nvvpaKiwv/Ytm1bS1+OiIiIiIhEuJBOI2wul8vFlVdeiWmaPP/880E/n91ux263B/08IiIiIiISudp82PIFra1btzJv3jz/qBZAdnY2RUVFAe0bGhooLS0lOzvb36awsDCgje+5r43sy+MxsViMUHdDRERERCRstelphL6gtXHjRr744gvS09MD9g8ePJjy8nKWL1/u3zZv3jw8Hg+DBg3yt1m4cCEul8vfZs6cOfTs2ZPU1NTWuZAws2pbOX9d8CMbC6tC3RURERERkbAV0rBVXV3NypUrWblyJQCbN29m5cqV5Ofn43K5uPzyy1m2bBmzZs3C7XZTUFBAQUEBTqcTgF69enHeeedx44038u2337Jo0SImTZrEmDFjyMnJAeDqq68mOjqa66+/njVr1vDWW2/x7LPPcuedd4bqstu8DYVVuD0mc9cXUeNoCHV3RERERETCUkinES5btoyzzjrL/9wXgMaPH89DDz3Ehx9+CED//v0DXjd//nyGDh0KwKxZs5g0aRLDhg3DYrEwevRopk+f7m+bnJzM559/zsSJExkwYAAZGRlMnjx5v2Xf2zuPabKr2lv23tHgYd76IvrHhrhTIiIiIiJhKKRha+jQoZimud/9B9rnk5aWxhtvvHHANv369eOrr7465P61R+W1LlxuE6vFwDRNfiquISO9Tc82FRERERFpk/QpWgIUVdYDkJlo5+RuaQCsLLNiiUsJYa9ERERERMKPwpYEKKzyTiHMTLQzsEsaHRLsOD0Gaef8OsQ9ExEREREJLwpbEqCoqnFkKykGq8XgnN7eG0DHH3sGdS5PKLsmIiIiIhJWFLbEzzRNdu0xsgXQIdGO3eJdO7ejyh2yvomIiIiIhBuFLfErayyOYbMYpMVF+7cnRnnD1rZK1/5eKiIiIiIie1HYEj/fFMIOiXYsFsO/PakxbP1cqXtuiYiIiIg0l8KW+BVVBk4h9ElU2BIREREROWQKW+JX5F+vFROw3T+yVaWwJSIiIiLSXApbAuxVHCNpr5EtmzdsFVS7cTSoSIaIiIiISHMobAkA5bUunG7PPsUxAGKs4HHU4DFhS3FtiHooIiIiIhJeFLYEgMLG4hgZCYHFMQAMA1zF2wDYWFTV6n0TEREREQlHClsC7LFea68phD6uEm/Y2lRU3Wp9EhEREREJZwpbAuy/EqGPqyQfUNgSEREREWkuhS0JLI6xVyVCH980QoUtEREREZHmUdgSKuq8xTGsFoP0+Ogm2/imEf5UXEOD29Oa3RMRERERCUsKW0KNw1vOPdFu26c4hk9D5S6ireBs8LCtrK41uyciIiIiEpYUtoRal/dmxbHR1v03Mj10SrQBmkooIiIiItIcCltCndM7shV3oLAFdE7yhi2VfxcREREROTiFLfGHrdio5oUtjWyJiIiIiBycwpZQ52oMW80c2VLYEhERERE5OIUtobaZI1u5jWHrx6JqTNMMer9ERERERMKZwpb4R7biom0HbJedYMNmMahxutlZUd8aXRMRERERCVsKW7J7zdZBphHaLAZdM+IB2KiphCIiIiIiB6SwJc2eRghwdIcEQOu2REREREQORmGrnTNNk3pX80q/AxzVwTuytaW4Jqj9EhEREREJdwpb7Vy9y4Ov1EVMM0a2clJiAdhZURfEXomIiIiIhD+FrXau1tkAgN1mwWoxDtq+U2PY2lGuAhkiIiIiIgeisNXONfceWz4dU2IA2KGRLRERERGRA1LYaud8lQjjmjGFEHZPIyyvdflHxUREREREZF8KW+1c7SGObCXFRJFg996PS1MJRURERET2T2GrnWvuPbb2lOObSliuqYQiIiIiIvujsNXO7Z5GaGv2azomqyKhiIiIiMjBKGy1c4daIAN2r9varmmEIiIiIiL7pbDVztX6phE2s0AGQKfGaYQ7NY1QRERERGS/FLbaOd/IVtwhjGz5phGq/LuIiIiIyP4pbLVzh1cgo3HNlqYRioiIiIjsl8JWO+Yxzd1rtg5hGqGvGuH28jpM0wxK30REREREwp3CVjtW3xi04NDCVnayN2w5GjyU1jhbvF8iIiIiIpFAYasd800hjLFZsFiMZr/ObrPSIdEOwM4KTSUUEREREWmKwlY7djhl331ykndPJRQRERERkX0pbLVjtYdRHMNnd5EMhS0RERERkaYobLVjvmmEcVG2Q37t7vLvmkYoIiIiItIUha12rPZIphE2ViTcoZEtEREREZEmKWy1Y4dzjy0f3zRChS0RERERkaYpbLVju6cRHknY0jRCEREREZGmKGy1Y0dUjbBxGmFRVT0ut6dF+yUiIiIiEgkUttqxWmcDcGg3NPbJiLcTZTXwmFBYqdEtEREREZG9KWy1Y0cysmWxGP6KhLqxsYiIiIjIvhS22imPx6Te5Z3+F3cYYQugY7IqEoqIiIiI7E9Iw9bChQu58MILycnJwTAM3n///YD9pmkyefJkOnbsSGxsLMOHD2fjxo0BbUpLSxk7dixJSUmkpKRw/fXXU11dHdBm9erVnHHGGcTExJCbm8vjjz8e7Etr83yjWgAxhzGNEKCTimSIiIiIiOxXSMNWTU0Nxx9/PDNmzGhy/+OPP8706dN54YUXWLJkCfHx8YwYMYL6+t0f7seOHcuaNWuYM2cOH3/8MQsXLmTChAn+/ZWVlZx77rl06dKF5cuX88QTT/DQQw/x4osvBv362jL/FMIoKxbDOKxjqPy7iIiIiMj+2UJ58pEjRzJy5Mgm95mmybRp07j//vu5+OKLAfjHP/5BVlYW77//PmPGjGHdunXMnj2bpUuXMnDgQACee+45zj//fJ588klycnKYNWsWTqeTl19+mejoaPr06cPKlSt5+umnA0JZe+O/x9ZhjmoBdGysSLizQmFLRERERGRvbXbN1ubNmykoKGD48OH+bcnJyQwaNIjFixcDsHjxYlJSUvxBC2D48OFYLBaWLFnibzNkyBCio6P9bUaMGMEPP/xAWVlZk+d2OBxUVlYGPCLNkRTH8PGNbG3XNEIRERERkX202bBVUFAAQFZWVsD2rKws/76CggIyMzMD9ttsNtLS0gLaNHWMPc+xt6lTp5KcnOx/5ObmHvkFtTG1zhYIW8maRigiIiIisj9tNmyF0r333ktFRYX/sW3btlB3qcX5phHGHcE0Qt+NjSvqXNQ4GlqkXyIiIiIikaLNhq3s7GwACgsLA7YXFhb692VnZ1NUVBSwv6GhgdLS0oA2TR1jz3PszW63k5SUFPCINLWuxhsaH8HIVmJMFAl277K/At3YWEREREQkQJsNW926dSM7O5u5c+f6t1VWVrJkyRIGDx4MwODBgykvL2f58uX+NvPmzcPj8TBo0CB/m4ULF+Jyufxt5syZQ8+ePUlNTW2lq2l76lpgGiFAduO9tgp0Y2MRERERkQAhrUZYXV3Npk2b/M83b97MypUrSUtLIy8vj9tvv51HH32UHj160K1bNx544AFycnK45JJLAOjVqxfnnXceN954Iy+88AIul4tJkyYxZswYcnJyALj66qt5+OGHuf7667nnnnv4/vvvefbZZ3nmmWdCcclthqPxhsYxtuaHrXXr1u2zLc5wAvDN6vXEVsbtsz8jI4O8vLzD7KWIiIiISPgKadhatmwZZ511lv/5nXfeCcD48eOZOXMmd999NzU1NUyYMIHy8nJOP/10Zs+eTUxMjP81s2bNYtKkSQwbNgyLxcLo0aOZPn26f39ycjKff/45EydOZMCAAWRkZDB58uR2XfYdwOH2hi277eCDm5WluwC45ppr9tmXfv5tJPQ9hylPTOd33/xrn/2xcXGsX7dOgUtERERE2h3DNE0z1J1o6yorK0lOTqaioiKs12+tWLGCAQMGcOeMd/liVzwVdS6uGNDZX8J9f5bP/ZBZj93FqF/fR89+AwL2rSm3sr7SylEJbk5IcwfsK8z/kVmP3cXy5cs58cQTW/x6RERERERa26Fkg5CObEnoOBq8wag5I1s+6Tld6NyjT8C20p/LWV+5C2KS6Nwjp0X7KCIiIiISztpsgQwJHtMEZ4N3GmH0IYStpviqEVar9LuIiIiISACFrXbIbYKncfKo/RAKZDQlIUZhS0RERESkKQpb7ZCrMWgZQJTVOKJj+Ua2ap1u3B4t/xMRERER8VHYaocaq74TbbNgGEcWtmKjrFgbj1Hj1OiWiIiIiIiPwlY71ODxhqMjXa8FYBgG8XbvVMTqeoUtEREREREfha12yDeydSiVCA/EN5WwRuu2RERERET8FLbaId+arZYY2YLdYatKYUtERERExE9hqx1yNU4jPNJKhD6+ioQa2RIRERER2U1hqx3as0BGS4j33WtLa7ZERERERPwUttoh/8iWtWWnEepeWyIiIiIiuylstUMtPbKlsCUiIiIisi+FrXaoobFARstXI3RjmrqxsYiIiIgIKGy1S84WvM8W7F6z5TZN6lzuFjmmiIiIiEi4U9hqhxr899lqmWqEVotBXHTjjY01lVBEREREBFDYapdaes0W7LFuSxUJRUREREQAha12yWX67rMVhLClkS0REREREUBhq10K6siWwpaIiIiICKCw1S65/Gu2Wu7XHx+jsCUiIiIisieFrXbGsNkxadlqhACJGtkSEREREQmgsNXOWOxx/u+jrS04suW711a9Sr+LiIiIiIDCVrtj2OMB76iWYRgtdlyNbImIiIiIBFLYamd8I1stuV4Ldo9sOd0eHA0a3RIRERERUdhqZyx7jGy1pGibxX/MGofCloiIiIiIwlY74x/ZasH1Wj4q/y4iIiIispvCVjsTrJEt2CNs1StsiYiIiIgobLUzvgIZdpu1xY+tkS0RERERkd0UttoZ3zTCoI5sKWyJiIiIiChstTcW/8hWEMJWjDdsVdW7WvzYIiIiIiLhRmGrnQnmyJbutSUiIiIispvCVjsTzJGtRP/IlsKWiIiIiIjCVjuz+6bGQSiQ0Ri2HA0enA2eFj++iIiIiEg4UdhqZ4wgln6326xEN96/S1MJRURERKS9U9hqZ3aPbAXnV5+oIhkiIiIiIoDCVrsTzJsaw54VCTWyJSIiIiLtm8JWO2KaZuuNbGkaoYiIiIi0cwpb7YjTDYY1CgjeyFai3Xv8ao1siYiIiEg7p7DVjtS6fBUCTX8hi5amNVsiIiIiIl4KW+1IrcsEIMoAwzCCcg5NIxQRERER8VLYakd8I1tRQfytJ9i9Yau6vgHTDN55RERERETaOoWtdqSmcWTLZgleCvJVI2zwmDh1X2MRERERaccUttqR1hjZslksxEVbAahzB2eqooiIiIhIOFDYakf2XLMVTL6phLVatiUiIiIi7ZjCVjuye2QruIupfEUyajWyJSIiIiLtmMJWO+If2Qrybz0xxnuvrboGhS0RERERab8UttqRmlZYswWQ2DiNsM4d3POIiIiIiLRlClvtyO41W8GdRpigaYQiIiIiIgpb7YlvzZYt6NMIG0e2NI1QRERERNqxw/rYfdRRR1FSUrLP9vLyco466qgj7pQER6ut2bI3rtlyA4byvIiIiIi0T4f1SXjLli243fsuyHE4HGzfvv2IOyXBUdNK1Qjj7FYsBpgYWBNSg3ouEREREZG26pDC1ocffsiHH34IwGeffeZ//uGHH/Lee+/xyCOP0LVr1xbrnNvt5oEHHqBbt27ExsbSvXt3HnnkEUxzd1gwTZPJkyfTsWNHYmNjGT58OBs3bgw4TmlpKWPHjiUpKYmUlBSuv/56qqurW6yf4aK17rNlMQziG4tkWBM7BPdkIiIiIiJtlO1QGl9yySUAGIbB+PHjA/ZFRUXRtWtXnnrqqRbr3GOPPcbzzz/Pq6++Sp8+fVi2bBnXXXcdycnJ3HrrrQA8/vjjTJ8+nVdffZVu3brxwAMPMGLECNauXUtMTAwAY8eOZefOncyZMweXy8V1113HhAkTeOONN1qsr+GgtaYRgrciYVV9A7akjOCfTERERESkDTqksOXxeKehdevWjaVLl5KREdwP0l9//TUXX3wxo0aNAqBr1668+eabfPvtt4B3VGvatGncf//9XHzxxQD84x//ICsri/fff58xY8awbt06Zs+ezdKlSxk4cCAAzz33HOeffz5PPvkkOTk5Qb2GtsI0zVa7qTE0ViSsAFuSRrZEREREpH06rDGOzZs3Bz1oAZx66qnMnTuXDRs2ALBq1Sr++9//MnLkSH8/CgoKGD58uP81ycnJDBo0iMWLFwOwePFiUlJS/EELYPjw4VgsFpYsWdLkeR0OB5WVlQGPcOdo8NDgzVqtM7LVeGNjTSMUERERkfbqkEa29jR37lzmzp1LUVGRf8TL5+WXXz7ijgH8/ve/p7KykmOPPRar1Yrb7eaPf/wjY8eOBaCgoACArKysgNdlZWX59xUUFJCZmRmw32azkZaW5m+zt6lTp/Lwww+3yDW0FZX1LgBM04OtFSqy+25sbEvUNEIRERERaZ8Oa4zj4Ycf5txzz2Xu3LkUFxdTVlYW8Ggpb7/9NrNmzeKNN95gxYoVvPrqqzz55JO8+uqrLXaOptx7771UVFT4H9u2bQvq+VpDVX0DAKazDqM1wlbjvbasmkYoIiIiIu3UYY1svfDCC8ycOZNx48a1dH8C3HXXXfz+979nzJgxAPTt25etW7cydepUxo8fT3Z2NgCFhYV07NjR/7rCwkL69+8PQHZ2NkVFRQHHbWhooLS01P/6vdntdux2exCuKHR8YcvjqAFSgn4+3zRCFcgQERERkfbqsEa2nE4np556akv3ZR+1tbVYLIFdtFqtAYU6srOzmTt3rn9/ZWUlS5YsYfDgwQAMHjyY8vJyli9f7m8zb948PB4PgwYNCvo1tBXV/rBV1yrnS/CNbMWn4nQHvyCHiIiIiEhbc1hh64YbbmiVsukXXnghf/zjH/nPf/7Dli1beO+993j66ae59NJLAW8J+ttvv51HH32UDz/8kO+++45f/vKX5OTk+MvU9+rVi/POO48bb7yRb7/9lkWLFjFp0iTGjBnTbioRAlQ7vGu2vCNbwRdjs2A1vCGruHbfG2CLiIiIiES6w5pGWF9fz4svvsgXX3xBv379iIqKCtj/9NNPt0jnnnvuOR544AFuvvlmioqKyMnJ4de//jWTJ0/2t7n77rupqalhwoQJlJeXc/rppzN79mz/PbYAZs2axaRJkxg2bBgWi4XRo0czffr0FuljuKh2eAOP6axtlfMZhkGczaTKZVBUo7AlIiIiIu3PYYWt1atX+9dEff/99wH7jBasvpCYmMi0adOYNm3aftsYhsGUKVOYMmXKftukpaW1uxsY7626sRqhx9k60wgB4q1Q5YLCmoZWO6eIiIiISFtxWGFr/vz5Ld0PCbJqh2/NVuuMbAEkRJlQD4XVGtkSERERkfanFW5vK21BlWN36ffWEm/zrtkq0DRCEREREWmHDmtk66yzzjrgdMF58+YddockOGp8I1uttGYLdoetwmpNIxQRERGR9uewwpZvvZaPy+Vi5cqVfP/994wfP74l+iUtrLVLv8MeYavGjWmaLbqeT0RERESkrTussPXMM880uf2hhx6iurr6iDokwVHtn0bYiiNbVu/XWpdJea2L1PjoVju3iIiIiEioteiarWuuuYaXX365JQ8pLSQUBTKsFmioKgEgv7T1zisiIiIi0ha0aNhavHhxwP2tpO3wh61WLJAB0FBeAChsiYiIiEj7c1jTCC+77LKA56ZpsnPnTpYtW8YDDzzQIh2TluVbs2W24sgWNIat3D4KWyIiIiLS7hxW2EpOTg54brFY6NmzJ1OmTOHcc89tkY5Jy6oOQTVCgIaKxpGtEoUtEREREWlfDitsvfLKKy3dDwmy6hDcZwugoWwnoGmEIiIiItL+HFbY8lm+fDnr1q0DoE+fPpxwwgkt0ilpWS63h3qXB2jdAhmwx8iWwpaIiIiItDOHFbaKiooYM2YMX375JSkpKQCUl5dz1lln8c9//pMOHTq0ZB/lCPluaAytXyDD1VggY2dFHc4GD9G2Fq3JIiIiIiLSZh3WJ99bbrmFqqoq1qxZQ2lpKaWlpXz//fdUVlZy6623tnQf5Qj5phBGWwFPw4EbtzBPTTl2q4HHhO3lrRv0RERERERC6bBGtmbPns0XX3xBr169/Nt69+7NjBkzVCCjDfKFrZgQjSplJVjJr2ggv7SWbhnxIemDiIiIiEhrO6xP3x6Ph6ioqH22R0VF4fF4jrhT0rJ8Zd/jooyQnD8r3gpo3ZaIiIiItC+HFbbOPvtsbrvtNnbs2OHftn37du644w6GDRvWYp2TllHVOLIVawtV2PIOoOaX1ITk/CIiIiIioXBYYesvf/kLlZWVdO3ale7du9O9e3e6detGZWUlzz33XEv3UY6Qr0BGbFTophGCRrZEREREpH05rDVbubm5rFixgi+++IL169cD0KtXL4YPH96inZOW4Z9GGKKRrWx/2FKBDBERERFpPw5pqGPevHn07t2byspKDMPgnHPO4ZZbbuGWW27hpJNOok+fPnz11VfB6qscpmr/yFbopxGaphmSPoiIiIiItLZDClvTpk3jxhtvJCkpaZ99ycnJ/PrXv+bpp59usc5Jy/CFrbgQTSPMbCyQUeN0U1rjDEkfRERERERa2yF9+l61ahXnnXfefvefe+65LF++/Ig7JS3LN40wVAUyoq0G2UkxgNZtiYiIiEj7cUhhq7CwsMmS7z42m41du3YdcaekZYV6GiFAXnocoLAlIiIiIu3HIYWtTp068f333+93/+rVq+nYseMRd0palq/0e1yIbmoMkJfWGLZKFLZEREREpH04pE/f559/Pg888AD19fX77Kurq+PBBx/kggsuaLHOScvwlX6PCeXIVppGtkRERESkfTmk0u/3338/7777LscccwyTJk2iZ8+eAKxfv54ZM2bgdru57777gtJROXz+0u8hDFtdGqcR/lSsGxuLiIiISPtwSGErKyuLr7/+mt/85jfce++9/jLehmEwYsQIZsyYQVZWVlA6KofPv2YrhNMIe2QmArCpqBrTNDGM0AU/EREREZHWcMg3Ne7SpQuffPIJZWVlbNq0CdM06dGjB6mpqcHon7SA3aXfQxdwjuoQj8WAijoXu6odZCbGhKwvIiIiIiKt4ZDDlk9qaionnXRSS/ZFgmT3yFbowlZMlJW8tDi2lNSyqbBaYUtEREREIl7o5pVJqzBNc/d9tkJ0U2OfoxunEm4sqg5pP0REREREWoPCVoRzNHho8HjX1oVyGiFAj6wEADYWVYW0HyIiIiIirUFhK8L5phACxIRwGiFAj8zGsFWokS0RERERiXwKWxHON4UwPtqKJcQVAI/J0jRCEREREWk/FLYinG9kKyHmsGuhtJjuHRIwDCitcVJS7Qh1d0REREREgkphK8L5wla8PfRhKzbaSufUWECjWyIiIiIS+RS2IpxvGmFiGwhbsPvmxgpbIiIiIhLpFLYiXFuaRgi7i2RsKlRFQhERERGJbApbEa7KF7bayMjW0b6KhBrZEhEREZEIp7AV4Wra0JotgB6qSCgiIiIi7YTCVoRra2u2fCNbu6oclNc6Q9wbEREREZHgUdiKcG1tzVaC3UZOcgwAmzS6JSIiIiIRTGErwrWl0u8+vqmEGwoVtkREREQkcilsRbi2No0Qdlck3FikioQiIiIiErkUtiJcW5tGCNAjq7H8u6YRioiIiEgEU9iKcP6wZY8KcU92O9p3Y2NNIxQRERGRCKawFeF2r9myhrgnu/kqEhZU1lNZ7wpxb0REREREgkNhK8LtXrPVdka2kmOjyEqyA7CxUOu2RERERCQyKWxFuLa4Zgugd8ckAL7fXhninoiIiIiIBIfCVgTzeExqnG1vGiFA384pAKz+uSK0HRERERERCRKFrQhW63Jjmt7v29I0QoB+nZIB+H67wpaIiIiIRCaFrQjmW69ltRjERLWtX3Xfzt6wtbGoitrG0TcRERERkUjStj6BN2H79u1cc801pKenExsbS9++fVm2bJl/v2maTJ48mY4dOxIbG8vw4cPZuHFjwDFKS0sZO3YsSUlJpKSkcP3111NdHfllx3eXfbdhGEaIexMoKymGzEQ7HhPW7tC6LRERERGJPG06bJWVlXHaaacRFRXFp59+ytq1a3nqqadITU31t3n88ceZPn06L7zwAkuWLCE+Pp4RI0ZQX1/vbzN27FjWrFnDnDlz+Pjjj1m4cCETJkwIxSW1qj3DVlvUr3F0S+u2RERERCQStc1P4Y0ee+wxcnNzeeWVV/zbunXr5v/eNE2mTZvG/fffz8UXXwzAP/7xD7Kysnj//fcZM2YM69atY/bs2SxdupSBAwcC8Nxzz3H++efz5JNPkpOT07oX1Yp80wjbatjq2ymFL9YVad2WiIiIiESkNj2y9eGHHzJw4ECuuOIKMjMzOeGEE3jppZf8+zdv3kxBQQHDhw/3b0tOTmbQoEEsXrwYgMWLF5OSkuIPWgDDhw/HYrGwZMmSJs/rcDiorKwMeISjaof3hsFtrey7j39kS2FLRERERCJQmw5bP/30E88//zw9evTgs88+4ze/+Q233norr776KgAFBQUAZGVlBbwuKyvLv6+goIDMzMyA/TabjbS0NH+bvU2dOpXk5GT/Izc3t6UvrVVUO9wAxLfRka3jGisS/rir2j/lUUREREQkUrTpsOXxeDjxxBP505/+xAknnMCECRO48cYbeeGFF4J63nvvvZeKigr/Y9u2bUE9X7BU13tHthLbaNjqkGinY3IMpglrNLolIiIiIhGmbX4Kb9SxY0d69+4dsK1Xr178+9//BiA7OxuAwsJCOnbs6G9TWFhI//79/W2KiooCjtHQ0EBpaan/9Xuz2+3Y7faWuoyQaSsFMtatW7fffbkJJjsr4NMla4gqT/Bvz8jIIC8vrzW6JyIiIiISFG06bJ122mn88MMPAds2bNhAly5dAG+xjOzsbObOnesPV5WVlSxZsoTf/OY3AAwePJjy8nKWL1/OgAEDAJg3bx4ej4dBgwa13sWEgG8aYajWbFWW7gLgmmuu2W+bpMFXkjrkl8x44yMe/vhJ//bYuDjWr1unwCUiIiIiYatNh6077riDU089lT/96U9ceeWVfPvtt7z44ou8+OKLABiGwe23386jjz5Kjx496NatGw888AA5OTlccsklgHck7LzzzvNPP3S5XEyaNIkxY8ZEdCVC2F0gI1RrtuqqvYVFRv36Pnr2G9Bkm4I6g0W7IOv4M/nlyFMBKMz/kVmP3UVxcbHCloiIiIiErTYdtk466STee+897r33XqZMmUK3bt2YNm0aY8eO9be5++67qampYcKECZSXl3P66acze/ZsYmJi/G1mzZrFpEmTGDZsGBaLhdGjRzN9+vRQXFKr8pV+D/WarfScLnTu0afpfU43i3b9RHWDQYdux2K3WVu5dyIiIiIiwdGmwxbABRdcwAUXXLDf/YZhMGXKFKZMmbLfNmlpabzxxhvB6F6b5l+z1UZLvwPERltJjLFRVd9AUaWD3LS4UHdJRERERKRFtOlqhHJkfGGrrZZ+98lK9I5CFlU5QtwTEREREZGWo7AVwarayDTCg8lM8lZ+LKysD3FPRERERERajsJWBPOHrTY8jRAgK8k7slWgsCUiIiIiEURhK4JVNd7UOCk2KsQ9ObDspBgMwxsOKxv7LCIiIiIS7hS2IpRpmmEzshVts9AhwTuVcGe5RrdEREREJDIobEWoOpebBo8JQGJM2x7ZAuiUEgvA9vK6EPdERERERKRlKGxFKN+olsWA+Oi2f++qnMawtaNCYUtEREREIoPCVoTyrddKjInCMIwQ9+bgOiZ7i2SUVDtxekLcGRERERGRFqCwFaEq6sJjvZZPvN1GSmMhjxJH2w+HIiIiIiIHo7AVofYc2QoXvqmEJQ69LUVEREQk/OlTbYTyrdlKCpORLYCcFO9UwmKNbImIiIhIBFDYilC7y76H38hWmcMAa/j0W0RERESkKQpbEcp3c+BwGtlKiY0iLtqKBwN7do9Qd0dERERE5IgobEUo35qtpNjwGSEyDIOcZO/olr1z7xD3RkRERETkyChsRajd0wjDZ2QLdq/bsuf2CXFPRERERESOjMJWhKqs81UjDLew5R3ZiunUC49phrg3IiIiIiKHT2ErQu2uRhg+0wgBOiTYsRomlpgE8isaQt0dEREREZHDprAVocKxGiGAxWKQbveOaK3Z5Qxxb0REREREDp/CVoSqrA/PaYQAHeweAL4vcoS4JyIiIiIih09hK0KFa4EMgA4xu0e2PB6t2xIRERGR8KSwFaEqw7D0u09qtInHUUu102TtzspQd0dERERE5LAobEUgj8ek2hG+I1sWA+p/XgPANz+VhLg3IiIiIiKHR2ErAlU7G/BVTQ+3aoQ+jvzVAHz9o8KWiIiIiIQnha0I5FuvFW21YLeF56+4fqs3bH27uZQGtyfEvREREREROXTh+UlcDqhqj0qEhmGEuDeHx1m0mfgog2pHA99trwh1d0REREREDpnCVgSqrAvf9Vp+poc+mdEALNa6LREREREJQwpbEagqjCsR7qlvBzsAi7VuS0RERETCkMJWBArne2zt6bjGka1lW8pwNmjdloiIiIiEF4WtCORfs2UP75Gt3GQb6fHR1LncrPq5PNTdERERERE5JApbEaiycWQrKTa8R7YshsEpR6UD8PUmTSUUERERkfCisBWBKv3VCMN7ZAtgcHdv2Fr8U3GIeyIiIiIicmgUtiJQpKzZgt1ha8XWcupd7hD3RkRERESk+RS2IlBlXeSMbB2VEU9moh2n28OKrWWh7o6IiIiISLMpbEUg38hWUgSMbBmGwan+qYRatyUiIiIi4UNhKwJVRdCaLdg9lfBr3W9LRERERMKIwlYEqoygkS2AU7tnALBqWzk1joYQ90ZEREREpHkUtiKQb2QrKTYyRrZy0+LolBJLg8dk6ZbSUHdHRERERKRZFLYiUCRVI/QZrHVbIiIiIhJmFLYiTIPbQ63TWyI9UtZsAf4iGd9o3ZaIiIiIhAmFrQjjG9WCyBzZ+m57hf+mzSIiIiIibZnCVoTxha3YKCtR1sj59XZMjqVbRjweE779Seu2RERERKTti5xP4wLgH/WJpFEtn1OOUgl4EREREQkfClsRJpLDlopkiIiIiEg4UdiKML5phJFS9n1PgxtHttbtrKS0xhni3oiIiIiIHFjkDX+0c7vLvod/2Fq3bt0+23KTbGyrbOCNL5Zyam7sPvszMjLIy8trje6JiIiIiByQwlaEqYqAaYSVpbsAuOaaa/bZlzr81yQNuJAHZ8yidM7z++yPjYtj/bp1ClwiIiIiEnLh+4lcmlRZ1ziNMIxHtuqqKwEY9ev76NlvQMC+HbUGi4uh48nnc+0l5wTsK8z/kVmP3UVxcbHCloiIiIiEnMJWhPGNbCWF8ciWT3pOFzr36BOwrUODm28W/ER1g0FS7jFhHSpFREREJLKpQEaE2b1mK/zDVlPsNitZSTEAbCutDXFvRERERET2L6zC1p///GcMw+D222/3b6uvr2fixImkp6eTkJDA6NGjKSwsDHhdfn4+o0aNIi4ujszMTO666y4aGhpaufetw1f6PRKrEfrkpnkLY2wrqwtxT0RERERE9i9swtbSpUv529/+Rr9+/QK233HHHXz00Uf861//YsGCBezYsYPLLrvMv9/tdjNq1CicTidff/01r776KjNnzmTy5MmtfQmtItJHtgDy0uIA78iWaZoh7o2IiIiISNPCImxVV1czduxYXnrpJVJTU/3bKyoq+L//+z+efvppzj77bAYMGMArr7zC119/zTfffAPA559/ztq1a3n99dfp378/I0eO5JFHHmHGjBk4nZF3ryZ/NUJ75I5sZSfHYLMY1Drdut+WiIiIiLRZYRG2Jk6cyKhRoxg+fHjA9uXLl+NyuQK2H3vsseTl5bF48WIAFi9eTN++fcnKyvK3GTFiBJWVlaxZs6bJ8zkcDiorKwMe4aIygm9q7GOzWMhJ8U4lzNe6LRERERFpo9p82PrnP//JihUrmDp16j77CgoKiI6OJiUlJWB7VlYWBQUF/jZ7Bi3fft++pkydOpXk5GT/Izc3twWupHVEwn22mkPrtkRERESkrWvTYWvbtm3cdtttzJo1i5iYmFY777333ktFRYX/sW3btlY795GqbAdrtgDyUr3rtraX1eH2aN2WiIiIiLQ9bTpsLV++nKKiIk488URsNhs2m40FCxYwffp0bDYbWVlZOJ1OysvLA15XWFhIdnY2ANnZ2ftUJ/Q997XZm91uJykpKeARDupdbpwNHgASI/z+Ux0S7cTYLDjdHgor60PdHRERERGRfbTpsDVs2DC+++47Vq5c6X8MHDiQsWPH+r+Piopi7ty5/tf88MMP5OfnM3jwYAAGDx7Md999R1FRkb/NnDlzSEpKonfv3q1+TcHkq0RoGJBoj+yRLcMw6OyrSlimdVsiIiIi0va06U/kiYmJHHfccQHb4uPjSU9P92+//vrrufPOO0lLSyMpKYlbbrmFwYMHc8oppwBw7rnn0rt3b8aNG8fjjz9OQUEB999/PxMnTsRut7f6NQWTb71WQrQNi8UIcW+CLy81jk1F1WwrrWNQt1D3RkREREQkUJsOW83xzDPPYLFYGD16NA6HgxEjRvDXv/7Vv99qtfLxxx/zm9/8hsGDBxMfH8/48eOZMmVKCHsdHO3hHlt78hXJ2FlR558+KSIiIiLSVoTdp/Ivv/wy4HlMTAwzZsxgxowZ+31Nly5d+OSTT4Lcs9CrbBzZiuSy73tKiYsmOTaKijoX28pqCadxyvz8fIqLiw/5dRkZGeTl5QWhRyIiIiLS0sIubMn+tbeRLYCu6XGs+rmCLcU19AyTy87Pz6dXr2OprT30svVxcbGsW7degUtEREQkDITJx1NpjrJaJ+Ad8WkvuqbHe8NWSS3HZIa6N81TXFxMbW0dr//hSnrldWj269bl7+KaP71NcXGxwpaIiIhIGFDYiiCl1d6wlR7ffsJW59RYrBaDakcDVa7wKgrSK68DJx7TKdTdEBEREZEgadOl3+XQlDaObKW2o7Bls1ronOotlFFQH15hS0REREQim8JWBCmr8YattHY0jRC8UwkBCur0dhYRERGRtkOfTiNIaa23GmF7GtkC6JLuvblxscPAiI4NcW9ERERERLwUtiKIf2Qrvn2UfvdJbSwBb2IQ0+X4UHdHRERERARQ2IoopY1hK7WdTSMEbwl4gNijBoS4J4ehwQE7V4GjKtQ9EREREZEWpGqEEcRX+j2tnU0jBOjSWAI+9qgBmKYZ6u4cms0LYMcKsEZDl9Og00CwWEPdKxERERE5QhrZihD1Lje1TjfQ/tZsgbcEvAUTW1Im2yobQt2dQ1P6o/er2wk/zYflr0DF9tD2SURERESOmMJWhPCNakVZDRLt7W/AMspqoUOMd0Rr+U5HiHtzCOrKob4CDAscfS7YYqG2GL7/F7hdoe6diIiIiBwBha0IUVK9e72WYbTP+03lxHoA+HpbfYh7cgjKtni/JuVApxPh5Algi4GGeqgtCWnXREREROTIKGxFiPa8XssnJ86D6XHzY5mLrSU1oe5O85Rv8X5N6er9GhUL8R2839cWh6JHIiIiItJCFLYiRHuuROgTY4X6/NUAfLx6Z4h70wymCWVbvd+ndt29PT7D+7VGYUtEREQknClsRYjd99hqv2ELoHbdV0B4hK3YhjJoqPNWIUzsuHtHXGPY0siWiIiISFhT2IoQpbXeYgqp7eyGxnur3bAYqwHrdlby467qUHfngBIdjYEwOTew1HucRrZEREREIoHCVoTwj2y142mEAJ76Kvpl2QH4Txsf3Uryha09pxDC7mmE9eWqSCgiIiISxhS2IkRpY4GM9niPrb2dlhsDwMerd4S4J/tnt0KCs8j7ZO+wFRXnrUgIqkgoIiIiEsYUtiKE1mztNqhTDNFWCxsKq9lQWBXq7jRpcK4VC26Iit89bdDHMHaPbilsiYiIiIQtha0IoWqEu8VHWxhyjDestNVCGcO6Nd54OrWrN1ztTeu2RERERMKewlaEKNXIVoBR/bzV/T5etQPTNEPcm30NP6qxIEZql6YbxKsioYiIiEi4U9iKAKZp6qbGexneK4vYKCs/Fdfw9Y9tayqexVXNSTmNYStlP2FL5d9FREREwp7CVgSodjTgcntHbzSN0CsxJoorB3YG4MWFP4W4N4HiKjZitRg4rPEQk9x0I9/IVl25KhKKiIiIhCmFrQhQVuP9MB4bZSU22nqQ1u3Hr07vhsWABRt28UNB2ymUEVe+EYDaqPT9N4qKb6xIaEJdaet0TERERERalMJWBCjVFMImdUmP57zjsgH4+1dtZ3QrrmIDAHW21P03MgwVyRAREREJcwpbEcBX9j01PirEPWl7bjzjKADeX7mdosr6EPfGK7ZiE3CQkS1QkQwRERGRMKewFQFU9n3/TshL5aSuqbjcJjO/3hLq7oCzhpjqfABqo9IO3FYjWyIiIiJhTWErAqgS4YH5Rrde/2YrNY6G0Ham4HsMTHZUeWiwxh64rUa2RERERMKaLdQdkCNXopGtAxreK4tuGfFsLq7htW+2ctOZ3UPXmZ2rAFix001FzK4DNrW5XfQDzLpyVv6Qz7ptKpQhIiIiEk4UtiKAb81Wuka2mmSxGPxmaHfufmc1z8zZwPBeWRydmRCazhT4wpaHB998+6DNS+9OJDUWrn3oRVYXegDYuXNnULsoIiIiIi1DYSsC+NdsKWzt1xUDOvPRqh18tbGY3769kn//5lRs1hDMom0c2fpfgZtRV15Dzx5HHbB5ufUtUtnJXTdezj83RPOft1+nvLy8FToqIiIiIkdKYSsCaM3WwRmGweOX92PEMwtZ9XMFf/3yR24d1qN1O9HggKJ1gHca4dDhmXTu0uWAL6ku6wK1O+mR4iY9M7M1eikiIiIiLUQFMiKAqhE2T8fkWKZcfBwA0+du5LufK1q3A0VrwdOAwxJPfoXZrJeU2bwBK7mhJJg9ExEREZEgUNiKAGW1LkAjW81xcf8czu+bTYPH5Pa3/seuKkfrnXznagBK7bnNfkmVNQWARHdZMHokIiIiIkGksBXm3B6T8lrd1Li5DMPg0Uv6kplo58ddNVwyYxEbC6ta5+SN67VKYw4lbKUCkOguD0aPRERERCSItGYrzFXWufA0zkjTNEKvdevWHbTN5NOT+ONXpWwvr+Piv3zFHSclMKDzoVcozMjIIC8vr3mNG8NWmT0XDAvNmUhYaUsBIMFdgYHnkPsnIiIiIqGjsBXmfPfYSoyxERWK6nptSGWp975V11xzTbPaW2KT6HDZfdC5D49+VUbFN3+jaukHeBw1zT5nbFwc69etO3jgcjfgLFjHQveJzCg5mdw7/sViK5jlTvom1RK1n19drSUJNxaseEix1DW7XyIiIiISegpbYU6VCHerq64EYNSv76NnvwHNeo3bhHkbdlIZ25GU064m4/SrODrRQ49EN9HWA7+2MP9HZj12F8XFxQcMW/UuNy99+i0v1zxNGYngAksUuICvSuwsK4vnxJQaTkipxWoEvtY0LFRbk0l2l5FuqW7WNYmIiIhI26CwFeZ8lQgVtnZLz+lC5x59mt2+77YPef/9mXS99HfUmFGsr7SysdpG1/Q4jslKpGt6PNG2Qx81NE2TT78v4I//Wcf28jogkQ7WGo5JsfLO0/dy5pgJFMb3oKLBxqLSRGrdFoZk7Buoqq0pJLvLSFPYEhEREQkrClthrswXtrRe67AZQO0PixgQM57EowewZHMJxdVOftxVw4+7arBZDDqnxpKXFkeX9HhS46IwDGO/x6tzuvl8bQGvf7OVpVu8VQQ72h383vMiFwzuzz/L+vJGwUY6NuxkRF4a31XG8mVxEqsq4uiXXEdKlDvgeJXWVDqxmXRL86c3ioiIiEjoKWyFuVJ/JUKFrSNlGHB0ZgLdO8Szq9rBxsJqNhZVU1HnYktJLVtKamFjMfHRVjIS7didVuJ7D+XrbXVs8myj1tHAup1V/Oe7nVQ7GgCw2yz8+szu3LTlDuK2L4ac8VC2u9CFxYDjk+vYXGNna52dRSUJjMoOvP9XdWP5d41siYiIiIQXha0wV6ZphC3OMAwyE2PITIzh1O7pFFc7yS+tZWtpDTvK66lxuqkpqQWsZFz4O55cXA6UBxwjNy2Wy07ozC9OyiUnwQp/Xta442RY880+5zw9vYr8n6PZVBPDjrpacmJd/n2VjeXf060a2RIREREJJwpbYa60xvuhXGXfg8MwDDok2umQaGdAl1Rcbg+7qhyUVDvZsn0na9eu5cQBA8hKSybebiMjwc7I47I5qWsaFkvjVMPtK6ChHmJTIe0oYN+wlWF30zuxjjVVcXxVksCVncrwzVT0jWypQIaIiIhIeFHYCnO7qxHqhsatIcpqIScllpyUWFLrfmb+m/fy6O+Wc+KJJ+7/RT83jmp1GggHWOs1OK2GDdUxFDii2Vhj55gEBwCVNu/IVprWbImIiIiElfZ9Y6YI4KtGqJGtNuznpd6vnU86YLN4m4cBKbUALCpJ8N+suqpxZCvJUk+M/nlEREREJGwobIW5khrv6IfWbLVh/rA18KBNT0ypIcbiobLBxo5672ilw4jDaXh/v7lJ+pMVERERCRf65BbGPB6Twgpv2MpOjglxb6RJNcVQttn7faeD32g5ygJHxXt/pxurG3+nhkFVY5GM3OT9T0MUERERkbZFk5LCWHGNA6fbg8WArCSFrVBZt27dfvclFSzmaKAuoQvr1v0EwObNmw94vB7x9aytimVTjZ0zM6qwGN6phOkNheQl699HRERERMKFwlYY21FeD3iDVpRVH8JbW2XpLgCuueaa/baZcpadB4bYefOrjVx/V+DIVm3jvbj2lhvnJNriodZtZWd9FJ1iXbtHtpI0siUiIiISLhS2wtiO8joAclJiQ9yT9qmuuhKAUb++j579mp4i+IuyJ8C1hsQhE7hzxFAAvp37Mf9992UcrqbDltWA7nEO1lXHsqkmpjFspQBoZEtEREQkjLTpT25Tp07lpJNOIjExkczMTC655BJ++OGHgDb19fVMnDiR9PR0EhISGD16NIWFhQFt8vPzGTVqFHFxcWRmZnLXXXfR0ND0B91worDVNqTndKFzjz77PHKPPpYuni0A1Hc/1789uUPHgx7z6ATvqOWmajumyR4jW236T1ZERERE9tCmP7ktWLCAiRMn8s033zBnzhxcLhfnnnsuNTW77zd0xx138NFHH/Gvf/2LBQsWsGPHDi677DL/frfbzahRo3A6nXz99de8+uqrzJw5k8mTJ4fiklrUz2W+sKX1Wm1RWt0W7O4anJZYSuKOOqTX5sU5iTY8VLut7HRE7TGypWmEIiIiIuGiTU8jnD17dsDzmTNnkpmZyfLlyxkyZAgVFRX83//9H2+88QZnn302AK+88gq9evXim2++4ZRTTuHzzz9n7dq1fPHFF2RlZdG/f38eeeQR7rnnHh566CGio8O3ZLpvZKuTRrbapOyq7wEoTOiNaVgP6bU2A7rFO/ihOpZN1XZ6p/iqEVpYYZot3lcRERERaXltemRrbxUVFQCkpaUBsHz5clwuF8OHD/e3OfbYY8nLy2Px4sUALF68mL59+5KVleVvM2LECCorK1mzZk2T53E4HFRWVgY82qIdFQpbbVnHqu8A2Jl43GG9vkdCYwn4mhgqLckAJEQbRHtqW6aDIiIiIhJUYRO2PB4Pt99+O6eddhrHHef98FpQUEB0dDQpKSkBbbOysigoKPC32TNo+fb79jVl6tSpJCcn+x+5ubktfDUtw1eNUGu22qaOjSNbOxP7Htbru8Q6iDI8VDdY2eGMo9LjnS4a11DWYn0UERERkeAJm7A1ceJEvv/+e/75z38G/Vz33nsvFRUV/se2bduCfs5DVed0U1rjBBS22qLohmrSa7331SpI7HNYx7BZoFu893e8qSaGUk88APGu0pbppIiIiIgEVViErUmTJvHxxx8zf/58Onfu7N+enZ2N0+mkvLw8oH1hYSHZ2dn+NntXJ/Q997XZm91uJykpKeDR1vimECbYbSTFtOmld+1Sx6rVGJhU2HOojc447OMcFeedSri1NpoSTwKgkS0RERGRcNGmw5ZpmkyaNIn33nuPefPm0a1bt4D9AwYMICoqirlz5/q3/fDDD+Tn5zN48GAABg8ezHfffUdRUZG/zZw5c0hKSqJ3796tcyFBsH2PSoSGoQp1oVRWXs7OnTsDHhnb5wHwQ3SfffZVVlU1+9i5jWGr2BnFT+5MAOIVtkRERETCQpseEpk4cSJvvPEGH3zwAYmJif41VsnJycTGxpKcnMz111/PnXfeSVpaGklJSdxyyy0MHjyYU045BYBzzz2X3r17M27cOB5//HEKCgq4//77mThxIna7PZSXd0R0j63Qq6vz/g7mz5vHwm9XBuz75aAFkAjPf13Ce4UvBuxzFm0GaNa93uKsJh2iXexyRrHM7MUVLNXIloiIiEiYaNNh6/nnnwdg6NChAdtfeeUVrr32WgCeeeYZLBYLo0ePxuFwMGLECP7617/621qtVj7++GN+85vfMHjwYOLj4xk/fjxTpkxprcsICpV9Dz2HwzvqNLBnJ046YXfFwQSzmuMcHwPQdeBwJhjxAa+bN6+G5RvB7XE36zx5cU52OaP4Hu+9urRmS0RERCQ8tOmwZTbjfkIxMTHMmDGDGTNm7LdNly5d+OSTT1qyayG3XZUI24zEODsd03ev6+tZuxEcUBjViaSMjuy94i8u5tDu7dYl1sHy8nh+MnIxTa3ZEhEREQkXbXrNluyfRrbari6ODQDk23u2yPE6xrqwGSZ1Riw/mLnENZRDM0fFRERERCR0FLbClK8aoUa22hjTJK/+BwDy7ce0yCFtBnSK9ZaA/7KhLxY8UNX0PeJEREREpO1Q2ApDHo/JTv80wpgQ90b2lNpQRKKnggZsbLd3O/gLmimvMWx94Wq8QXLZlhY7toiIiIgER5tesyVNK6524HR7sBiw48d1FFmaV/p93bp1Qe6ZdHF4R7W224/CbRza2qwDHjfOwVcliayy9KLejCKmbDN0Pa3Fji8iIiIiLU9hKwyt+GELAM6KIgaddMEhv766urqFeyQ+eY6NQMtNIfRJi3IT7XHgtNhZ5unJ6aWbW/T4IiIiItLyFLbC0KYdJQCkJSXwixnvNvt1675dwKevPkt9fX2wutauWUw3nYMUtgwDUt2lFFo68pWnL6eXKWyJiIiItHUKW2FoV623El1ynJ3OPY5t9usK838MVpcEyHZuxW46qLPEUxTVqcWPn+YupTCqIws9fbm39J0WP76IiIiItCwVyAhDxY1hK1ZRuU3J85d87wFGy/9ppbi9NzNeZ3alqLi4xY8vIiIiIi1LYSsM7arxhq0468Fv+iytp2v9eqDl7q+1t2hcuAo3AbCwrgvU6ebGIiIiIm2ZwlYY8k0jjLMpbLUVCQ1ldHRtxcTgp5jeQTtPzY/LAPjS3R9UJENERESkTVPYCkO+aYRx1hB3RPx61K8GYHt0N2qtSUE7T/1P3rC10NOPhhKFLREREZG2TGErzNQ6G6hyeke0NLLVdhxd5w1bm2L7BfU8jh0bSDTqqSSelT8VBPVcIiIiInJkFLbCzI5yb9l2j6OGKP322oRUay2dnN5Rpo0xwQ1bmB6OtxcC8OW2huCeS0RERESOiD6uh5kd5XUANFTuCnFPxOeU2G0YmOyM6kK1LTXo5zsuvhKAL4uDN11RRERERI6cwlaY2a6w1eacGrcNgI2xx7fK+Y5K9H793pFJUZVuUC0iIiLSVilshZkEu41j0qNwFf4U6q4IkBFncFyMd1rfxiCv1/KxxKbQ1/D+/hes3dEq5xQRERGRQ6ewFWYuPD6HPw/LoPyr10LdFQEu7mnDapgURnWi0pbeKud0WBMYGrUOgC/X5LfKOUVERETk0ClsiRyBy3tHAa03hRAAw2BoWgkAX22pocHtab1zi4iIiEizKWyJHKZ4o55h3bw3O9sU04phC+jfMYYUqqh0wv+2lbfquUVERESkeRS2RA7TWbE/EGU12OJMoSwqs1XPbU3ryhmW7wCYv76oVc8tIiIiIs2jsCVyOEwPo+K8NzKeXdWj9c+f1o1h1v8B8Ml3OzFN3eBaREREpK1R2BI5DF3Kl5BrK6ei3mR+zVGt34HUbpxjWUas4WRLSa2mEoqIiIi0QQpbIoeh/863AHhlpZM6M6r1O5DWjXjDwXmWpQC8t2J76/dBRERERA5IYUvkEKXU5XNU2SI8JvzlW2doOpHUCSxRXGpZCMBHq3fgbFBVQhEREZG2RGFL5BD13/k2AMscXfmxLERrpSxWSO3CaZbvyYwzKK918eUPKpQhIiIi0pYobIkcguiGanoXfQzAR7WtW+59H6ndsBomF3eqAeC9/2kqoYiIiEhborAlcgh6F/0Hu7uGktiu/M+ZG9rOpHkLc1ya+iMAc9cVUVHrCmWPRERERGQPClsizRTdUM3A7f8AYFXHKwAjtB1qDFu961dybHYiTreH/3y3M7R9EhERERE/hS2RZhqyeRqJziLKYzqzJvOiUHcHOg3wft22hEv75wDw3v9+DmGHRERERGRPClsizdCl7Gv6Fn2AicHnR0+mwRoT6i5Bx+PBFgt1pVycW49hwNItZWwqqg51z0REREQEhS2Rg4puqOacTX8E4H8df8H25BNC3KNGtmjoPBCA7LJvGXZsFgDPzNkQyl6JiIiISCOFLZGD8E0fLIvJZVGXiaHuTqAup3q/bl3M70Ycg2HAf77byeqfy0PaLRERERFR2BLZP9PkxO2zdk8f7NFGpg/uKW+w92v+Yo7NTuLS/p0AeGz2+hB2SkRERERAYUukSVaPgxEbH+bMLdMAWNp5PDuS+oe0T03qfBIYVqjYBuXbuOOcY4i2Wli0qYT/biwOde9ERERE2jWFLZG9JDgKufK7CfTe9R88WJnf7bcsyrs51N1qmj3BWygDIH8xuWlxjD0lD/CObnk8Zgg7JyIiItK+2ULdAZG2IrFyA6eu/pwTq78kynRSY0lkVtbdbDKOh4KCfdpXVlWFoJdN6HIq7FgBW7+Gflcy8ayjeXvpNr7bXsEn3+/kgn45oe6hiIiISLuksCXtms1dz4CGFVw3Lo5hCS9CY376tjyFG9ecwNa6JcCSJl/rLNoMQENDQyv11mvz5s2sWLHC/zy5IZPuQN2Geaxr3H5Bj1jeWlPNH/69CqPsZzom2sjIyCAvL69V+yoiIiLSnilsSbvUsXI1xxW+zzHFc4lOqIUEG27T4Htrb/5rO4WtWbmMyDYOeIx582pYvhHcHner9Lm6qhKABx54gAceeMC/PSPOYNddicRWbeWc0wdSWmdi2OxkXf1nKjv2YMKslRS89jvsFjfr161T4BIRERFpJQpb0q50rFzN4G0v0qV892hVQUMSf1u0i63dx9B30BBvu2YcKy4mOki9bJqjrg6AIVffysDThgbsKyy5lyz3Tp74432ssZ8IQL0b5heY1KZ1os9t/8d3T46luLhYYUtERESklShsSbuQVvsTQzZPo1v5YgDchpX1HUbyfdbFvDZnFf/58k9c2DU+xL1snuSsznTu0SdgW5ExiKzC9+kXX0JFt937Ujs7eHvZz1S648g4/zbcKpghIiIi0moUtiTilJWXs3PnTgCspouzyt/h7LJ/YaMBNxaWJw5jbsoVlEVlQw1UVlWHuMdHbnvSCfQtfJ9OlSsDtqcn2BnVryPv/+9n4nsP5YEvS3ixWy156XGh6aiIiIhIO6KwJRGjrnGa3fx581j47UoGJpUxvfdqeid4q17M3pXJ7zf0YUudHfjQ/7pQFbpoSdsb7wGWWbMem7uOBmusf19eWhyDMhr4eruL9cVxjHx2IZMv7M2VA3MxjAOvSxMRERGRw6ewJRHD4XAAMKx3Bn/o9TMnu72V+aqJ54Oo81nVuQ/n5u4bLlq70EUwVNo7UmHvSLJjJ72L/sPqjpcH7O8UZ7Lj5Umc+8DrrC12cs+/v+Pfy7dz45CjGHZsJhaLQpeIiIhIS1PYkohhxc3Ek6L4c/fZJLidAKyJO5mFSRdRb43fb9GL1i50ERSGwfJO13D2T09wyraXWJd5Pi5r4FRBd2URDw9NY0VNCk99voFvt5Ty7ZZSuqbHce2pXbnw+BzSE+whugARERGRyKOwJW2OgUmsDTCbUczBNMmqXkuvXZ/wq8wPST4/FnBSGNWJ+cmj2WnvFuzuthnfZV3KCTv+SWr9NgZsn8U3eTfu08ZqMfj1md258PgcXl28hTeW5LOlpJaHPlrLlI/XMqhbOiP7ZnNO7yw6Jsc2cRYRERERaS6FLQmp6IZqupX9l6NKvyK5fjsJzl3E2ot57b4kXObvcX6bQr0tifqoZO9XWyJuw06cq5R4ZzGJjgISXMXeg1mgoNrDe45TcPT9BaZhCe3FtTKPJYpFXW7mgh/uZcD211idfSm10RkBbdatW+f/fkQWDBmZzvwtdczbUstPZQ0s/qmExT+VMPmDNeQm2eifbefMYzpwwaBjiYmytvYliYiIiIQ1hS0Juj2rAwLYPE761C6hf/UCjqn7H1GmK/AFjcuHonAT5Soh3lUCdfs/vsti58e0oby5IZo//mUW548/hrPaWdDy2Zg+jJ0JfehYvYZTtv2ded1/D0Bl6S4Arrnmmv2+1pacRVzPU4k95lTsOT3ZVtnAtsoGPtpQwx8+3cqgo9IZ0qMDpx2dQc/sRKxa5yUiIiJyQApbEjR7Vgf877f/o19iBVfn/MwV2dtJjdodsDbWxPNBUUf+V5nCToedbdt3Ubh+GRfe+DsGHt+HOE8Vse5q4jxVxHmqifI4qLamUGlLo9KaRlF0ZxyWOL4peRd3O7iNVFVlZUB43dv7iWP5TfUfOK7gPT63DWNXdGd2/pwPwKhf30fPfgMOeg6nu4GiegtbSqrZXumCpA58tbGYrzZ6RxET7TZO7JLKSV1T6dUxiWOyEumUEhtQaCM/P5/i4uJDvr6MjAzdeFlEREQigsKWNEt6rEHXquX0WruSbOdW4jxVxHhqiPXUAFBrSaDWkkStNRGnYcdlsZNubmbY+TGc2Wc9PeKqiGZ3wCojmeXW41llPY5CeyakG3QCOgG1C75i0+plfPjf7/nPyh376VE18HPAlkgo4X4g9S5vtcRly5bxv/U/HbBt1+OzGNmhkPPX3cO13w1gzRbvyFZsSod9boi8P0cBnTeu4emJl/H039+gMq4TKwudrCt2UuVoYMGGXSzYsMvfPsZmkBlvJcluIcrjZNG8z2hwOhr3moCBYYvCsEY3fo3CsEVjWKPAYgVPA6bHjQWTUeeeTecOqaTGRZOeEE2nlFg6pcbSKSWWeHvL/mfrQKHQbFw32FSJfIVCERERORiFLdmH3VVBVs16sqrXklW9jrFRy3n97kTgTShr/nGGpAFp0UApAE4jmi0xvfg+7hTy7cdgGhYssE+VwOjGtUHHd8/k1JNOaPb5IqGE+4E4G7zX1Zyfy3eebpzh/D/6JFax6NRFTO/cg7s2gsPpPKRz+qYf3nnD1bs3GhaiOnQlpnNv7J2OJSqjC1FpnaknivyK3UE3rt+IQzrXnr7YWAEbK5rclxBt0CHOSod4q/dr4/c9ctLp3T2P2CgrcdE27DYLTrcHR4MHZ4OHynoXpTVOSqqdlNY4Ka1xsKWghNf/9T5mdDzWuGQscclYYhIxrDYMi/d9aJoeTGc9psuBx1WHp64ad205hrOGX119BV07ZpCeYCc9Ppq0eG84TI+3Ext96GvcXG4PtQ43HtPEY5qYQLTNQqLdpnuiiYiIhKF2FbZmzJjBE088QUFBAccffzzPPfccJ598cqi7FTIWj4uU+p9JrdtCWu0WMmt+IKt6HcmOvUaTGj8z5jsSKIntxnZLR6qNBOqIoc6IwcAkzqwjzqwljjqicBFluij8eQtbf/oJ91FDyDn+bMpsGXAIa6niY6LomJ7U7PYRUcK9GZr3c0niDffdjCh7gy6ODfwuby3HXhXLCttGrO563NaYZp2rrroSOPj0Q49pUtPgpNZt4HQbbN28iR++W0G/My8kq3MepgmGATaLBavF8D9sjV8NwGPCtk1rWfj+axj2BKyxiVhik7DGp2JL6oA1ORNrTALVTpNqZwOby/cewSwHfmzWde0ppucZB9xvGBYMexzY47CSCqm79725shhWNj0qZrcaJNktJMdYvKN9Fu/4ntvtAcNCXYNJnctDXYNJrcv7vcvTdB8sBiTaraQnxNAxJYbc1Dhy0+LonBpL59Q4ctNi6ZBgVyATERFpY9pN2Hrrrbe48847eeGFFxg0aBDTpk1jxIgR/PDDD2RmZoa6ey3G4nER21BBjKuc2IYKYl3lxDR+Pda2ggtHx9LPOY3sJY+R1FCClaY/3RXbOvKz/Wh+th/N56t38Orr/+LMq67hrFOb/sBdj2/8arf3ls7mqy/Wce7VeZwXFTk/43BRY03m3fRfc2L1Ak6t+IgLjoniAt7C9e375KcMYmficVTEdKY8pjOV9o44rQl4LE3/JyE9p0uzpx8CRJds5Nv/vkG3c4bSv3vGwV/QqHpNIdWr5+w33Lk8TmobDGrdeL82fl9R66Csqo6YpDQazH0DhwHERhkk273Bx/dwVZfx/luzOPfy8XTKzSM22kpMlNUfAA3DewcCl9uDy23icnuod7n58Ye1LPr8Q+9oWGwS1vgU79e4ZKxxKRi2KBxuk121bnbVHvlIq8eEino3FfU1/FRcA5Ts0ybaCpnxNjLjrGTGW8mIs5IYbaFjRjJH53YkJtpKtNVClNWCxcA74uf2jvr5Hq7GkcA6l5sdhcWUVlbjaDBxuE0cDSZOt3e0zWwcdbMaBnabQbTVIMZmYLd6H+kpiXTumElijI1Eu43EmCgSYmwkxtiIj7a1eHEVj8fE3Tga6PGA2zSpd7mpdbipcTZQ42igxumm1tFAtaOBWqd3+86iUkqraqhvMKlzmdQ3mDR4TAzD+56xGAbRNoNY3yPKINZmIT0lgdzsTBLsNpJibCTE2Eiwe78m2qOIibIo+IqICNCOwtbTTz/NjTfeyHXXXQfACy+8wH/+8x9efvllfv/734e4d4dg80JyV/2NN0fH0rtoKskV+NdOxXhqiDYPME3MBhwXBfwMjYMCVQ1WNtUmsKEmgbXVifyvMoVVVUlUNPhGiXbhLPqZOkfkroWKaIaFFYln8a+VFfQqmcPlJ6SRZaume+lCupcu3Ke5y4jGYcTisHgf51gcXH11LB09L5Ow7mNMw4bHsGAaVjyGFQ9WLLgxTA+G6caCB8P0cHrUz1zxi1hyHC+QuOINLI2h3o339W7Dhgdr41fvc7dhpZt7B8efY+fY7DV0sNd5z2FY8Zeo3I/CbT+x9L/vAXiPZ43GbURjNV1YPC4sZsN+j3BzNJzsiiezPtf7rwb7Ye5xhO0Na+lr/YRj+59Nh+xOwO4pj6YJ9aaNatNOlcdOtRlNtceOGwvVZbso3LqRnG49yUhJIMZoaHy4/N9HGw1YGs9mGOA0LewoKuH71atwRCVRE92BmpjMxkcWNfZMau3pON0Wfq5s4OfKvf9OK4D8A/78Wl4lsH2/e+2GG4thYjNMrIaJBbAaJlY8GAZ4TAMPBh4T3BiYpoEHcJsGJgZuk8b93natrwrYf5EaKybRFjfRhkmUxUO04SGq8RFt8V63xTAxMLEClsbnFt/3eH8uBt6fS7TNSow9Govha+/dbjG87a2G95ze57v3+X62vtwXUD/I3Heb73tzj3+wMGmiXROv3bv9nsdp+hxNbMP7u28wwe0xaDC9v+uArx7vV0/j83pXA84GD27T8D4wdn/f+By8/wUxGn++3u89WAwDA9/PqPFr48/RaPzeF7x9/wXYc5v/4T/m7v0W3++j8XcZbbNit0c3vs+9vxNr4+/O4v8b2P373HOb1TA53Ox+2DWjDvOFR1Kj6nBfazbxD2zNPZ/H9H71vff8z/3/jQFP4/M6hxOXq6HxueF9DYa/rWn6VicT8PccFWUjzh7t/3v1/V4N3+/a176Jv9m9+9ucjQf7uwzY3sTPrrmvb+pWqIfyO6ytd1DvdDX+3L1/q77fg7vxv/n+7Y0/Y7dpYFht3H/F6XTrGj73UW0XYcvpdLJ8+XLuvfde/zaLxcLw4cNZvHjxPu0dDgcOh8P/vKLC+0GqsrIy+J09mC2rsG/4iPN72MCxHnZ3k/rGh9uEcqeN0sZHmSuKUoeN4qp6ft65CzoehyU9j5KGWErdsQR8kE2AYxICT7mhykM+sG3rFr5dFtXsrhbu8E5H3LFtG98uW6HXheh1AKvWlzNjaT2/W59D3+wohnUo5+jEerrG1dMlrp7MGN8HdAfgIIpyooAEIC/PBo41sHNNs8+XDfTsZgPPRu/svuaywdkDosExFzbNPYQXwjln2Pd4ZrL7j8OKfy7s/lR/ABuaf67jgfPPsAOL9h3SPRA7cAzAV1BzCK+LAgYAFAGb9tntNK0UmGlsNzP42cxgu9mBIjOZSuKpMBOoIA4H0TSYVhqw4sZCNA1EGQ1E0UA0LqJxe78aDcRQTywuYgwHcTix4yTWcBBNgzcQ4Q0KDdioJ4o6M5p67NQRTb3p/VqLnSozlhpiqTFjqCIOF97/fhzgTg6NWqasaAz1xFNPnOEgjnricRBr1JPQ+DUe73b/NuqJNtz+D1Fu00I9dqqJodaMoZYY//e+rzXEUG3GUk0MNcRiNv7Tgou9f8UGB30fymFo/v+TvHz/v9PvQg6V/eBN5BDEHvYrL1rxLelp6S3Yl0PnywRmU6lzL4bZnFZhbseOHXTq1Imvv/6awYMH+7fffffdLFiwgCVLlgS0f+ihh3j44Ydbu5siIiIiIhImtm3bRufOnQ/Ypl2MbB2qe++9lzvvvNP/3OPxUFpaSnp6ekjn4VdWVpKbm8u2bdtISmp+4QiRQ6X3mrQWvdekNen9Jq1F77XIZpomVVVV5OTkHLRtuwhbGRkZWK1WCgsLA7YXFhaSnZ29T3u73Y7dHjhcnJKSEswuHpKkpCT94Uqr0HtNWovea9Ka9H6T1qL3WuRKTk5uVrvm1+EOY9HR0QwYMIC5c3evAfF4PMydOzdgWqGIiIiIiEhLaRcjWwB33nkn48ePZ+DAgZx88slMmzaNmpoaf3VCERERERGRltRuwtYvfvELdu3axeTJkykoKKB///7Mnj2brKysUHet2ex2Ow8++OA+UxxFWprea9Ja9F6T1qT3m7QWvdfEp11UIxQREREREWlt7WLNloiIiIiISGtT2BIREREREQkChS0REREREZEgUNgSEREREREJAoWtMDJjxgy6du1KTEwMgwYN4ttvvw11lySMTJ06lZNOOonExEQyMzO55JJL+OGHHwLa1NfXM3HiRNLT00lISGD06NH73Aw8Pz+fUaNGERcXR2ZmJnfddRcNDQ2teSkSZv785z9jGAa33367f5vea9JStm/fzjXXXEN6ejqxsbH07duXZcuW+febpsnkyZPp2LEjsbGxDB8+nI0bNwYco7S0lLFjx5KUlERKSgrXX3891dXVrX0p0sa53W4eeOABunXrRmxsLN27d+eRRx5hz1pzer/J3hS2wsRbb73FnXfeyYMPPsiKFSs4/vjjGTFiBEVFRaHumoSJBQsWMHHiRL755hvmzJmDy+Xi3HPPpaamxt/mjjvu4KOPPuJf//oXCxYsYMeOHVx22WX+/W73/7d370FR1e8fwN/AckcERXehAiktCNFAUhFHSzaQGMfLqBMxpKhRhhcy76TZOEpqmiNNXmeUJsgu4lQmJoJoKiGgoCKCIYgZiDdCFIVln98fjufXBn6/+o113Xq/ZnZmz+fz7DnP58wzs/vM2T3bisjISDQ3N+PIkSNISUnBtm3bsHjxYlMsicxAfn4+Nm7ciD59+hiMs9aoI1y/fh0hISGwtrZGRkYGTp8+jdWrV8PV1VWJWblyJdatW4cNGzYgLy8Pjo6OCA8Px+3bt5WY6OholJSUIDMzE7t27cLBgwcRFxdniiXRY2zFihVYv349Pv30U5SWlmLFihVYuXIlkpOTlRjWG7UhZBb69+8v8fHxynZra6t4eHhIUlKSCbMic1ZXVycA5MCBAyIiUl9fL9bW1vLNN98oMaWlpQJAcnNzRURk9+7dYmlpKbW1tUrM+vXrxdnZWe7cufNoF0CPvRs3bkivXr0kMzNThg4dKjNnzhQR1hp1nHnz5sngwYPvO6/X60Wj0ciqVauUsfr6erG1tZUvv/xSREROnz4tACQ/P1+JycjIEAsLC7l48aLxkiezExkZKZMmTTIYGzNmjERHR4sI643axytbZqC5uRmFhYXQarXKmKWlJbRaLXJzc02YGZmzP/74AwDQpUsXAEBhYSFaWloM6szHxweenp5KneXm5sLf39/gz8DDw8PR0NCAkpKSR5g9mYP4+HhERkYa1BTAWqOO8/333yMoKAjjxo1D9+7dERAQgM2bNyvzlZWVqK2tNai1zp07Y8CAAQa15uLigqCgICVGq9XC0tISeXl5j24x9NgbNGgQsrKyUF5eDgAoLi7GoUOHEBERAYD1Ru1TmToB+u+uXLmC1tZWgw8dAKBWq3HmzBkTZUXmTK/XIyEhASEhIejduzcAoLa2FjY2NnBxcTGIVavVqK2tVWLaq8N7c0T3bN++HceOHUN+fn6bOdYadZRz585h/fr1mDVrFhYuXIj8/HzMmDEDNjY2mDBhglIr7dXSn2ute/fuBvMqlQpdunRhrZGB+fPno6GhAT4+PrCyskJrayuWLVuG6OhoAGC9UbvYbBH9C8XHx+PUqVM4dOiQqVOhf6ALFy5g5syZyMzMhJ2dnanToX8wvV6PoKAgLF++HAAQEBCAU6dOYcOGDZgwYYKJs6N/mq+//hqpqalIS0uDn58fioqKkJCQAA8PD9Yb3Re/RmgG3NzcYGVl1eZOXZcuXYJGozFRVmSupk2bhl27dmH//v148sknlXGNRoPm5mbU19cbxP+5zjQaTbt1eG+OCLj7NcG6ujoEBgZCpVJBpVLhwIEDWLduHVQqFdRqNWuNOoS7uzuef/55gzFfX19UV1cD+P9a+U/vnxqNps3NpnQ6Ha5du8ZaIwNz5szB/Pnz8dprr8Hf3x8xMTF49913kZSUBID1Ru1js2UGbGxs0K9fP2RlZSljer0eWVlZCA4ONmFmZE5EBNOmTcPOnTuRnZ0Nb29vg/l+/frB2traoM7KyspQXV2t1FlwcDBOnjxp8EaRmZkJZ2fnNh946N8rNDQUJ0+eRFFRkfIICgpCdHS08py1Rh0hJCSkzV9YlJeXw8vLCwDg7e0NjUZjUGsNDQ3Iy8szqLX6+noUFhYqMdnZ2dDr9RgwYMAjWAWZi1u3bsHS0vCjs5WVFfR6PQDWG92Hqe/QQQ9m+/btYmtrK9u2bZPTp09LXFycuLi4GNypi+g/mTp1qnTu3FlycnKkpqZGedy6dUuJefvtt8XT01Oys7OloKBAgoODJTg4WJnX6XTSu3dvCQsLk6KiItmzZ49069ZNFixYYIolkRn5890IRVhr1DGOHj0qKpVKli1bJmfPnpXU1FRxcHCQL774Qon56KOPxMXFRb777js5ceKEjBw5Ury9vaWpqUmJGT58uAQEBEheXp4cOnRIevXqJVFRUaZYEj3GJkyYIE888YTs2rVLKisrJT09Xdzc3GTu3LlKDOuN/orNlhlJTk4WT09PsbGxkf79+8svv/xi6pTIjABo97F161YlpqmpSd555x1xdXUVBwcHGT16tNTU1Bjsp6qqSiIiIsTe3l7c3Nzkvffek5aWlke8GjI3f222WGvUUX744Qfp3bu32Nraio+Pj2zatMlgXq/Xy6JFi0StVoutra2EhoZKWVmZQczVq1clKipKnJycxNnZWWJjY+XGjRuPchlkBhoaGmTmzJni6ekpdnZ28vTTT0tiYqLB31Gw3uivLET+9LfXRERERERE1CH4my0iIiIiIiIjYLNFRERERERkBGy2iIiIiIiIjIDNFhERERERkRGw2SIiIiIiIjICNltERERERERGwGaLiIiIiIjICNhsERERERERGQGbLSIiosfIkiVL8MILL5g6DSIi6gBstoiIiIiIiIyAzRYREREREZERsNkiIiKTeumllzB9+nQkJCTA1dUVarUamzdvxs2bNxEbG4tOnTqhZ8+eyMjIUF5z6tQpREREwMnJCWq1GjExMbhy5Yoy/+2338Lf3x/29vbo2rUrtFotbt68CQDIyclB//794ejoCBcXF4SEhOD8+fMAgIqKCowcORJqtRpOTk548cUXsW/fPoN8a2pqEBkZCXt7e3h7eyMtLQ09evTA2rVrlZj6+npMmTIF3bp1g7OzM4YNG4bi4uL/+Rxt2bIFvr6+sLOzg4+PDz777DNlrqqqChYWFkhPT8fLL78MBwcH9O3bF7m5uf/z8YiIqGOw2SIiIpNLSUmBm5sbjh49iunTp2Pq1KkYN24cBg0ahGPHjiEsLAwxMTG4desW6uvrMWzYMAQEBKCgoAB79uzBpUuXMH78eAB3m6GoqChMmjQJpaWlyMnJwZgxYyAi0Ol0GDVqFIYOHYoTJ04gNzcXcXFxsLCwAAA0Njbi1VdfRVZWFo4fP47hw4djxIgRqK6uVnJ944038PvvvyMnJwc7duzApk2bUFdXZ7CecePGoa6uDhkZGSgsLERgYCBCQ0Nx7dq1hz43qampWLx4MZYtW4bS0lIsX74cixYtQkpKikFcYmIiZs+ejaKiIjz77LOIioqCTqd76OMREVEHEiIiIhMaOnSoDB48WNnW6XTi6OgoMTExylhNTY0AkNzcXFm6dKmEhYUZ7OPChQsCQMrKyqSwsFAASFVVVZtjXb16VQBITk7OA+fn5+cnycnJIiJSWloqACQ/P1+ZP3v2rACQTz75REREfv75Z3F2dpbbt28b7OeZZ56RjRs3/tfjffDBB9K3b1+D16WlpRnELF26VIKDg0VEpLKyUgDIli1blPmSkhIBIKWlpQ+8TiIi6ngq07V5REREd/Xp00d5bmVlha5du8Lf318ZU6vVAIC6ujoUFxdj//79cHJyarOfiooKhIWFITQ0FP7+/ggPD0dYWBjGjh0LV1dXdOnSBRMnTkR4eDheeeUVaLVajB8/Hu7u7gDuXtlasmQJfvzxR9TU1ECn06GpqUm5slVWVgaVSoXAwEDlmD179oSrq6uyXVxcjMbGRnTt2tUgt6amJlRUVDzUebl58yYqKiowefJkvPnmm8q4TqdD586d73sO762nrq4OPj4+D3VMIiLqOGy2iIjI5KytrQ22LSwsDMbufc1Pr9ejsbERI0aMwIoVK9rsx93dHVZWVsjMzMSRI0ewd+9eJCcnIzExEXl5efD29sbWrVsxY8YM7NmzB1999RXef/99ZGZmYuDAgZg9ezYyMzPx8ccfo2fPnrC3t8fYsWPR3Nz8wGtpbGyEu7s7cnJy2sy5uLg88H7u7QsANm/ejAEDBhjMWVlZGWzf73wREZHpsNkiIiKzEhgYiB07dqBHjx5Qqdp/G7OwsEBISAhCQkKwePFieHl5YefOnZg1axYAICAgAAEBAViwYAGCg4ORlpaGgQMH4vDhw5g4cSJGjx4N4G6zU1VVpez3ueeeg06nw/Hjx9GvXz8AwK+//orr168b5FdbWwuVSoUePXr8rbWq1Wp4eHjg3LlziI6O/lv7IiKiR483yCAiIrMSHx+Pa9euISoqCvn5+aioqMBPP/2E2NhYtLa2Ii8vD8uXL0dBQQGqq6uRnp6Oy5cvw9fXF5WVlViwYAFyc3Nx/vx57N27F2fPnoWvry8AoFevXkhPT0dRURGKi4vx+uuvG1wd8vHxgVarRVxcHI4ePYrjx48jLi4O9vb2ytUkrVaL4OBgjBo1Cnv37kVVVRWOHDmCxMREFBQUPPR6P/zwQyQlJWHdunUoLy/HyZMnsXXrVqxZs6ZjTigRERkNr2wREZFZ8fDwwOHDhzFv3jyEhYXhzp078PLywvDhw2FpaQlnZ2ccPHgQa9euRUNDA7y8vLB69WpERETg0qVLOHPmDFJSUnD16lW4u7sjPj4eb731FgBgzZo1mDRpEgYNGgQ3NzfMmzcPDQ0NBsf//PPPMXnyZAwZMgQajQZJSUkoKSmBnZ0dgLtX1Xbv3o3ExETExsbi8uXL0Gg0GDJkiPLbs4cxZcoUODg4YNWqVZgzZw4cHR3h7++PhISEv30uiYjIuCxEREydBBERkbn67bff8NRTT2Hfvn0IDQ01dTpERPQYYbNFRET0ELKzs9HY2Ah/f3/U1NRg7ty5uHjxIsrLy9vc6IOIiP7d+JstIiKih9DS0oKFCxfCz88Po0ePRrdu3ZCTk/PAjZafnx+cnJzafaSmpho5eyIiepR4ZYuIiOgROn/+PFpaWtqdU6vV6NSp0yPOiIiIjIXNFhERERERkRHwa4RERERERERGwGaLiIiIiIjICNhsERERERERGQGbLSIiIiIiIiNgs0VERERERGQEbLaIiIiIiIiMgM0WERERERGREfwf1nCjeMfulYQ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4644" y="70861"/>
            <a:ext cx="7854712" cy="5001778"/>
          </a:xfrm>
          <a:prstGeom prst="rect">
            <a:avLst/>
          </a:prstGeom>
        </p:spPr>
      </p:pic>
    </p:spTree>
    <p:extLst>
      <p:ext uri="{BB962C8B-B14F-4D97-AF65-F5344CB8AC3E}">
        <p14:creationId xmlns:p14="http://schemas.microsoft.com/office/powerpoint/2010/main" val="31853767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600" b="1" dirty="0">
                <a:solidFill>
                  <a:schemeClr val="tx1"/>
                </a:solidFill>
              </a:rPr>
              <a:t>Words give it away</a:t>
            </a:r>
            <a:endParaRPr lang="en-US" sz="3600" dirty="0"/>
          </a:p>
        </p:txBody>
      </p:sp>
      <p:sp>
        <p:nvSpPr>
          <p:cNvPr id="4" name="Card Top spam words"/>
          <p:cNvSpPr/>
          <p:nvPr/>
        </p:nvSpPr>
        <p:spPr>
          <a:xfrm>
            <a:off x="457200" y="1188720"/>
            <a:ext cx="4023360" cy="3291840"/>
          </a:xfrm>
          <a:prstGeom prst="roundRect">
            <a:avLst>
              <a:gd name="adj" fmla="val 3333"/>
            </a:avLst>
          </a:prstGeom>
          <a:solidFill>
            <a:schemeClr val="bg2"/>
          </a:solidFill>
          <a:ln/>
        </p:spPr>
      </p:sp>
      <p:sp>
        <p:nvSpPr>
          <p:cNvPr id="5" name="Text 2"/>
          <p:cNvSpPr txBox="1"/>
          <p:nvPr/>
        </p:nvSpPr>
        <p:spPr>
          <a:xfrm>
            <a:off x="685800" y="1280160"/>
            <a:ext cx="3566160" cy="365760"/>
          </a:xfrm>
          <a:prstGeom prst="rect">
            <a:avLst/>
          </a:prstGeom>
          <a:noFill/>
          <a:ln/>
        </p:spPr>
        <p:txBody>
          <a:bodyPr wrap="square" lIns="0" tIns="0" rIns="0" bIns="0" rtlCol="0" anchor="ctr"/>
          <a:lstStyle/>
          <a:p>
            <a:pPr marL="0" indent="0">
              <a:buNone/>
            </a:pPr>
            <a:r>
              <a:rPr lang="en-US" sz="1600" b="1" dirty="0">
                <a:solidFill>
                  <a:schemeClr val="tx1"/>
                </a:solidFill>
              </a:rPr>
              <a:t>Top spam words</a:t>
            </a:r>
            <a:endParaRPr lang="en-US" sz="1600" dirty="0"/>
          </a:p>
        </p:txBody>
      </p:sp>
      <p:graphicFrame>
        <p:nvGraphicFramePr>
          <p:cNvPr id="6" name="Chart 0"/>
          <p:cNvGraphicFramePr/>
          <p:nvPr/>
        </p:nvGraphicFramePr>
        <p:xfrm>
          <a:off x="594360" y="1645920"/>
          <a:ext cx="374904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7" name="Card Top ham words"/>
          <p:cNvSpPr/>
          <p:nvPr/>
        </p:nvSpPr>
        <p:spPr>
          <a:xfrm>
            <a:off x="4663440" y="1188720"/>
            <a:ext cx="4023360" cy="3291840"/>
          </a:xfrm>
          <a:prstGeom prst="roundRect">
            <a:avLst>
              <a:gd name="adj" fmla="val 3333"/>
            </a:avLst>
          </a:prstGeom>
          <a:solidFill>
            <a:schemeClr val="bg2"/>
          </a:solidFill>
          <a:ln/>
        </p:spPr>
      </p:sp>
      <p:sp>
        <p:nvSpPr>
          <p:cNvPr id="8" name="Text 4"/>
          <p:cNvSpPr txBox="1"/>
          <p:nvPr/>
        </p:nvSpPr>
        <p:spPr>
          <a:xfrm>
            <a:off x="4892040" y="1280160"/>
            <a:ext cx="3566160" cy="365760"/>
          </a:xfrm>
          <a:prstGeom prst="rect">
            <a:avLst/>
          </a:prstGeom>
          <a:noFill/>
          <a:ln/>
        </p:spPr>
        <p:txBody>
          <a:bodyPr wrap="square" lIns="0" tIns="0" rIns="0" bIns="0" rtlCol="0" anchor="ctr"/>
          <a:lstStyle/>
          <a:p>
            <a:pPr marL="0" indent="0">
              <a:buNone/>
            </a:pPr>
            <a:r>
              <a:rPr lang="en-US" sz="1600" b="1" dirty="0">
                <a:solidFill>
                  <a:schemeClr val="tx1"/>
                </a:solidFill>
              </a:rPr>
              <a:t>Top ham words</a:t>
            </a:r>
            <a:endParaRPr lang="en-US" sz="1600" dirty="0"/>
          </a:p>
        </p:txBody>
      </p:sp>
      <p:graphicFrame>
        <p:nvGraphicFramePr>
          <p:cNvPr id="9" name="Chart 1"/>
          <p:cNvGraphicFramePr/>
          <p:nvPr/>
        </p:nvGraphicFramePr>
        <p:xfrm>
          <a:off x="4800600" y="1645920"/>
          <a:ext cx="374904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 5"/>
          <p:cNvSpPr txBox="1"/>
          <p:nvPr/>
        </p:nvSpPr>
        <p:spPr>
          <a:xfrm>
            <a:off x="457200" y="4526280"/>
            <a:ext cx="4572000" cy="228600"/>
          </a:xfrm>
          <a:prstGeom prst="rect">
            <a:avLst/>
          </a:prstGeom>
          <a:noFill/>
          <a:ln/>
        </p:spPr>
        <p:txBody>
          <a:bodyPr wrap="square" lIns="0" tIns="0" rIns="0" bIns="0" rtlCol="0" anchor="ctr"/>
          <a:lstStyle/>
          <a:p>
            <a:pPr marL="0" indent="0">
              <a:buNone/>
            </a:pPr>
            <a:r>
              <a:rPr lang="en-US" sz="1000" i="1" dirty="0">
                <a:solidFill>
                  <a:schemeClr val="accent4"/>
                </a:solidFill>
              </a:rPr>
              <a:t>Fillers like “u”, “ur”, “2” excluded</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8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95159"/>
            <a:ext cx="9144000" cy="2353182"/>
          </a:xfrm>
          <a:prstGeom prst="rect">
            <a:avLst/>
          </a:prstGeom>
        </p:spPr>
      </p:pic>
    </p:spTree>
    <p:extLst>
      <p:ext uri="{BB962C8B-B14F-4D97-AF65-F5344CB8AC3E}">
        <p14:creationId xmlns:p14="http://schemas.microsoft.com/office/powerpoint/2010/main" val="38681668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600" b="1" dirty="0">
                <a:solidFill>
                  <a:schemeClr val="tx1"/>
                </a:solidFill>
              </a:rPr>
              <a:t>From raw text to features</a:t>
            </a:r>
            <a:endParaRPr lang="en-US" sz="3600" dirty="0"/>
          </a:p>
        </p:txBody>
      </p:sp>
      <p:sp>
        <p:nvSpPr>
          <p:cNvPr id="4" name="Step 1"/>
          <p:cNvSpPr/>
          <p:nvPr/>
        </p:nvSpPr>
        <p:spPr>
          <a:xfrm>
            <a:off x="457200" y="1234440"/>
            <a:ext cx="1234440" cy="1417320"/>
          </a:xfrm>
          <a:prstGeom prst="roundRect">
            <a:avLst>
              <a:gd name="adj" fmla="val 8889"/>
            </a:avLst>
          </a:prstGeom>
          <a:solidFill>
            <a:schemeClr val="bg2"/>
          </a:solidFill>
          <a:ln/>
        </p:spPr>
      </p:sp>
      <p:sp>
        <p:nvSpPr>
          <p:cNvPr id="5" name="Step badge 1"/>
          <p:cNvSpPr/>
          <p:nvPr/>
        </p:nvSpPr>
        <p:spPr>
          <a:xfrm>
            <a:off x="868680" y="1371600"/>
            <a:ext cx="411480" cy="411480"/>
          </a:xfrm>
          <a:prstGeom prst="ellipse">
            <a:avLst/>
          </a:prstGeom>
          <a:solidFill>
            <a:schemeClr val="tx2"/>
          </a:solidFill>
          <a:ln/>
        </p:spPr>
      </p:sp>
      <p:sp>
        <p:nvSpPr>
          <p:cNvPr id="6" name="Text 3"/>
          <p:cNvSpPr txBox="1"/>
          <p:nvPr/>
        </p:nvSpPr>
        <p:spPr>
          <a:xfrm>
            <a:off x="868680" y="1371600"/>
            <a:ext cx="411480" cy="411480"/>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7" name="Text 4"/>
          <p:cNvSpPr txBox="1"/>
          <p:nvPr/>
        </p:nvSpPr>
        <p:spPr>
          <a:xfrm>
            <a:off x="530352" y="1874520"/>
            <a:ext cx="1088136" cy="731520"/>
          </a:xfrm>
          <a:prstGeom prst="rect">
            <a:avLst/>
          </a:prstGeom>
          <a:noFill/>
          <a:ln/>
        </p:spPr>
        <p:txBody>
          <a:bodyPr wrap="square" lIns="0" tIns="0" rIns="0" bIns="0" rtlCol="0" anchor="t"/>
          <a:lstStyle/>
          <a:p>
            <a:pPr marL="0" indent="0" algn="ctr">
              <a:buNone/>
            </a:pPr>
            <a:r>
              <a:rPr lang="en-US" sz="1400" b="1" dirty="0">
                <a:solidFill>
                  <a:schemeClr val="tx1"/>
                </a:solidFill>
              </a:rPr>
              <a:t>Lowercase</a:t>
            </a:r>
            <a:endParaRPr lang="en-US" sz="1400" dirty="0"/>
          </a:p>
        </p:txBody>
      </p:sp>
      <p:sp>
        <p:nvSpPr>
          <p:cNvPr id="8" name="Step 2"/>
          <p:cNvSpPr/>
          <p:nvPr/>
        </p:nvSpPr>
        <p:spPr>
          <a:xfrm>
            <a:off x="1856232" y="1234440"/>
            <a:ext cx="1234440" cy="1417320"/>
          </a:xfrm>
          <a:prstGeom prst="roundRect">
            <a:avLst>
              <a:gd name="adj" fmla="val 8889"/>
            </a:avLst>
          </a:prstGeom>
          <a:solidFill>
            <a:schemeClr val="bg2"/>
          </a:solidFill>
          <a:ln/>
        </p:spPr>
      </p:sp>
      <p:sp>
        <p:nvSpPr>
          <p:cNvPr id="9" name="Step badge 2"/>
          <p:cNvSpPr/>
          <p:nvPr/>
        </p:nvSpPr>
        <p:spPr>
          <a:xfrm>
            <a:off x="2267712" y="1371600"/>
            <a:ext cx="411480" cy="411480"/>
          </a:xfrm>
          <a:prstGeom prst="ellipse">
            <a:avLst/>
          </a:prstGeom>
          <a:solidFill>
            <a:schemeClr val="tx2"/>
          </a:solidFill>
          <a:ln/>
        </p:spPr>
      </p:sp>
      <p:sp>
        <p:nvSpPr>
          <p:cNvPr id="10" name="Text 7"/>
          <p:cNvSpPr txBox="1"/>
          <p:nvPr/>
        </p:nvSpPr>
        <p:spPr>
          <a:xfrm>
            <a:off x="2267712" y="1371600"/>
            <a:ext cx="411480" cy="411480"/>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1" name="Text 8"/>
          <p:cNvSpPr txBox="1"/>
          <p:nvPr/>
        </p:nvSpPr>
        <p:spPr>
          <a:xfrm>
            <a:off x="1929384" y="1874520"/>
            <a:ext cx="1088136" cy="731520"/>
          </a:xfrm>
          <a:prstGeom prst="rect">
            <a:avLst/>
          </a:prstGeom>
          <a:noFill/>
          <a:ln/>
        </p:spPr>
        <p:txBody>
          <a:bodyPr wrap="square" lIns="0" tIns="0" rIns="0" bIns="0" rtlCol="0" anchor="t"/>
          <a:lstStyle/>
          <a:p>
            <a:pPr marL="0" indent="0" algn="ctr">
              <a:buNone/>
            </a:pPr>
            <a:r>
              <a:rPr lang="en-US" sz="1400" b="1" dirty="0">
                <a:solidFill>
                  <a:schemeClr val="tx1"/>
                </a:solidFill>
              </a:rPr>
              <a:t>Remove punctuation</a:t>
            </a:r>
            <a:endParaRPr lang="en-US" sz="1400" dirty="0"/>
          </a:p>
        </p:txBody>
      </p:sp>
      <p:sp>
        <p:nvSpPr>
          <p:cNvPr id="12" name="Step 3"/>
          <p:cNvSpPr/>
          <p:nvPr/>
        </p:nvSpPr>
        <p:spPr>
          <a:xfrm>
            <a:off x="3255264" y="1234440"/>
            <a:ext cx="1234440" cy="1417320"/>
          </a:xfrm>
          <a:prstGeom prst="roundRect">
            <a:avLst>
              <a:gd name="adj" fmla="val 8889"/>
            </a:avLst>
          </a:prstGeom>
          <a:solidFill>
            <a:schemeClr val="bg2"/>
          </a:solidFill>
          <a:ln/>
        </p:spPr>
      </p:sp>
      <p:sp>
        <p:nvSpPr>
          <p:cNvPr id="13" name="Step badge 3"/>
          <p:cNvSpPr/>
          <p:nvPr/>
        </p:nvSpPr>
        <p:spPr>
          <a:xfrm>
            <a:off x="3666744" y="1371600"/>
            <a:ext cx="411480" cy="411480"/>
          </a:xfrm>
          <a:prstGeom prst="ellipse">
            <a:avLst/>
          </a:prstGeom>
          <a:solidFill>
            <a:schemeClr val="tx2"/>
          </a:solidFill>
          <a:ln/>
        </p:spPr>
      </p:sp>
      <p:sp>
        <p:nvSpPr>
          <p:cNvPr id="14" name="Text 11"/>
          <p:cNvSpPr txBox="1"/>
          <p:nvPr/>
        </p:nvSpPr>
        <p:spPr>
          <a:xfrm>
            <a:off x="3666744" y="1371600"/>
            <a:ext cx="411480" cy="411480"/>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5" name="Text 12"/>
          <p:cNvSpPr txBox="1"/>
          <p:nvPr/>
        </p:nvSpPr>
        <p:spPr>
          <a:xfrm>
            <a:off x="3328416" y="1874520"/>
            <a:ext cx="1088136" cy="731520"/>
          </a:xfrm>
          <a:prstGeom prst="rect">
            <a:avLst/>
          </a:prstGeom>
          <a:noFill/>
          <a:ln/>
        </p:spPr>
        <p:txBody>
          <a:bodyPr wrap="square" lIns="0" tIns="0" rIns="0" bIns="0" rtlCol="0" anchor="t"/>
          <a:lstStyle/>
          <a:p>
            <a:pPr marL="0" indent="0" algn="ctr">
              <a:buNone/>
            </a:pPr>
            <a:r>
              <a:rPr lang="en-US" sz="1400" b="1" dirty="0">
                <a:solidFill>
                  <a:schemeClr val="tx1"/>
                </a:solidFill>
              </a:rPr>
              <a:t>Tokenize</a:t>
            </a:r>
            <a:endParaRPr lang="en-US" sz="1400" dirty="0"/>
          </a:p>
        </p:txBody>
      </p:sp>
      <p:sp>
        <p:nvSpPr>
          <p:cNvPr id="16" name="Step 4"/>
          <p:cNvSpPr/>
          <p:nvPr/>
        </p:nvSpPr>
        <p:spPr>
          <a:xfrm>
            <a:off x="4654296" y="1234440"/>
            <a:ext cx="1234440" cy="1417320"/>
          </a:xfrm>
          <a:prstGeom prst="roundRect">
            <a:avLst>
              <a:gd name="adj" fmla="val 8889"/>
            </a:avLst>
          </a:prstGeom>
          <a:solidFill>
            <a:schemeClr val="bg2"/>
          </a:solidFill>
          <a:ln/>
        </p:spPr>
      </p:sp>
      <p:sp>
        <p:nvSpPr>
          <p:cNvPr id="17" name="Step badge 4"/>
          <p:cNvSpPr/>
          <p:nvPr/>
        </p:nvSpPr>
        <p:spPr>
          <a:xfrm>
            <a:off x="5065776" y="1371600"/>
            <a:ext cx="411480" cy="411480"/>
          </a:xfrm>
          <a:prstGeom prst="ellipse">
            <a:avLst/>
          </a:prstGeom>
          <a:solidFill>
            <a:schemeClr val="tx2"/>
          </a:solidFill>
          <a:ln/>
        </p:spPr>
      </p:sp>
      <p:sp>
        <p:nvSpPr>
          <p:cNvPr id="18" name="Text 15"/>
          <p:cNvSpPr txBox="1"/>
          <p:nvPr/>
        </p:nvSpPr>
        <p:spPr>
          <a:xfrm>
            <a:off x="5065776" y="1371600"/>
            <a:ext cx="411480" cy="411480"/>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19" name="Text 16"/>
          <p:cNvSpPr txBox="1"/>
          <p:nvPr/>
        </p:nvSpPr>
        <p:spPr>
          <a:xfrm>
            <a:off x="4727448" y="1874520"/>
            <a:ext cx="1088136" cy="731520"/>
          </a:xfrm>
          <a:prstGeom prst="rect">
            <a:avLst/>
          </a:prstGeom>
          <a:noFill/>
          <a:ln/>
        </p:spPr>
        <p:txBody>
          <a:bodyPr wrap="square" lIns="0" tIns="0" rIns="0" bIns="0" rtlCol="0" anchor="t"/>
          <a:lstStyle/>
          <a:p>
            <a:pPr marL="0" indent="0" algn="ctr">
              <a:buNone/>
            </a:pPr>
            <a:r>
              <a:rPr lang="en-US" sz="1400" b="1" dirty="0">
                <a:solidFill>
                  <a:schemeClr val="tx1"/>
                </a:solidFill>
              </a:rPr>
              <a:t>Drop stopwords</a:t>
            </a:r>
            <a:endParaRPr lang="en-US" sz="1400" dirty="0"/>
          </a:p>
        </p:txBody>
      </p:sp>
      <p:sp>
        <p:nvSpPr>
          <p:cNvPr id="20" name="Step 5"/>
          <p:cNvSpPr/>
          <p:nvPr/>
        </p:nvSpPr>
        <p:spPr>
          <a:xfrm>
            <a:off x="6053328" y="1234440"/>
            <a:ext cx="1234440" cy="1417320"/>
          </a:xfrm>
          <a:prstGeom prst="roundRect">
            <a:avLst>
              <a:gd name="adj" fmla="val 8889"/>
            </a:avLst>
          </a:prstGeom>
          <a:solidFill>
            <a:schemeClr val="bg2"/>
          </a:solidFill>
          <a:ln/>
        </p:spPr>
      </p:sp>
      <p:sp>
        <p:nvSpPr>
          <p:cNvPr id="21" name="Step badge 5"/>
          <p:cNvSpPr/>
          <p:nvPr/>
        </p:nvSpPr>
        <p:spPr>
          <a:xfrm>
            <a:off x="6464808" y="1371600"/>
            <a:ext cx="411480" cy="411480"/>
          </a:xfrm>
          <a:prstGeom prst="ellipse">
            <a:avLst/>
          </a:prstGeom>
          <a:solidFill>
            <a:schemeClr val="tx2"/>
          </a:solidFill>
          <a:ln/>
        </p:spPr>
      </p:sp>
      <p:sp>
        <p:nvSpPr>
          <p:cNvPr id="22" name="Text 19"/>
          <p:cNvSpPr txBox="1"/>
          <p:nvPr/>
        </p:nvSpPr>
        <p:spPr>
          <a:xfrm>
            <a:off x="6464808" y="1371600"/>
            <a:ext cx="411480" cy="411480"/>
          </a:xfrm>
          <a:prstGeom prst="rect">
            <a:avLst/>
          </a:prstGeom>
          <a:no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23" name="Text 20"/>
          <p:cNvSpPr txBox="1"/>
          <p:nvPr/>
        </p:nvSpPr>
        <p:spPr>
          <a:xfrm>
            <a:off x="6126480" y="1874520"/>
            <a:ext cx="1088136" cy="731520"/>
          </a:xfrm>
          <a:prstGeom prst="rect">
            <a:avLst/>
          </a:prstGeom>
          <a:noFill/>
          <a:ln/>
        </p:spPr>
        <p:txBody>
          <a:bodyPr wrap="square" lIns="0" tIns="0" rIns="0" bIns="0" rtlCol="0" anchor="t"/>
          <a:lstStyle/>
          <a:p>
            <a:pPr marL="0" indent="0" algn="ctr">
              <a:buNone/>
            </a:pPr>
            <a:r>
              <a:rPr lang="en-US" sz="1400" b="1" dirty="0">
                <a:solidFill>
                  <a:schemeClr val="tx1"/>
                </a:solidFill>
              </a:rPr>
              <a:t>Porter stemming</a:t>
            </a:r>
            <a:endParaRPr lang="en-US" sz="1400" dirty="0"/>
          </a:p>
        </p:txBody>
      </p:sp>
      <p:sp>
        <p:nvSpPr>
          <p:cNvPr id="24" name="Step 6"/>
          <p:cNvSpPr/>
          <p:nvPr/>
        </p:nvSpPr>
        <p:spPr>
          <a:xfrm>
            <a:off x="7452360" y="1234440"/>
            <a:ext cx="1234440" cy="1417320"/>
          </a:xfrm>
          <a:prstGeom prst="roundRect">
            <a:avLst>
              <a:gd name="adj" fmla="val 8889"/>
            </a:avLst>
          </a:prstGeom>
          <a:solidFill>
            <a:schemeClr val="bg2"/>
          </a:solidFill>
          <a:ln/>
        </p:spPr>
      </p:sp>
      <p:sp>
        <p:nvSpPr>
          <p:cNvPr id="25" name="Step badge 6"/>
          <p:cNvSpPr/>
          <p:nvPr/>
        </p:nvSpPr>
        <p:spPr>
          <a:xfrm>
            <a:off x="7863840" y="1371600"/>
            <a:ext cx="411480" cy="411480"/>
          </a:xfrm>
          <a:prstGeom prst="ellipse">
            <a:avLst/>
          </a:prstGeom>
          <a:solidFill>
            <a:schemeClr val="accent1"/>
          </a:solidFill>
          <a:ln/>
        </p:spPr>
      </p:sp>
      <p:sp>
        <p:nvSpPr>
          <p:cNvPr id="26" name="Text 23"/>
          <p:cNvSpPr txBox="1"/>
          <p:nvPr/>
        </p:nvSpPr>
        <p:spPr>
          <a:xfrm>
            <a:off x="7863840" y="1371600"/>
            <a:ext cx="411480" cy="411480"/>
          </a:xfrm>
          <a:prstGeom prst="rect">
            <a:avLst/>
          </a:prstGeom>
          <a:noFill/>
          <a:ln/>
        </p:spPr>
        <p:txBody>
          <a:bodyPr wrap="square" lIns="0" tIns="0" rIns="0" bIns="0" rtlCol="0" anchor="ctr"/>
          <a:lstStyle/>
          <a:p>
            <a:pPr marL="0" indent="0" algn="ctr">
              <a:buNone/>
            </a:pPr>
            <a:r>
              <a:rPr lang="en-US" sz="1400" b="1" dirty="0">
                <a:solidFill>
                  <a:schemeClr val="bg1"/>
                </a:solidFill>
              </a:rPr>
              <a:t>6</a:t>
            </a:r>
            <a:endParaRPr lang="en-US" sz="1400" dirty="0"/>
          </a:p>
        </p:txBody>
      </p:sp>
      <p:sp>
        <p:nvSpPr>
          <p:cNvPr id="27" name="Text 24"/>
          <p:cNvSpPr txBox="1"/>
          <p:nvPr/>
        </p:nvSpPr>
        <p:spPr>
          <a:xfrm>
            <a:off x="7525512" y="1874520"/>
            <a:ext cx="1088136" cy="731520"/>
          </a:xfrm>
          <a:prstGeom prst="rect">
            <a:avLst/>
          </a:prstGeom>
          <a:noFill/>
          <a:ln/>
        </p:spPr>
        <p:txBody>
          <a:bodyPr wrap="square" lIns="0" tIns="0" rIns="0" bIns="0" rtlCol="0" anchor="t"/>
          <a:lstStyle/>
          <a:p>
            <a:pPr marL="0" indent="0" algn="ctr">
              <a:buNone/>
            </a:pPr>
            <a:r>
              <a:rPr lang="en-US" sz="1400" b="1" dirty="0">
                <a:solidFill>
                  <a:schemeClr val="tx1"/>
                </a:solidFill>
              </a:rPr>
              <a:t>TF-IDF (5,000 features)</a:t>
            </a:r>
            <a:endParaRPr lang="en-US" sz="1400" dirty="0"/>
          </a:p>
        </p:txBody>
      </p:sp>
      <p:sp>
        <p:nvSpPr>
          <p:cNvPr id="28" name="Example card"/>
          <p:cNvSpPr/>
          <p:nvPr/>
        </p:nvSpPr>
        <p:spPr>
          <a:xfrm>
            <a:off x="457200" y="2926080"/>
            <a:ext cx="5394960" cy="1600200"/>
          </a:xfrm>
          <a:prstGeom prst="roundRect">
            <a:avLst>
              <a:gd name="adj" fmla="val 6857"/>
            </a:avLst>
          </a:prstGeom>
          <a:solidFill>
            <a:schemeClr val="bg2"/>
          </a:solidFill>
          <a:ln/>
        </p:spPr>
      </p:sp>
      <p:sp>
        <p:nvSpPr>
          <p:cNvPr id="29" name="Text 26"/>
          <p:cNvSpPr txBox="1"/>
          <p:nvPr/>
        </p:nvSpPr>
        <p:spPr>
          <a:xfrm>
            <a:off x="640080" y="2999232"/>
            <a:ext cx="914400" cy="274320"/>
          </a:xfrm>
          <a:prstGeom prst="rect">
            <a:avLst/>
          </a:prstGeom>
          <a:noFill/>
          <a:ln/>
        </p:spPr>
        <p:txBody>
          <a:bodyPr wrap="square" lIns="0" tIns="0" rIns="0" bIns="0" rtlCol="0" anchor="ctr"/>
          <a:lstStyle/>
          <a:p>
            <a:pPr marL="0" indent="0">
              <a:buNone/>
            </a:pPr>
            <a:r>
              <a:rPr lang="en-US" sz="1200" b="1" dirty="0">
                <a:solidFill>
                  <a:schemeClr val="accent4"/>
                </a:solidFill>
              </a:rPr>
              <a:t>Before</a:t>
            </a:r>
            <a:endParaRPr lang="en-US" sz="1200" dirty="0"/>
          </a:p>
        </p:txBody>
      </p:sp>
      <p:sp>
        <p:nvSpPr>
          <p:cNvPr id="30" name="Text 27"/>
          <p:cNvSpPr txBox="1"/>
          <p:nvPr/>
        </p:nvSpPr>
        <p:spPr>
          <a:xfrm>
            <a:off x="640080" y="3246120"/>
            <a:ext cx="5029200" cy="548640"/>
          </a:xfrm>
          <a:prstGeom prst="rect">
            <a:avLst/>
          </a:prstGeom>
          <a:noFill/>
          <a:ln/>
        </p:spPr>
        <p:txBody>
          <a:bodyPr wrap="square" lIns="0" tIns="0" rIns="0" bIns="0" rtlCol="0" anchor="t"/>
          <a:lstStyle/>
          <a:p>
            <a:pPr marL="0" indent="0">
              <a:buNone/>
            </a:pPr>
            <a:r>
              <a:rPr lang="en-US" sz="1200" dirty="0">
                <a:solidFill>
                  <a:schemeClr val="tx1"/>
                </a:solidFill>
              </a:rPr>
              <a:t>Go until jurong point, crazy.. Available only in bugis n great world la e buffet... Cine there got amore wat...</a:t>
            </a:r>
            <a:endParaRPr lang="en-US" sz="1200" dirty="0"/>
          </a:p>
        </p:txBody>
      </p:sp>
      <p:sp>
        <p:nvSpPr>
          <p:cNvPr id="31" name="Text 28"/>
          <p:cNvSpPr txBox="1"/>
          <p:nvPr/>
        </p:nvSpPr>
        <p:spPr>
          <a:xfrm>
            <a:off x="640080" y="3822192"/>
            <a:ext cx="914400" cy="274320"/>
          </a:xfrm>
          <a:prstGeom prst="rect">
            <a:avLst/>
          </a:prstGeom>
          <a:noFill/>
          <a:ln/>
        </p:spPr>
        <p:txBody>
          <a:bodyPr wrap="square" lIns="0" tIns="0" rIns="0" bIns="0" rtlCol="0" anchor="ctr"/>
          <a:lstStyle/>
          <a:p>
            <a:pPr marL="0" indent="0">
              <a:buNone/>
            </a:pPr>
            <a:r>
              <a:rPr lang="en-US" sz="1200" b="1" dirty="0">
                <a:solidFill>
                  <a:schemeClr val="accent2"/>
                </a:solidFill>
              </a:rPr>
              <a:t>After</a:t>
            </a:r>
            <a:endParaRPr lang="en-US" sz="1200" dirty="0"/>
          </a:p>
        </p:txBody>
      </p:sp>
      <p:sp>
        <p:nvSpPr>
          <p:cNvPr id="32" name="Text 29"/>
          <p:cNvSpPr txBox="1"/>
          <p:nvPr/>
        </p:nvSpPr>
        <p:spPr>
          <a:xfrm>
            <a:off x="640080" y="4050792"/>
            <a:ext cx="5029200" cy="411480"/>
          </a:xfrm>
          <a:prstGeom prst="rect">
            <a:avLst/>
          </a:prstGeom>
          <a:noFill/>
          <a:ln/>
        </p:spPr>
        <p:txBody>
          <a:bodyPr wrap="square" lIns="0" tIns="0" rIns="0" bIns="0" rtlCol="0" anchor="t"/>
          <a:lstStyle/>
          <a:p>
            <a:pPr marL="0" indent="0">
              <a:buNone/>
            </a:pPr>
            <a:r>
              <a:rPr lang="en-US" sz="1200" b="1" dirty="0">
                <a:solidFill>
                  <a:schemeClr val="tx1"/>
                </a:solidFill>
              </a:rPr>
              <a:t>go jurong point crazi avail bugi n great world la e buffet cine got amor wat</a:t>
            </a:r>
            <a:endParaRPr lang="en-US" sz="1200" dirty="0"/>
          </a:p>
        </p:txBody>
      </p:sp>
      <p:sp>
        <p:nvSpPr>
          <p:cNvPr id="33" name="Split card"/>
          <p:cNvSpPr/>
          <p:nvPr/>
        </p:nvSpPr>
        <p:spPr>
          <a:xfrm>
            <a:off x="6035040" y="2926080"/>
            <a:ext cx="2651760" cy="1600200"/>
          </a:xfrm>
          <a:prstGeom prst="roundRect">
            <a:avLst>
              <a:gd name="adj" fmla="val 6857"/>
            </a:avLst>
          </a:prstGeom>
          <a:solidFill>
            <a:schemeClr val="tx2"/>
          </a:solidFill>
          <a:ln/>
        </p:spPr>
      </p:sp>
      <p:sp>
        <p:nvSpPr>
          <p:cNvPr id="34" name="Text 31"/>
          <p:cNvSpPr txBox="1"/>
          <p:nvPr/>
        </p:nvSpPr>
        <p:spPr>
          <a:xfrm>
            <a:off x="6217920" y="3017520"/>
            <a:ext cx="2286000" cy="548640"/>
          </a:xfrm>
          <a:prstGeom prst="rect">
            <a:avLst/>
          </a:prstGeom>
          <a:noFill/>
          <a:ln/>
        </p:spPr>
        <p:txBody>
          <a:bodyPr wrap="square" lIns="0" tIns="0" rIns="0" bIns="0" rtlCol="0" anchor="ctr"/>
          <a:lstStyle/>
          <a:p>
            <a:pPr marL="0" indent="0">
              <a:buNone/>
            </a:pPr>
            <a:r>
              <a:rPr lang="en-US" sz="3600" b="1" dirty="0">
                <a:solidFill>
                  <a:schemeClr val="accent5"/>
                </a:solidFill>
              </a:rPr>
              <a:t>80 / 20</a:t>
            </a:r>
            <a:endParaRPr lang="en-US" sz="3600" dirty="0"/>
          </a:p>
        </p:txBody>
      </p:sp>
      <p:sp>
        <p:nvSpPr>
          <p:cNvPr id="35" name="Text 32"/>
          <p:cNvSpPr txBox="1"/>
          <p:nvPr/>
        </p:nvSpPr>
        <p:spPr>
          <a:xfrm>
            <a:off x="6217920" y="3566160"/>
            <a:ext cx="2286000" cy="274320"/>
          </a:xfrm>
          <a:prstGeom prst="rect">
            <a:avLst/>
          </a:prstGeom>
          <a:noFill/>
          <a:ln/>
        </p:spPr>
        <p:txBody>
          <a:bodyPr wrap="square" lIns="0" tIns="0" rIns="0" bIns="0" rtlCol="0" anchor="ctr"/>
          <a:lstStyle/>
          <a:p>
            <a:pPr marL="0" indent="0">
              <a:buNone/>
            </a:pPr>
            <a:r>
              <a:rPr lang="en-US" sz="1400" dirty="0">
                <a:solidFill>
                  <a:schemeClr val="bg1"/>
                </a:solidFill>
              </a:rPr>
              <a:t>stratified split</a:t>
            </a:r>
            <a:endParaRPr lang="en-US" sz="1400" dirty="0"/>
          </a:p>
        </p:txBody>
      </p:sp>
      <p:sp>
        <p:nvSpPr>
          <p:cNvPr id="36" name="Text 33"/>
          <p:cNvSpPr txBox="1"/>
          <p:nvPr/>
        </p:nvSpPr>
        <p:spPr>
          <a:xfrm>
            <a:off x="6217920" y="3977640"/>
            <a:ext cx="2286000" cy="365760"/>
          </a:xfrm>
          <a:prstGeom prst="rect">
            <a:avLst/>
          </a:prstGeom>
          <a:noFill/>
          <a:ln/>
        </p:spPr>
        <p:txBody>
          <a:bodyPr wrap="square" lIns="0" tIns="0" rIns="0" bIns="0" rtlCol="0" anchor="ctr"/>
          <a:lstStyle/>
          <a:p>
            <a:pPr marL="0" indent="0">
              <a:buNone/>
            </a:pPr>
            <a:r>
              <a:rPr lang="en-US" sz="1400" b="1" dirty="0">
                <a:solidFill>
                  <a:schemeClr val="bg1"/>
                </a:solidFill>
              </a:rPr>
              <a:t>4,457 train  ·  1,115 test</a:t>
            </a:r>
            <a:endParaRPr lang="en-US" sz="14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8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600" b="1" dirty="0">
                <a:solidFill>
                  <a:schemeClr val="tx1"/>
                </a:solidFill>
              </a:rPr>
              <a:t>Four models, one pipeline</a:t>
            </a:r>
            <a:endParaRPr lang="en-US" sz="3600" dirty="0"/>
          </a:p>
        </p:txBody>
      </p:sp>
      <p:sp>
        <p:nvSpPr>
          <p:cNvPr id="4" name="Model card Naive Bayes"/>
          <p:cNvSpPr/>
          <p:nvPr/>
        </p:nvSpPr>
        <p:spPr>
          <a:xfrm>
            <a:off x="457200" y="1234440"/>
            <a:ext cx="4023360" cy="1508760"/>
          </a:xfrm>
          <a:prstGeom prst="roundRect">
            <a:avLst>
              <a:gd name="adj" fmla="val 7273"/>
            </a:avLst>
          </a:prstGeom>
          <a:solidFill>
            <a:schemeClr val="bg2"/>
          </a:solidFill>
          <a:ln/>
        </p:spPr>
      </p:sp>
      <p:sp>
        <p:nvSpPr>
          <p:cNvPr id="5" name="Model badge 1"/>
          <p:cNvSpPr/>
          <p:nvPr/>
        </p:nvSpPr>
        <p:spPr>
          <a:xfrm>
            <a:off x="685800" y="1463040"/>
            <a:ext cx="457200" cy="457200"/>
          </a:xfrm>
          <a:prstGeom prst="ellipse">
            <a:avLst/>
          </a:prstGeom>
          <a:solidFill>
            <a:schemeClr val="tx2"/>
          </a:solidFill>
          <a:ln/>
        </p:spPr>
      </p:sp>
      <p:sp>
        <p:nvSpPr>
          <p:cNvPr id="6" name="Text 3"/>
          <p:cNvSpPr txBox="1"/>
          <p:nvPr/>
        </p:nvSpPr>
        <p:spPr>
          <a:xfrm>
            <a:off x="685800" y="146304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7" name="Text 4"/>
          <p:cNvSpPr txBox="1"/>
          <p:nvPr/>
        </p:nvSpPr>
        <p:spPr>
          <a:xfrm>
            <a:off x="1325880" y="1417320"/>
            <a:ext cx="3017520" cy="365760"/>
          </a:xfrm>
          <a:prstGeom prst="rect">
            <a:avLst/>
          </a:prstGeom>
          <a:noFill/>
          <a:ln/>
        </p:spPr>
        <p:txBody>
          <a:bodyPr wrap="square" lIns="0" tIns="0" rIns="0" bIns="0" rtlCol="0" anchor="ctr"/>
          <a:lstStyle/>
          <a:p>
            <a:pPr marL="0" indent="0">
              <a:buNone/>
            </a:pPr>
            <a:r>
              <a:rPr lang="en-US" sz="2000" b="1" dirty="0">
                <a:solidFill>
                  <a:schemeClr val="tx1"/>
                </a:solidFill>
              </a:rPr>
              <a:t>Naive Bayes</a:t>
            </a:r>
            <a:endParaRPr lang="en-US" sz="2000" dirty="0"/>
          </a:p>
        </p:txBody>
      </p:sp>
      <p:sp>
        <p:nvSpPr>
          <p:cNvPr id="8" name="Text 5"/>
          <p:cNvSpPr txBox="1"/>
          <p:nvPr/>
        </p:nvSpPr>
        <p:spPr>
          <a:xfrm>
            <a:off x="1325880" y="1783080"/>
            <a:ext cx="3017520" cy="274320"/>
          </a:xfrm>
          <a:prstGeom prst="rect">
            <a:avLst/>
          </a:prstGeom>
          <a:noFill/>
          <a:ln/>
        </p:spPr>
        <p:txBody>
          <a:bodyPr wrap="square" lIns="0" tIns="0" rIns="0" bIns="0" rtlCol="0" anchor="ctr"/>
          <a:lstStyle/>
          <a:p>
            <a:pPr marL="0" indent="0">
              <a:buNone/>
            </a:pPr>
            <a:r>
              <a:rPr lang="en-US" sz="1200" dirty="0">
                <a:solidFill>
                  <a:schemeClr val="accent4"/>
                </a:solidFill>
              </a:rPr>
              <a:t>MultinomialNB</a:t>
            </a:r>
            <a:endParaRPr lang="en-US" sz="1200" dirty="0"/>
          </a:p>
        </p:txBody>
      </p:sp>
      <p:sp>
        <p:nvSpPr>
          <p:cNvPr id="9" name="Text 6"/>
          <p:cNvSpPr txBox="1"/>
          <p:nvPr/>
        </p:nvSpPr>
        <p:spPr>
          <a:xfrm>
            <a:off x="685800" y="2148840"/>
            <a:ext cx="3611880" cy="457200"/>
          </a:xfrm>
          <a:prstGeom prst="rect">
            <a:avLst/>
          </a:prstGeom>
          <a:noFill/>
          <a:ln/>
        </p:spPr>
        <p:txBody>
          <a:bodyPr wrap="square" lIns="0" tIns="0" rIns="0" bIns="0" rtlCol="0" anchor="t"/>
          <a:lstStyle/>
          <a:p>
            <a:pPr marL="0" indent="0">
              <a:buNone/>
            </a:pPr>
            <a:r>
              <a:rPr lang="en-US" sz="1400" dirty="0">
                <a:solidFill>
                  <a:schemeClr val="tx1"/>
                </a:solidFill>
              </a:rPr>
              <a:t>Fast word-probability baseline</a:t>
            </a:r>
            <a:endParaRPr lang="en-US" sz="1400" dirty="0"/>
          </a:p>
        </p:txBody>
      </p:sp>
      <p:sp>
        <p:nvSpPr>
          <p:cNvPr id="10" name="Model card Logistic Regression"/>
          <p:cNvSpPr/>
          <p:nvPr/>
        </p:nvSpPr>
        <p:spPr>
          <a:xfrm>
            <a:off x="4663440" y="1234440"/>
            <a:ext cx="4023360" cy="1508760"/>
          </a:xfrm>
          <a:prstGeom prst="roundRect">
            <a:avLst>
              <a:gd name="adj" fmla="val 7273"/>
            </a:avLst>
          </a:prstGeom>
          <a:solidFill>
            <a:schemeClr val="bg2"/>
          </a:solidFill>
          <a:ln/>
        </p:spPr>
      </p:sp>
      <p:sp>
        <p:nvSpPr>
          <p:cNvPr id="11" name="Model badge 2"/>
          <p:cNvSpPr/>
          <p:nvPr/>
        </p:nvSpPr>
        <p:spPr>
          <a:xfrm>
            <a:off x="4892040" y="1463040"/>
            <a:ext cx="457200" cy="457200"/>
          </a:xfrm>
          <a:prstGeom prst="ellipse">
            <a:avLst/>
          </a:prstGeom>
          <a:solidFill>
            <a:schemeClr val="tx2"/>
          </a:solidFill>
          <a:ln/>
        </p:spPr>
      </p:sp>
      <p:sp>
        <p:nvSpPr>
          <p:cNvPr id="12" name="Text 9"/>
          <p:cNvSpPr txBox="1"/>
          <p:nvPr/>
        </p:nvSpPr>
        <p:spPr>
          <a:xfrm>
            <a:off x="4892040" y="146304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3" name="Text 10"/>
          <p:cNvSpPr txBox="1"/>
          <p:nvPr/>
        </p:nvSpPr>
        <p:spPr>
          <a:xfrm>
            <a:off x="5532120" y="1417320"/>
            <a:ext cx="3017520" cy="365760"/>
          </a:xfrm>
          <a:prstGeom prst="rect">
            <a:avLst/>
          </a:prstGeom>
          <a:noFill/>
          <a:ln/>
        </p:spPr>
        <p:txBody>
          <a:bodyPr wrap="square" lIns="0" tIns="0" rIns="0" bIns="0" rtlCol="0" anchor="ctr"/>
          <a:lstStyle/>
          <a:p>
            <a:pPr marL="0" indent="0">
              <a:buNone/>
            </a:pPr>
            <a:r>
              <a:rPr lang="en-US" sz="2000" b="1" dirty="0">
                <a:solidFill>
                  <a:schemeClr val="tx1"/>
                </a:solidFill>
              </a:rPr>
              <a:t>Logistic Regression</a:t>
            </a:r>
            <a:endParaRPr lang="en-US" sz="2000" dirty="0"/>
          </a:p>
        </p:txBody>
      </p:sp>
      <p:sp>
        <p:nvSpPr>
          <p:cNvPr id="14" name="Text 11"/>
          <p:cNvSpPr txBox="1"/>
          <p:nvPr/>
        </p:nvSpPr>
        <p:spPr>
          <a:xfrm>
            <a:off x="5532120" y="1783080"/>
            <a:ext cx="3017520" cy="274320"/>
          </a:xfrm>
          <a:prstGeom prst="rect">
            <a:avLst/>
          </a:prstGeom>
          <a:noFill/>
          <a:ln/>
        </p:spPr>
        <p:txBody>
          <a:bodyPr wrap="square" lIns="0" tIns="0" rIns="0" bIns="0" rtlCol="0" anchor="ctr"/>
          <a:lstStyle/>
          <a:p>
            <a:pPr marL="0" indent="0">
              <a:buNone/>
            </a:pPr>
            <a:r>
              <a:rPr lang="en-US" sz="1200" dirty="0">
                <a:solidFill>
                  <a:schemeClr val="accent4"/>
                </a:solidFill>
              </a:rPr>
              <a:t>max_iter = 1000</a:t>
            </a:r>
            <a:endParaRPr lang="en-US" sz="1200" dirty="0"/>
          </a:p>
        </p:txBody>
      </p:sp>
      <p:sp>
        <p:nvSpPr>
          <p:cNvPr id="15" name="Text 12"/>
          <p:cNvSpPr txBox="1"/>
          <p:nvPr/>
        </p:nvSpPr>
        <p:spPr>
          <a:xfrm>
            <a:off x="4892040" y="2148840"/>
            <a:ext cx="3611880" cy="457200"/>
          </a:xfrm>
          <a:prstGeom prst="rect">
            <a:avLst/>
          </a:prstGeom>
          <a:noFill/>
          <a:ln/>
        </p:spPr>
        <p:txBody>
          <a:bodyPr wrap="square" lIns="0" tIns="0" rIns="0" bIns="0" rtlCol="0" anchor="t"/>
          <a:lstStyle/>
          <a:p>
            <a:pPr marL="0" indent="0">
              <a:buNone/>
            </a:pPr>
            <a:r>
              <a:rPr lang="en-US" sz="1400" dirty="0">
                <a:solidFill>
                  <a:schemeClr val="tx1"/>
                </a:solidFill>
              </a:rPr>
              <a:t>Linear model with interpretable weights</a:t>
            </a:r>
            <a:endParaRPr lang="en-US" sz="1400" dirty="0"/>
          </a:p>
        </p:txBody>
      </p:sp>
      <p:sp>
        <p:nvSpPr>
          <p:cNvPr id="16" name="Model card SVM"/>
          <p:cNvSpPr/>
          <p:nvPr/>
        </p:nvSpPr>
        <p:spPr>
          <a:xfrm>
            <a:off x="457200" y="2926080"/>
            <a:ext cx="4023360" cy="1508760"/>
          </a:xfrm>
          <a:prstGeom prst="roundRect">
            <a:avLst>
              <a:gd name="adj" fmla="val 7273"/>
            </a:avLst>
          </a:prstGeom>
          <a:solidFill>
            <a:schemeClr val="bg2"/>
          </a:solidFill>
          <a:ln/>
        </p:spPr>
      </p:sp>
      <p:sp>
        <p:nvSpPr>
          <p:cNvPr id="17" name="Model badge 3"/>
          <p:cNvSpPr/>
          <p:nvPr/>
        </p:nvSpPr>
        <p:spPr>
          <a:xfrm>
            <a:off x="685800" y="3154680"/>
            <a:ext cx="457200" cy="457200"/>
          </a:xfrm>
          <a:prstGeom prst="ellipse">
            <a:avLst/>
          </a:prstGeom>
          <a:solidFill>
            <a:schemeClr val="tx2"/>
          </a:solidFill>
          <a:ln/>
        </p:spPr>
      </p:sp>
      <p:sp>
        <p:nvSpPr>
          <p:cNvPr id="18" name="Text 15"/>
          <p:cNvSpPr txBox="1"/>
          <p:nvPr/>
        </p:nvSpPr>
        <p:spPr>
          <a:xfrm>
            <a:off x="685800" y="315468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9" name="Text 16"/>
          <p:cNvSpPr txBox="1"/>
          <p:nvPr/>
        </p:nvSpPr>
        <p:spPr>
          <a:xfrm>
            <a:off x="1325880" y="3108960"/>
            <a:ext cx="3017520" cy="365760"/>
          </a:xfrm>
          <a:prstGeom prst="rect">
            <a:avLst/>
          </a:prstGeom>
          <a:noFill/>
          <a:ln/>
        </p:spPr>
        <p:txBody>
          <a:bodyPr wrap="square" lIns="0" tIns="0" rIns="0" bIns="0" rtlCol="0" anchor="ctr"/>
          <a:lstStyle/>
          <a:p>
            <a:pPr marL="0" indent="0">
              <a:buNone/>
            </a:pPr>
            <a:r>
              <a:rPr lang="en-US" sz="2000" b="1" dirty="0">
                <a:solidFill>
                  <a:schemeClr val="tx1"/>
                </a:solidFill>
              </a:rPr>
              <a:t>SVM</a:t>
            </a:r>
            <a:endParaRPr lang="en-US" sz="2000" dirty="0"/>
          </a:p>
        </p:txBody>
      </p:sp>
      <p:sp>
        <p:nvSpPr>
          <p:cNvPr id="20" name="Text 17"/>
          <p:cNvSpPr txBox="1"/>
          <p:nvPr/>
        </p:nvSpPr>
        <p:spPr>
          <a:xfrm>
            <a:off x="1325880" y="3474720"/>
            <a:ext cx="3017520" cy="274320"/>
          </a:xfrm>
          <a:prstGeom prst="rect">
            <a:avLst/>
          </a:prstGeom>
          <a:noFill/>
          <a:ln/>
        </p:spPr>
        <p:txBody>
          <a:bodyPr wrap="square" lIns="0" tIns="0" rIns="0" bIns="0" rtlCol="0" anchor="ctr"/>
          <a:lstStyle/>
          <a:p>
            <a:pPr marL="0" indent="0">
              <a:buNone/>
            </a:pPr>
            <a:r>
              <a:rPr lang="en-US" sz="1200" dirty="0">
                <a:solidFill>
                  <a:schemeClr val="accent4"/>
                </a:solidFill>
              </a:rPr>
              <a:t>Linear kernel</a:t>
            </a:r>
            <a:endParaRPr lang="en-US" sz="1200" dirty="0"/>
          </a:p>
        </p:txBody>
      </p:sp>
      <p:sp>
        <p:nvSpPr>
          <p:cNvPr id="21" name="Text 18"/>
          <p:cNvSpPr txBox="1"/>
          <p:nvPr/>
        </p:nvSpPr>
        <p:spPr>
          <a:xfrm>
            <a:off x="685800" y="3840480"/>
            <a:ext cx="3611880" cy="457200"/>
          </a:xfrm>
          <a:prstGeom prst="rect">
            <a:avLst/>
          </a:prstGeom>
          <a:noFill/>
          <a:ln/>
        </p:spPr>
        <p:txBody>
          <a:bodyPr wrap="square" lIns="0" tIns="0" rIns="0" bIns="0" rtlCol="0" anchor="t"/>
          <a:lstStyle/>
          <a:p>
            <a:pPr marL="0" indent="0">
              <a:buNone/>
            </a:pPr>
            <a:r>
              <a:rPr lang="en-US" sz="1400" dirty="0">
                <a:solidFill>
                  <a:schemeClr val="tx1"/>
                </a:solidFill>
              </a:rPr>
              <a:t>Maximum-margin linear separator</a:t>
            </a:r>
            <a:endParaRPr lang="en-US" sz="1400" dirty="0"/>
          </a:p>
        </p:txBody>
      </p:sp>
      <p:sp>
        <p:nvSpPr>
          <p:cNvPr id="22" name="Model card Random Forest"/>
          <p:cNvSpPr/>
          <p:nvPr/>
        </p:nvSpPr>
        <p:spPr>
          <a:xfrm>
            <a:off x="4663440" y="2926080"/>
            <a:ext cx="4023360" cy="1508760"/>
          </a:xfrm>
          <a:prstGeom prst="roundRect">
            <a:avLst>
              <a:gd name="adj" fmla="val 7273"/>
            </a:avLst>
          </a:prstGeom>
          <a:solidFill>
            <a:schemeClr val="bg2"/>
          </a:solidFill>
          <a:ln/>
        </p:spPr>
      </p:sp>
      <p:sp>
        <p:nvSpPr>
          <p:cNvPr id="23" name="Model badge 4"/>
          <p:cNvSpPr/>
          <p:nvPr/>
        </p:nvSpPr>
        <p:spPr>
          <a:xfrm>
            <a:off x="4892040" y="3154680"/>
            <a:ext cx="457200" cy="457200"/>
          </a:xfrm>
          <a:prstGeom prst="ellipse">
            <a:avLst/>
          </a:prstGeom>
          <a:solidFill>
            <a:schemeClr val="tx2"/>
          </a:solidFill>
          <a:ln/>
        </p:spPr>
      </p:sp>
      <p:sp>
        <p:nvSpPr>
          <p:cNvPr id="24" name="Text 21"/>
          <p:cNvSpPr txBox="1"/>
          <p:nvPr/>
        </p:nvSpPr>
        <p:spPr>
          <a:xfrm>
            <a:off x="4892040" y="315468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25" name="Text 22"/>
          <p:cNvSpPr txBox="1"/>
          <p:nvPr/>
        </p:nvSpPr>
        <p:spPr>
          <a:xfrm>
            <a:off x="5532120" y="3108960"/>
            <a:ext cx="3017520" cy="365760"/>
          </a:xfrm>
          <a:prstGeom prst="rect">
            <a:avLst/>
          </a:prstGeom>
          <a:noFill/>
          <a:ln/>
        </p:spPr>
        <p:txBody>
          <a:bodyPr wrap="square" lIns="0" tIns="0" rIns="0" bIns="0" rtlCol="0" anchor="ctr"/>
          <a:lstStyle/>
          <a:p>
            <a:pPr marL="0" indent="0">
              <a:buNone/>
            </a:pPr>
            <a:r>
              <a:rPr lang="en-US" sz="2000" b="1" dirty="0">
                <a:solidFill>
                  <a:schemeClr val="tx1"/>
                </a:solidFill>
              </a:rPr>
              <a:t>Random Forest</a:t>
            </a:r>
            <a:endParaRPr lang="en-US" sz="2000" dirty="0"/>
          </a:p>
        </p:txBody>
      </p:sp>
      <p:sp>
        <p:nvSpPr>
          <p:cNvPr id="26" name="Text 23"/>
          <p:cNvSpPr txBox="1"/>
          <p:nvPr/>
        </p:nvSpPr>
        <p:spPr>
          <a:xfrm>
            <a:off x="5532120" y="3474720"/>
            <a:ext cx="3017520" cy="274320"/>
          </a:xfrm>
          <a:prstGeom prst="rect">
            <a:avLst/>
          </a:prstGeom>
          <a:noFill/>
          <a:ln/>
        </p:spPr>
        <p:txBody>
          <a:bodyPr wrap="square" lIns="0" tIns="0" rIns="0" bIns="0" rtlCol="0" anchor="ctr"/>
          <a:lstStyle/>
          <a:p>
            <a:pPr marL="0" indent="0">
              <a:buNone/>
            </a:pPr>
            <a:r>
              <a:rPr lang="en-US" sz="1200" dirty="0">
                <a:solidFill>
                  <a:schemeClr val="accent4"/>
                </a:solidFill>
              </a:rPr>
              <a:t>100 trees</a:t>
            </a:r>
            <a:endParaRPr lang="en-US" sz="1200" dirty="0"/>
          </a:p>
        </p:txBody>
      </p:sp>
      <p:sp>
        <p:nvSpPr>
          <p:cNvPr id="27" name="Text 24"/>
          <p:cNvSpPr txBox="1"/>
          <p:nvPr/>
        </p:nvSpPr>
        <p:spPr>
          <a:xfrm>
            <a:off x="4892040" y="3840480"/>
            <a:ext cx="3611880" cy="457200"/>
          </a:xfrm>
          <a:prstGeom prst="rect">
            <a:avLst/>
          </a:prstGeom>
          <a:noFill/>
          <a:ln/>
        </p:spPr>
        <p:txBody>
          <a:bodyPr wrap="square" lIns="0" tIns="0" rIns="0" bIns="0" rtlCol="0" anchor="t"/>
          <a:lstStyle/>
          <a:p>
            <a:pPr marL="0" indent="0">
              <a:buNone/>
            </a:pPr>
            <a:r>
              <a:rPr lang="en-US" sz="1400" dirty="0">
                <a:solidFill>
                  <a:schemeClr val="tx1"/>
                </a:solidFill>
              </a:rPr>
              <a:t>Ensemble of decision trees</a:t>
            </a:r>
            <a:endParaRPr lang="en-US" sz="14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8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600" b="1" dirty="0">
                <a:solidFill>
                  <a:schemeClr val="tx1"/>
                </a:solidFill>
              </a:rPr>
              <a:t>SVM leads on accuracy</a:t>
            </a:r>
            <a:endParaRPr lang="en-US" sz="3600" dirty="0"/>
          </a:p>
        </p:txBody>
      </p:sp>
      <p:graphicFrame>
        <p:nvGraphicFramePr>
          <p:cNvPr id="4" name="Chart 0"/>
          <p:cNvGraphicFramePr/>
          <p:nvPr/>
        </p:nvGraphicFramePr>
        <p:xfrm>
          <a:off x="457200" y="1188720"/>
          <a:ext cx="512064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5" name="Callout accuracy"/>
          <p:cNvSpPr/>
          <p:nvPr/>
        </p:nvSpPr>
        <p:spPr>
          <a:xfrm>
            <a:off x="5852160" y="1280160"/>
            <a:ext cx="2834640" cy="1463040"/>
          </a:xfrm>
          <a:prstGeom prst="roundRect">
            <a:avLst>
              <a:gd name="adj" fmla="val 7500"/>
            </a:avLst>
          </a:prstGeom>
          <a:solidFill>
            <a:schemeClr val="tx2"/>
          </a:solidFill>
          <a:ln/>
        </p:spPr>
      </p:sp>
      <p:sp>
        <p:nvSpPr>
          <p:cNvPr id="6" name="Text 2"/>
          <p:cNvSpPr txBox="1"/>
          <p:nvPr/>
        </p:nvSpPr>
        <p:spPr>
          <a:xfrm>
            <a:off x="6035040" y="1371600"/>
            <a:ext cx="2468880" cy="731520"/>
          </a:xfrm>
          <a:prstGeom prst="rect">
            <a:avLst/>
          </a:prstGeom>
          <a:noFill/>
          <a:ln/>
        </p:spPr>
        <p:txBody>
          <a:bodyPr wrap="square" lIns="0" tIns="0" rIns="0" bIns="0" rtlCol="0" anchor="ctr"/>
          <a:lstStyle/>
          <a:p>
            <a:pPr marL="0" indent="0">
              <a:buNone/>
            </a:pPr>
            <a:r>
              <a:rPr lang="en-US" sz="4400" b="1" dirty="0">
                <a:solidFill>
                  <a:schemeClr val="accent3"/>
                </a:solidFill>
              </a:rPr>
              <a:t>98.2%</a:t>
            </a:r>
            <a:endParaRPr lang="en-US" sz="4400" dirty="0"/>
          </a:p>
        </p:txBody>
      </p:sp>
      <p:sp>
        <p:nvSpPr>
          <p:cNvPr id="7" name="Text 3"/>
          <p:cNvSpPr txBox="1"/>
          <p:nvPr/>
        </p:nvSpPr>
        <p:spPr>
          <a:xfrm>
            <a:off x="6035040" y="2103120"/>
            <a:ext cx="2468880" cy="548640"/>
          </a:xfrm>
          <a:prstGeom prst="rect">
            <a:avLst/>
          </a:prstGeom>
          <a:noFill/>
          <a:ln/>
        </p:spPr>
        <p:txBody>
          <a:bodyPr wrap="square" lIns="0" tIns="0" rIns="0" bIns="0" rtlCol="0" anchor="t"/>
          <a:lstStyle/>
          <a:p>
            <a:pPr marL="0" indent="0">
              <a:buNone/>
            </a:pPr>
            <a:r>
              <a:rPr lang="en-US" sz="1400" dirty="0">
                <a:solidFill>
                  <a:schemeClr val="bg1"/>
                </a:solidFill>
              </a:rPr>
              <a:t>SVM accuracy, the highest of the four</a:t>
            </a:r>
            <a:endParaRPr lang="en-US" sz="1400" dirty="0"/>
          </a:p>
        </p:txBody>
      </p:sp>
      <p:sp>
        <p:nvSpPr>
          <p:cNvPr id="8" name="Callout AUC"/>
          <p:cNvSpPr/>
          <p:nvPr/>
        </p:nvSpPr>
        <p:spPr>
          <a:xfrm>
            <a:off x="5852160" y="2926080"/>
            <a:ext cx="2834640" cy="1463040"/>
          </a:xfrm>
          <a:prstGeom prst="roundRect">
            <a:avLst>
              <a:gd name="adj" fmla="val 7500"/>
            </a:avLst>
          </a:prstGeom>
          <a:solidFill>
            <a:schemeClr val="bg2"/>
          </a:solidFill>
          <a:ln/>
        </p:spPr>
      </p:sp>
      <p:sp>
        <p:nvSpPr>
          <p:cNvPr id="9" name="Text 5"/>
          <p:cNvSpPr txBox="1"/>
          <p:nvPr/>
        </p:nvSpPr>
        <p:spPr>
          <a:xfrm>
            <a:off x="6035040" y="3017520"/>
            <a:ext cx="2560320" cy="640080"/>
          </a:xfrm>
          <a:prstGeom prst="rect">
            <a:avLst/>
          </a:prstGeom>
          <a:noFill/>
          <a:ln/>
        </p:spPr>
        <p:txBody>
          <a:bodyPr wrap="square" lIns="0" tIns="0" rIns="0" bIns="0" rtlCol="0" anchor="ctr"/>
          <a:lstStyle/>
          <a:p>
            <a:pPr marL="0" indent="0">
              <a:buNone/>
            </a:pPr>
            <a:r>
              <a:rPr lang="en-US" sz="2800" b="1" dirty="0">
                <a:solidFill>
                  <a:schemeClr val="tx1"/>
                </a:solidFill>
              </a:rPr>
              <a:t>0.971–0.984</a:t>
            </a:r>
            <a:endParaRPr lang="en-US" sz="2800" dirty="0"/>
          </a:p>
        </p:txBody>
      </p:sp>
      <p:sp>
        <p:nvSpPr>
          <p:cNvPr id="10" name="Text 6"/>
          <p:cNvSpPr txBox="1"/>
          <p:nvPr/>
        </p:nvSpPr>
        <p:spPr>
          <a:xfrm>
            <a:off x="6035040" y="3657600"/>
            <a:ext cx="2468880" cy="640080"/>
          </a:xfrm>
          <a:prstGeom prst="rect">
            <a:avLst/>
          </a:prstGeom>
          <a:noFill/>
          <a:ln/>
        </p:spPr>
        <p:txBody>
          <a:bodyPr wrap="square" lIns="0" tIns="0" rIns="0" bIns="0" rtlCol="0" anchor="t"/>
          <a:lstStyle/>
          <a:p>
            <a:pPr marL="0" indent="0">
              <a:buNone/>
            </a:pPr>
            <a:r>
              <a:rPr lang="en-US" sz="1400" dirty="0">
                <a:solidFill>
                  <a:schemeClr val="tx1"/>
                </a:solidFill>
              </a:rPr>
              <a:t>AUC range; Random Forest highest at 0.984</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8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600" b="1" dirty="0">
                <a:solidFill>
                  <a:schemeClr val="tx1"/>
                </a:solidFill>
              </a:rPr>
              <a:t>The catch: spam slips through</a:t>
            </a:r>
            <a:endParaRPr lang="en-US" sz="3600" dirty="0"/>
          </a:p>
        </p:txBody>
      </p:sp>
      <p:graphicFrame>
        <p:nvGraphicFramePr>
          <p:cNvPr id="4" name="Chart 0"/>
          <p:cNvGraphicFramePr/>
          <p:nvPr/>
        </p:nvGraphicFramePr>
        <p:xfrm>
          <a:off x="457200" y="1188720"/>
          <a:ext cx="512064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5" name="Callout missed"/>
          <p:cNvSpPr/>
          <p:nvPr/>
        </p:nvSpPr>
        <p:spPr>
          <a:xfrm>
            <a:off x="5852160" y="1280160"/>
            <a:ext cx="2834640" cy="1463040"/>
          </a:xfrm>
          <a:prstGeom prst="roundRect">
            <a:avLst>
              <a:gd name="adj" fmla="val 7500"/>
            </a:avLst>
          </a:prstGeom>
          <a:solidFill>
            <a:schemeClr val="bg2"/>
          </a:solidFill>
          <a:ln/>
        </p:spPr>
      </p:sp>
      <p:sp>
        <p:nvSpPr>
          <p:cNvPr id="6" name="Text 2"/>
          <p:cNvSpPr txBox="1"/>
          <p:nvPr/>
        </p:nvSpPr>
        <p:spPr>
          <a:xfrm>
            <a:off x="6035040" y="1371600"/>
            <a:ext cx="2560320" cy="731520"/>
          </a:xfrm>
          <a:prstGeom prst="rect">
            <a:avLst/>
          </a:prstGeom>
          <a:noFill/>
          <a:ln/>
        </p:spPr>
        <p:txBody>
          <a:bodyPr wrap="square" lIns="0" tIns="0" rIns="0" bIns="0" rtlCol="0" anchor="ctr"/>
          <a:lstStyle/>
          <a:p>
            <a:pPr marL="0" indent="0">
              <a:buNone/>
            </a:pPr>
            <a:r>
              <a:rPr lang="en-US" sz="3200" b="1" dirty="0">
                <a:solidFill>
                  <a:schemeClr val="accent1"/>
                </a:solidFill>
              </a:rPr>
              <a:t>28% → 11%</a:t>
            </a:r>
            <a:endParaRPr lang="en-US" sz="3200" dirty="0"/>
          </a:p>
        </p:txBody>
      </p:sp>
      <p:sp>
        <p:nvSpPr>
          <p:cNvPr id="7" name="Text 3"/>
          <p:cNvSpPr txBox="1"/>
          <p:nvPr/>
        </p:nvSpPr>
        <p:spPr>
          <a:xfrm>
            <a:off x="6035040" y="2103120"/>
            <a:ext cx="2468880" cy="548640"/>
          </a:xfrm>
          <a:prstGeom prst="rect">
            <a:avLst/>
          </a:prstGeom>
          <a:noFill/>
          <a:ln/>
        </p:spPr>
        <p:txBody>
          <a:bodyPr wrap="square" lIns="0" tIns="0" rIns="0" bIns="0" rtlCol="0" anchor="t"/>
          <a:lstStyle/>
          <a:p>
            <a:pPr marL="0" indent="0">
              <a:buNone/>
            </a:pPr>
            <a:r>
              <a:rPr lang="en-US" sz="1400" dirty="0">
                <a:solidFill>
                  <a:schemeClr val="tx1"/>
                </a:solidFill>
              </a:rPr>
              <a:t>spam missed: Naive Bayes vs SVM</a:t>
            </a:r>
            <a:endParaRPr lang="en-US" sz="1400" dirty="0"/>
          </a:p>
        </p:txBody>
      </p:sp>
      <p:sp>
        <p:nvSpPr>
          <p:cNvPr id="8" name="Callout precision"/>
          <p:cNvSpPr/>
          <p:nvPr/>
        </p:nvSpPr>
        <p:spPr>
          <a:xfrm>
            <a:off x="5852160" y="2926080"/>
            <a:ext cx="2834640" cy="1463040"/>
          </a:xfrm>
          <a:prstGeom prst="roundRect">
            <a:avLst>
              <a:gd name="adj" fmla="val 7500"/>
            </a:avLst>
          </a:prstGeom>
          <a:solidFill>
            <a:schemeClr val="bg2"/>
          </a:solidFill>
          <a:ln/>
        </p:spPr>
      </p:sp>
      <p:sp>
        <p:nvSpPr>
          <p:cNvPr id="9" name="Text 5"/>
          <p:cNvSpPr txBox="1"/>
          <p:nvPr/>
        </p:nvSpPr>
        <p:spPr>
          <a:xfrm>
            <a:off x="6035040" y="3017520"/>
            <a:ext cx="2560320" cy="640080"/>
          </a:xfrm>
          <a:prstGeom prst="rect">
            <a:avLst/>
          </a:prstGeom>
          <a:noFill/>
          <a:ln/>
        </p:spPr>
        <p:txBody>
          <a:bodyPr wrap="square" lIns="0" tIns="0" rIns="0" bIns="0" rtlCol="0" anchor="ctr"/>
          <a:lstStyle/>
          <a:p>
            <a:pPr marL="0" indent="0">
              <a:buNone/>
            </a:pPr>
            <a:r>
              <a:rPr lang="en-US" sz="2800" b="1" dirty="0">
                <a:solidFill>
                  <a:schemeClr val="tx1"/>
                </a:solidFill>
              </a:rPr>
              <a:t>0.97 vs 1.00</a:t>
            </a:r>
            <a:endParaRPr lang="en-US" sz="2800" dirty="0"/>
          </a:p>
        </p:txBody>
      </p:sp>
      <p:sp>
        <p:nvSpPr>
          <p:cNvPr id="10" name="Text 6"/>
          <p:cNvSpPr txBox="1"/>
          <p:nvPr/>
        </p:nvSpPr>
        <p:spPr>
          <a:xfrm>
            <a:off x="6035040" y="3657600"/>
            <a:ext cx="2468880" cy="640080"/>
          </a:xfrm>
          <a:prstGeom prst="rect">
            <a:avLst/>
          </a:prstGeom>
          <a:noFill/>
          <a:ln/>
        </p:spPr>
        <p:txBody>
          <a:bodyPr wrap="square" lIns="0" tIns="0" rIns="0" bIns="0" rtlCol="0" anchor="t"/>
          <a:lstStyle/>
          <a:p>
            <a:pPr marL="0" indent="0">
              <a:buNone/>
            </a:pPr>
            <a:r>
              <a:rPr lang="en-US" sz="1400" dirty="0">
                <a:solidFill>
                  <a:schemeClr val="tx1"/>
                </a:solidFill>
              </a:rPr>
              <a:t>SVM trades a little spam precision for much better recall</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8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600" b="1" dirty="0">
                <a:solidFill>
                  <a:schemeClr val="tx1"/>
                </a:solidFill>
              </a:rPr>
              <a:t>ROC curves agree</a:t>
            </a:r>
            <a:endParaRPr lang="en-US" sz="3600" dirty="0"/>
          </a:p>
        </p:txBody>
      </p:sp>
      <p:pic>
        <p:nvPicPr>
          <p:cNvPr id="4" name="Image 0" descr="ROC curves for all four models"/>
          <p:cNvPicPr>
            <a:picLocks noChangeAspect="1"/>
          </p:cNvPicPr>
          <p:nvPr/>
        </p:nvPicPr>
        <p:blipFill>
          <a:blip r:embed="rId3"/>
          <a:stretch>
            <a:fillRect/>
          </a:stretch>
        </p:blipFill>
        <p:spPr>
          <a:xfrm>
            <a:off x="457200" y="1143000"/>
            <a:ext cx="4297680" cy="3401568"/>
          </a:xfrm>
          <a:prstGeom prst="rect">
            <a:avLst/>
          </a:prstGeom>
        </p:spPr>
      </p:pic>
      <p:sp>
        <p:nvSpPr>
          <p:cNvPr id="5" name="AUC card 1"/>
          <p:cNvSpPr/>
          <p:nvPr/>
        </p:nvSpPr>
        <p:spPr>
          <a:xfrm>
            <a:off x="5120640" y="1234440"/>
            <a:ext cx="3566160" cy="960120"/>
          </a:xfrm>
          <a:prstGeom prst="roundRect">
            <a:avLst>
              <a:gd name="adj" fmla="val 11429"/>
            </a:avLst>
          </a:prstGeom>
          <a:solidFill>
            <a:schemeClr val="bg2"/>
          </a:solidFill>
          <a:ln/>
        </p:spPr>
      </p:sp>
      <p:sp>
        <p:nvSpPr>
          <p:cNvPr id="6" name="Text 2"/>
          <p:cNvSpPr txBox="1"/>
          <p:nvPr/>
        </p:nvSpPr>
        <p:spPr>
          <a:xfrm>
            <a:off x="5303520" y="1234440"/>
            <a:ext cx="1371600" cy="960120"/>
          </a:xfrm>
          <a:prstGeom prst="rect">
            <a:avLst/>
          </a:prstGeom>
          <a:noFill/>
          <a:ln/>
        </p:spPr>
        <p:txBody>
          <a:bodyPr wrap="square" lIns="0" tIns="0" rIns="0" bIns="0" rtlCol="0" anchor="ctr"/>
          <a:lstStyle/>
          <a:p>
            <a:pPr marL="0" indent="0">
              <a:buNone/>
            </a:pPr>
            <a:r>
              <a:rPr lang="en-US" sz="3200" b="1" dirty="0">
                <a:solidFill>
                  <a:schemeClr val="accent2"/>
                </a:solidFill>
              </a:rPr>
              <a:t>0.984</a:t>
            </a:r>
            <a:endParaRPr lang="en-US" sz="3200" dirty="0"/>
          </a:p>
        </p:txBody>
      </p:sp>
      <p:sp>
        <p:nvSpPr>
          <p:cNvPr id="7" name="Text 3"/>
          <p:cNvSpPr txBox="1"/>
          <p:nvPr/>
        </p:nvSpPr>
        <p:spPr>
          <a:xfrm>
            <a:off x="6720840" y="1234440"/>
            <a:ext cx="1828800" cy="960120"/>
          </a:xfrm>
          <a:prstGeom prst="rect">
            <a:avLst/>
          </a:prstGeom>
          <a:noFill/>
          <a:ln/>
        </p:spPr>
        <p:txBody>
          <a:bodyPr wrap="square" lIns="0" tIns="0" rIns="0" bIns="0" rtlCol="0" anchor="ctr"/>
          <a:lstStyle/>
          <a:p>
            <a:pPr marL="0" indent="0">
              <a:buNone/>
            </a:pPr>
            <a:r>
              <a:rPr lang="en-US" sz="1400" dirty="0">
                <a:solidFill>
                  <a:schemeClr val="tx1"/>
                </a:solidFill>
              </a:rPr>
              <a:t>Random Forest, highest AUC</a:t>
            </a:r>
            <a:endParaRPr lang="en-US" sz="1400" dirty="0"/>
          </a:p>
        </p:txBody>
      </p:sp>
      <p:sp>
        <p:nvSpPr>
          <p:cNvPr id="8" name="AUC card 2"/>
          <p:cNvSpPr/>
          <p:nvPr/>
        </p:nvSpPr>
        <p:spPr>
          <a:xfrm>
            <a:off x="5120640" y="2331720"/>
            <a:ext cx="3566160" cy="960120"/>
          </a:xfrm>
          <a:prstGeom prst="roundRect">
            <a:avLst>
              <a:gd name="adj" fmla="val 11429"/>
            </a:avLst>
          </a:prstGeom>
          <a:solidFill>
            <a:schemeClr val="bg2"/>
          </a:solidFill>
          <a:ln/>
        </p:spPr>
      </p:sp>
      <p:sp>
        <p:nvSpPr>
          <p:cNvPr id="9" name="Text 5"/>
          <p:cNvSpPr txBox="1"/>
          <p:nvPr/>
        </p:nvSpPr>
        <p:spPr>
          <a:xfrm>
            <a:off x="5303520" y="2331720"/>
            <a:ext cx="1371600" cy="960120"/>
          </a:xfrm>
          <a:prstGeom prst="rect">
            <a:avLst/>
          </a:prstGeom>
          <a:noFill/>
          <a:ln/>
        </p:spPr>
        <p:txBody>
          <a:bodyPr wrap="square" lIns="0" tIns="0" rIns="0" bIns="0" rtlCol="0" anchor="ctr"/>
          <a:lstStyle/>
          <a:p>
            <a:pPr marL="0" indent="0">
              <a:buNone/>
            </a:pPr>
            <a:r>
              <a:rPr lang="en-US" sz="3200" b="1" dirty="0">
                <a:solidFill>
                  <a:schemeClr val="accent2"/>
                </a:solidFill>
              </a:rPr>
              <a:t>0.983</a:t>
            </a:r>
            <a:endParaRPr lang="en-US" sz="3200" dirty="0"/>
          </a:p>
        </p:txBody>
      </p:sp>
      <p:sp>
        <p:nvSpPr>
          <p:cNvPr id="10" name="Text 6"/>
          <p:cNvSpPr txBox="1"/>
          <p:nvPr/>
        </p:nvSpPr>
        <p:spPr>
          <a:xfrm>
            <a:off x="6720840" y="2331720"/>
            <a:ext cx="1828800" cy="960120"/>
          </a:xfrm>
          <a:prstGeom prst="rect">
            <a:avLst/>
          </a:prstGeom>
          <a:noFill/>
          <a:ln/>
        </p:spPr>
        <p:txBody>
          <a:bodyPr wrap="square" lIns="0" tIns="0" rIns="0" bIns="0" rtlCol="0" anchor="ctr"/>
          <a:lstStyle/>
          <a:p>
            <a:pPr marL="0" indent="0">
              <a:buNone/>
            </a:pPr>
            <a:r>
              <a:rPr lang="en-US" sz="1400" dirty="0">
                <a:solidFill>
                  <a:schemeClr val="tx1"/>
                </a:solidFill>
              </a:rPr>
              <a:t>SVM, close behind</a:t>
            </a:r>
            <a:endParaRPr lang="en-US" sz="1400" dirty="0"/>
          </a:p>
        </p:txBody>
      </p:sp>
      <p:sp>
        <p:nvSpPr>
          <p:cNvPr id="11" name="AUC card 3"/>
          <p:cNvSpPr/>
          <p:nvPr/>
        </p:nvSpPr>
        <p:spPr>
          <a:xfrm>
            <a:off x="5120640" y="3429000"/>
            <a:ext cx="3566160" cy="960120"/>
          </a:xfrm>
          <a:prstGeom prst="roundRect">
            <a:avLst>
              <a:gd name="adj" fmla="val 11429"/>
            </a:avLst>
          </a:prstGeom>
          <a:solidFill>
            <a:schemeClr val="bg2"/>
          </a:solidFill>
          <a:ln/>
        </p:spPr>
      </p:sp>
      <p:sp>
        <p:nvSpPr>
          <p:cNvPr id="12" name="Text 8"/>
          <p:cNvSpPr txBox="1"/>
          <p:nvPr/>
        </p:nvSpPr>
        <p:spPr>
          <a:xfrm>
            <a:off x="5303520" y="3429000"/>
            <a:ext cx="1371600" cy="960120"/>
          </a:xfrm>
          <a:prstGeom prst="rect">
            <a:avLst/>
          </a:prstGeom>
          <a:noFill/>
          <a:ln/>
        </p:spPr>
        <p:txBody>
          <a:bodyPr wrap="square" lIns="0" tIns="0" rIns="0" bIns="0" rtlCol="0" anchor="ctr"/>
          <a:lstStyle/>
          <a:p>
            <a:pPr marL="0" indent="0">
              <a:buNone/>
            </a:pPr>
            <a:r>
              <a:rPr lang="en-US" sz="3200" b="1" dirty="0">
                <a:solidFill>
                  <a:schemeClr val="accent4"/>
                </a:solidFill>
              </a:rPr>
              <a:t>0.971</a:t>
            </a:r>
            <a:endParaRPr lang="en-US" sz="3200" dirty="0"/>
          </a:p>
        </p:txBody>
      </p:sp>
      <p:sp>
        <p:nvSpPr>
          <p:cNvPr id="13" name="Text 9"/>
          <p:cNvSpPr txBox="1"/>
          <p:nvPr/>
        </p:nvSpPr>
        <p:spPr>
          <a:xfrm>
            <a:off x="6720840" y="3429000"/>
            <a:ext cx="1828800" cy="960120"/>
          </a:xfrm>
          <a:prstGeom prst="rect">
            <a:avLst/>
          </a:prstGeom>
          <a:noFill/>
          <a:ln/>
        </p:spPr>
        <p:txBody>
          <a:bodyPr wrap="square" lIns="0" tIns="0" rIns="0" bIns="0" rtlCol="0" anchor="ctr"/>
          <a:lstStyle/>
          <a:p>
            <a:pPr marL="0" indent="0">
              <a:buNone/>
            </a:pPr>
            <a:r>
              <a:rPr lang="en-US" sz="1400" dirty="0">
                <a:solidFill>
                  <a:schemeClr val="tx1"/>
                </a:solidFill>
              </a:rPr>
              <a:t>Naive Bayes, lowest AUC</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8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600" b="1" dirty="0">
                <a:solidFill>
                  <a:schemeClr val="tx1"/>
                </a:solidFill>
              </a:rPr>
              <a:t>Live test: spam still slips through</a:t>
            </a:r>
            <a:endParaRPr lang="en-US" sz="3600" dirty="0"/>
          </a:p>
        </p:txBody>
      </p:sp>
      <p:graphicFrame>
        <p:nvGraphicFramePr>
          <p:cNvPr id="12" name="Prediction 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2880360"/>
        </p:xfrm>
        <a:graphic>
          <a:graphicData uri="http://schemas.openxmlformats.org/drawingml/2006/table">
            <a:tbl>
              <a:tblPr/>
              <a:tblGrid>
                <a:gridCol w="4572000"/>
                <a:gridCol w="822960"/>
                <a:gridCol w="1097280"/>
                <a:gridCol w="822960"/>
                <a:gridCol w="914400"/>
              </a:tblGrid>
              <a:tr h="36576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Message</a:t>
                      </a:r>
                      <a:endParaRPr lang="en-US" sz="1400" dirty="0">
                        <a:latin typeface="Calibri" charset="0"/>
                        <a:ea typeface="Calibri" charset="0"/>
                        <a:cs typeface="Calibri" charset="0"/>
                      </a:endParaRPr>
                    </a:p>
                  </a:txBody>
                  <a:tcPr marT="0" marB="0">
                    <a:lnL w="6350" cap="flat" cmpd="sng" algn="ctr">
                      <a:solidFill>
                        <a:srgbClr val="DDE6E8"/>
                      </a:solidFill>
                      <a:prstDash val="solid"/>
                      <a:round/>
                      <a:headEnd type="none" w="med" len="med"/>
                      <a:tailEnd type="none" w="med" len="med"/>
                    </a:lnL>
                    <a:lnR w="6350" cap="flat" cmpd="sng" algn="ctr">
                      <a:solidFill>
                        <a:srgbClr val="DDE6E8"/>
                      </a:solidFill>
                      <a:prstDash val="solid"/>
                      <a:round/>
                      <a:headEnd type="none" w="med" len="med"/>
                      <a:tailEnd type="none" w="med" len="med"/>
                    </a:lnR>
                    <a:lnT w="6350" cap="flat" cmpd="sng" algn="ctr">
                      <a:solidFill>
                        <a:srgbClr val="DDE6E8"/>
                      </a:solidFill>
                      <a:prstDash val="solid"/>
                      <a:round/>
                      <a:headEnd type="none" w="med" len="med"/>
                      <a:tailEnd type="none" w="med" len="med"/>
                    </a:lnT>
                    <a:lnB w="6350" cap="flat" cmpd="sng" algn="ctr">
                      <a:solidFill>
                        <a:srgbClr val="DDE6E8"/>
                      </a:solidFill>
                      <a:prstDash val="solid"/>
                      <a:round/>
                      <a:headEnd type="none" w="med" len="med"/>
                      <a:tailEnd type="none" w="med" len="med"/>
                    </a:lnB>
                    <a:solidFill>
                      <a:srgbClr val="1D3F46"/>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Actual</a:t>
                      </a:r>
                      <a:endParaRPr lang="en-US" sz="1400" dirty="0">
                        <a:latin typeface="Calibri" charset="0"/>
                        <a:ea typeface="Calibri" charset="0"/>
                        <a:cs typeface="Calibri" charset="0"/>
                      </a:endParaRPr>
                    </a:p>
                  </a:txBody>
                  <a:tcPr marT="0" marB="0">
                    <a:lnL w="6350" cap="flat" cmpd="sng" algn="ctr">
                      <a:solidFill>
                        <a:srgbClr val="DDE6E8"/>
                      </a:solidFill>
                      <a:prstDash val="solid"/>
                      <a:round/>
                      <a:headEnd type="none" w="med" len="med"/>
                      <a:tailEnd type="none" w="med" len="med"/>
                    </a:lnL>
                    <a:lnR w="6350" cap="flat" cmpd="sng" algn="ctr">
                      <a:solidFill>
                        <a:srgbClr val="DDE6E8"/>
                      </a:solidFill>
                      <a:prstDash val="solid"/>
                      <a:round/>
                      <a:headEnd type="none" w="med" len="med"/>
                      <a:tailEnd type="none" w="med" len="med"/>
                    </a:lnR>
                    <a:lnT w="6350" cap="flat" cmpd="sng" algn="ctr">
                      <a:solidFill>
                        <a:srgbClr val="DDE6E8"/>
                      </a:solidFill>
                      <a:prstDash val="solid"/>
                      <a:round/>
                      <a:headEnd type="none" w="med" len="med"/>
                      <a:tailEnd type="none" w="med" len="med"/>
                    </a:lnT>
                    <a:lnB w="6350" cap="flat" cmpd="sng" algn="ctr">
                      <a:solidFill>
                        <a:srgbClr val="DDE6E8"/>
                      </a:solidFill>
                      <a:prstDash val="solid"/>
                      <a:round/>
                      <a:headEnd type="none" w="med" len="med"/>
                      <a:tailEnd type="none" w="med" len="med"/>
                    </a:lnB>
                    <a:solidFill>
                      <a:srgbClr val="1D3F46"/>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Predicted</a:t>
                      </a:r>
                      <a:endParaRPr lang="en-US" sz="1400" dirty="0">
                        <a:latin typeface="Calibri" charset="0"/>
                        <a:ea typeface="Calibri" charset="0"/>
                        <a:cs typeface="Calibri" charset="0"/>
                      </a:endParaRPr>
                    </a:p>
                  </a:txBody>
                  <a:tcPr marT="0" marB="0">
                    <a:lnL w="6350" cap="flat" cmpd="sng" algn="ctr">
                      <a:solidFill>
                        <a:srgbClr val="DDE6E8"/>
                      </a:solidFill>
                      <a:prstDash val="solid"/>
                      <a:round/>
                      <a:headEnd type="none" w="med" len="med"/>
                      <a:tailEnd type="none" w="med" len="med"/>
                    </a:lnL>
                    <a:lnR w="6350" cap="flat" cmpd="sng" algn="ctr">
                      <a:solidFill>
                        <a:srgbClr val="DDE6E8"/>
                      </a:solidFill>
                      <a:prstDash val="solid"/>
                      <a:round/>
                      <a:headEnd type="none" w="med" len="med"/>
                      <a:tailEnd type="none" w="med" len="med"/>
                    </a:lnR>
                    <a:lnT w="6350" cap="flat" cmpd="sng" algn="ctr">
                      <a:solidFill>
                        <a:srgbClr val="DDE6E8"/>
                      </a:solidFill>
                      <a:prstDash val="solid"/>
                      <a:round/>
                      <a:headEnd type="none" w="med" len="med"/>
                      <a:tailEnd type="none" w="med" len="med"/>
                    </a:lnT>
                    <a:lnB w="6350" cap="flat" cmpd="sng" algn="ctr">
                      <a:solidFill>
                        <a:srgbClr val="DDE6E8"/>
                      </a:solidFill>
                      <a:prstDash val="solid"/>
                      <a:round/>
                      <a:headEnd type="none" w="med" len="med"/>
                      <a:tailEnd type="none" w="med" len="med"/>
                    </a:lnB>
                    <a:solidFill>
                      <a:srgbClr val="1D3F46"/>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Conf.</a:t>
                      </a:r>
                      <a:endParaRPr lang="en-US" sz="1400" dirty="0">
                        <a:latin typeface="Calibri" charset="0"/>
                        <a:ea typeface="Calibri" charset="0"/>
                        <a:cs typeface="Calibri" charset="0"/>
                      </a:endParaRPr>
                    </a:p>
                  </a:txBody>
                  <a:tcPr marT="0" marB="0">
                    <a:lnL w="6350" cap="flat" cmpd="sng" algn="ctr">
                      <a:solidFill>
                        <a:srgbClr val="DDE6E8"/>
                      </a:solidFill>
                      <a:prstDash val="solid"/>
                      <a:round/>
                      <a:headEnd type="none" w="med" len="med"/>
                      <a:tailEnd type="none" w="med" len="med"/>
                    </a:lnL>
                    <a:lnR w="6350" cap="flat" cmpd="sng" algn="ctr">
                      <a:solidFill>
                        <a:srgbClr val="DDE6E8"/>
                      </a:solidFill>
                      <a:prstDash val="solid"/>
                      <a:round/>
                      <a:headEnd type="none" w="med" len="med"/>
                      <a:tailEnd type="none" w="med" len="med"/>
                    </a:lnR>
                    <a:lnT w="6350" cap="flat" cmpd="sng" algn="ctr">
                      <a:solidFill>
                        <a:srgbClr val="DDE6E8"/>
                      </a:solidFill>
                      <a:prstDash val="solid"/>
                      <a:round/>
                      <a:headEnd type="none" w="med" len="med"/>
                      <a:tailEnd type="none" w="med" len="med"/>
                    </a:lnT>
                    <a:lnB w="6350" cap="flat" cmpd="sng" algn="ctr">
                      <a:solidFill>
                        <a:srgbClr val="DDE6E8"/>
                      </a:solidFill>
                      <a:prstDash val="solid"/>
                      <a:round/>
                      <a:headEnd type="none" w="med" len="med"/>
                      <a:tailEnd type="none" w="med" len="med"/>
                    </a:lnB>
                    <a:solidFill>
                      <a:srgbClr val="1D3F46"/>
                    </a:solidFill>
                  </a:tcPr>
                </a:tc>
                <a:tc>
                  <a:txBody>
                    <a:bodyPr/>
                    <a:lstStyle/>
                    <a:p>
                      <a:pPr marL="0" indent="0">
                        <a:buNone/>
                      </a:pPr>
                      <a:endParaRPr lang="en-US" sz="1400" dirty="0">
                        <a:latin typeface="Calibri" charset="0"/>
                        <a:ea typeface="Calibri" charset="0"/>
                        <a:cs typeface="Calibri" charset="0"/>
                      </a:endParaRPr>
                    </a:p>
                  </a:txBody>
                  <a:tcPr marT="0" marB="0">
                    <a:lnL w="6350" cap="flat" cmpd="sng" algn="ctr">
                      <a:solidFill>
                        <a:srgbClr val="DDE6E8"/>
                      </a:solidFill>
                      <a:prstDash val="solid"/>
                      <a:round/>
                      <a:headEnd type="none" w="med" len="med"/>
                      <a:tailEnd type="none" w="med" len="med"/>
                    </a:lnL>
                    <a:lnR w="6350" cap="flat" cmpd="sng" algn="ctr">
                      <a:solidFill>
                        <a:srgbClr val="DDE6E8"/>
                      </a:solidFill>
                      <a:prstDash val="solid"/>
                      <a:round/>
                      <a:headEnd type="none" w="med" len="med"/>
                      <a:tailEnd type="none" w="med" len="med"/>
                    </a:lnR>
                    <a:lnT w="6350" cap="flat" cmpd="sng" algn="ctr">
                      <a:solidFill>
                        <a:srgbClr val="DDE6E8"/>
                      </a:solidFill>
                      <a:prstDash val="solid"/>
                      <a:round/>
                      <a:headEnd type="none" w="med" len="med"/>
                      <a:tailEnd type="none" w="med" len="med"/>
                    </a:lnT>
                    <a:lnB w="6350" cap="flat" cmpd="sng" algn="ctr">
                      <a:solidFill>
                        <a:srgbClr val="DDE6E8"/>
                      </a:solidFill>
                      <a:prstDash val="solid"/>
                      <a:round/>
                      <a:headEnd type="none" w="med" len="med"/>
                      <a:tailEnd type="none" w="med" len="med"/>
                    </a:lnB>
                    <a:solidFill>
                      <a:srgbClr val="1D3F46"/>
                    </a:solidFill>
                  </a:tcPr>
                </a:tc>
              </a:tr>
              <a:tr h="502920">
                <a:tc>
                  <a:txBody>
                    <a:bodyPr/>
                    <a:lstStyle/>
                    <a:p>
                      <a:pPr marL="0" indent="0">
                        <a:buNone/>
                      </a:pPr>
                      <a:r>
                        <a:rPr lang="en-US" sz="1300" dirty="0">
                          <a:solidFill>
                            <a:srgbClr val="10262B"/>
                          </a:solidFill>
                          <a:latin typeface="Calibri" pitchFamily="34" charset="0"/>
                          <a:ea typeface="Calibri" pitchFamily="34" charset="-122"/>
                          <a:cs typeface="Calibri" pitchFamily="34" charset="-120"/>
                        </a:rPr>
                        <a:t>Congratulations! You've won $1000 cash! Click here now!</a:t>
                      </a:r>
                      <a:endParaRPr lang="en-US" sz="1300" dirty="0">
                        <a:latin typeface="Calibri" charset="0"/>
                        <a:ea typeface="Calibri" charset="0"/>
                        <a:cs typeface="Calibri" charset="0"/>
                      </a:endParaRPr>
                    </a:p>
                  </a:txBody>
                  <a:tcPr marT="0" marB="0" anchor="ctr">
                    <a:lnL w="6350" cap="flat" cmpd="sng" algn="ctr">
                      <a:solidFill>
                        <a:srgbClr val="DDE6E8"/>
                      </a:solidFill>
                      <a:prstDash val="solid"/>
                      <a:round/>
                      <a:headEnd type="none" w="med" len="med"/>
                      <a:tailEnd type="none" w="med" len="med"/>
                    </a:lnL>
                    <a:lnR w="6350" cap="flat" cmpd="sng" algn="ctr">
                      <a:solidFill>
                        <a:srgbClr val="DDE6E8"/>
                      </a:solidFill>
                      <a:prstDash val="solid"/>
                      <a:round/>
                      <a:headEnd type="none" w="med" len="med"/>
                      <a:tailEnd type="none" w="med" len="med"/>
                    </a:lnR>
                    <a:lnT w="6350" cap="flat" cmpd="sng" algn="ctr">
                      <a:solidFill>
                        <a:srgbClr val="DDE6E8"/>
                      </a:solidFill>
                      <a:prstDash val="solid"/>
                      <a:round/>
                      <a:headEnd type="none" w="med" len="med"/>
                      <a:tailEnd type="none" w="med" len="med"/>
                    </a:lnT>
                    <a:lnB w="6350" cap="flat" cmpd="sng" algn="ctr">
                      <a:solidFill>
                        <a:srgbClr val="DDE6E8"/>
                      </a:solidFill>
                      <a:prstDash val="solid"/>
                      <a:round/>
                      <a:headEnd type="none" w="med" len="med"/>
                      <a:tailEnd type="none" w="med" len="med"/>
                    </a:lnB>
                    <a:solidFill>
                      <a:srgbClr val="FFFFFF"/>
                    </a:solidFill>
                  </a:tcPr>
                </a:tc>
                <a:tc>
                  <a:txBody>
                    <a:bodyPr/>
                    <a:lstStyle/>
                    <a:p>
                      <a:pPr marL="0" indent="0">
                        <a:buNone/>
                      </a:pPr>
                      <a:r>
                        <a:rPr lang="en-US" sz="1300" b="1" dirty="0">
                          <a:solidFill>
                            <a:srgbClr val="C9462A"/>
                          </a:solidFill>
                          <a:latin typeface="Calibri" pitchFamily="34" charset="0"/>
                          <a:ea typeface="Calibri" pitchFamily="34" charset="-122"/>
                          <a:cs typeface="Calibri" pitchFamily="34" charset="-120"/>
                        </a:rPr>
                        <a:t>Spam</a:t>
                      </a:r>
                      <a:endParaRPr lang="en-US" sz="1300" dirty="0">
                        <a:latin typeface="Calibri" charset="0"/>
                        <a:ea typeface="Calibri" charset="0"/>
                        <a:cs typeface="Calibri" charset="0"/>
                      </a:endParaRPr>
                    </a:p>
                  </a:txBody>
                  <a:tcPr marT="0" marB="0" anchor="ctr">
                    <a:lnL w="6350" cap="flat" cmpd="sng" algn="ctr">
                      <a:solidFill>
                        <a:srgbClr val="DDE6E8"/>
                      </a:solidFill>
                      <a:prstDash val="solid"/>
                      <a:round/>
                      <a:headEnd type="none" w="med" len="med"/>
                      <a:tailEnd type="none" w="med" len="med"/>
                    </a:lnL>
                    <a:lnR w="6350" cap="flat" cmpd="sng" algn="ctr">
                      <a:solidFill>
                        <a:srgbClr val="DDE6E8"/>
                      </a:solidFill>
                      <a:prstDash val="solid"/>
                      <a:round/>
                      <a:headEnd type="none" w="med" len="med"/>
                      <a:tailEnd type="none" w="med" len="med"/>
                    </a:lnR>
                    <a:lnT w="6350" cap="flat" cmpd="sng" algn="ctr">
                      <a:solidFill>
                        <a:srgbClr val="DDE6E8"/>
                      </a:solidFill>
                      <a:prstDash val="solid"/>
                      <a:round/>
                      <a:headEnd type="none" w="med" len="med"/>
                      <a:tailEnd type="none" w="med" len="med"/>
                    </a:lnT>
                    <a:lnB w="6350" cap="flat" cmpd="sng" algn="ctr">
                      <a:solidFill>
                        <a:srgbClr val="DDE6E8"/>
                      </a:solidFill>
                      <a:prstDash val="solid"/>
                      <a:round/>
                      <a:headEnd type="none" w="med" len="med"/>
                      <a:tailEnd type="none" w="med" len="med"/>
                    </a:lnB>
                    <a:solidFill>
                      <a:srgbClr val="FFFFFF"/>
                    </a:solidFill>
                  </a:tcPr>
                </a:tc>
                <a:tc>
                  <a:txBody>
                    <a:bodyPr/>
                    <a:lstStyle/>
                    <a:p>
                      <a:pPr marL="0" indent="0">
                        <a:buNone/>
                      </a:pPr>
                      <a:r>
                        <a:rPr lang="en-US" sz="1300" b="1" dirty="0">
                          <a:solidFill>
                            <a:srgbClr val="C9462A"/>
                          </a:solidFill>
                          <a:latin typeface="Calibri" pitchFamily="34" charset="0"/>
                          <a:ea typeface="Calibri" pitchFamily="34" charset="-122"/>
                          <a:cs typeface="Calibri" pitchFamily="34" charset="-120"/>
                        </a:rPr>
                        <a:t>Spam</a:t>
                      </a:r>
                      <a:endParaRPr lang="en-US" sz="1300" dirty="0">
                        <a:latin typeface="Calibri" charset="0"/>
                        <a:ea typeface="Calibri" charset="0"/>
                        <a:cs typeface="Calibri" charset="0"/>
                      </a:endParaRPr>
                    </a:p>
                  </a:txBody>
                  <a:tcPr marT="0" marB="0" anchor="ctr">
                    <a:lnL w="6350" cap="flat" cmpd="sng" algn="ctr">
                      <a:solidFill>
                        <a:srgbClr val="DDE6E8"/>
                      </a:solidFill>
                      <a:prstDash val="solid"/>
                      <a:round/>
                      <a:headEnd type="none" w="med" len="med"/>
                      <a:tailEnd type="none" w="med" len="med"/>
                    </a:lnL>
                    <a:lnR w="6350" cap="flat" cmpd="sng" algn="ctr">
                      <a:solidFill>
                        <a:srgbClr val="DDE6E8"/>
                      </a:solidFill>
                      <a:prstDash val="solid"/>
                      <a:round/>
                      <a:headEnd type="none" w="med" len="med"/>
                      <a:tailEnd type="none" w="med" len="med"/>
                    </a:lnR>
                    <a:lnT w="6350" cap="flat" cmpd="sng" algn="ctr">
                      <a:solidFill>
                        <a:srgbClr val="DDE6E8"/>
                      </a:solidFill>
                      <a:prstDash val="solid"/>
                      <a:round/>
                      <a:headEnd type="none" w="med" len="med"/>
                      <a:tailEnd type="none" w="med" len="med"/>
                    </a:lnT>
                    <a:lnB w="6350" cap="flat" cmpd="sng" algn="ctr">
                      <a:solidFill>
                        <a:srgbClr val="DDE6E8"/>
                      </a:solidFill>
                      <a:prstDash val="solid"/>
                      <a:round/>
                      <a:headEnd type="none" w="med" len="med"/>
                      <a:tailEnd type="none" w="med" len="med"/>
                    </a:lnB>
                    <a:solidFill>
                      <a:srgbClr val="FFFFFF"/>
                    </a:solidFill>
                  </a:tcPr>
                </a:tc>
                <a:tc>
                  <a:txBody>
                    <a:bodyPr/>
                    <a:lstStyle/>
                    <a:p>
                      <a:pPr marL="0" indent="0">
                        <a:buNone/>
                      </a:pPr>
                      <a:r>
                        <a:rPr lang="en-US" sz="1300" dirty="0">
                          <a:solidFill>
                            <a:srgbClr val="10262B"/>
                          </a:solidFill>
                          <a:latin typeface="Calibri" pitchFamily="34" charset="0"/>
                          <a:ea typeface="Calibri" pitchFamily="34" charset="-122"/>
                          <a:cs typeface="Calibri" pitchFamily="34" charset="-120"/>
                        </a:rPr>
                        <a:t>0.87</a:t>
                      </a:r>
                      <a:endParaRPr lang="en-US" sz="1300" dirty="0">
                        <a:latin typeface="Calibri" charset="0"/>
                        <a:ea typeface="Calibri" charset="0"/>
                        <a:cs typeface="Calibri" charset="0"/>
                      </a:endParaRPr>
                    </a:p>
                  </a:txBody>
                  <a:tcPr marT="0" marB="0" anchor="ctr">
                    <a:lnL w="6350" cap="flat" cmpd="sng" algn="ctr">
                      <a:solidFill>
                        <a:srgbClr val="DDE6E8"/>
                      </a:solidFill>
                      <a:prstDash val="solid"/>
                      <a:round/>
                      <a:headEnd type="none" w="med" len="med"/>
                      <a:tailEnd type="none" w="med" len="med"/>
                    </a:lnL>
                    <a:lnR w="6350" cap="flat" cmpd="sng" algn="ctr">
                      <a:solidFill>
                        <a:srgbClr val="DDE6E8"/>
                      </a:solidFill>
                      <a:prstDash val="solid"/>
                      <a:round/>
                      <a:headEnd type="none" w="med" len="med"/>
                      <a:tailEnd type="none" w="med" len="med"/>
                    </a:lnR>
                    <a:lnT w="6350" cap="flat" cmpd="sng" algn="ctr">
                      <a:solidFill>
                        <a:srgbClr val="DDE6E8"/>
                      </a:solidFill>
                      <a:prstDash val="solid"/>
                      <a:round/>
                      <a:headEnd type="none" w="med" len="med"/>
                      <a:tailEnd type="none" w="med" len="med"/>
                    </a:lnT>
                    <a:lnB w="6350" cap="flat" cmpd="sng" algn="ctr">
                      <a:solidFill>
                        <a:srgbClr val="DDE6E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57A6E"/>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T="0" marB="0" anchor="ctr">
                    <a:lnL w="6350" cap="flat" cmpd="sng" algn="ctr">
                      <a:solidFill>
                        <a:srgbClr val="DDE6E8"/>
                      </a:solidFill>
                      <a:prstDash val="solid"/>
                      <a:round/>
                      <a:headEnd type="none" w="med" len="med"/>
                      <a:tailEnd type="none" w="med" len="med"/>
                    </a:lnL>
                    <a:lnR w="6350" cap="flat" cmpd="sng" algn="ctr">
                      <a:solidFill>
                        <a:srgbClr val="DDE6E8"/>
                      </a:solidFill>
                      <a:prstDash val="solid"/>
                      <a:round/>
                      <a:headEnd type="none" w="med" len="med"/>
                      <a:tailEnd type="none" w="med" len="med"/>
                    </a:lnR>
                    <a:lnT w="6350" cap="flat" cmpd="sng" algn="ctr">
                      <a:solidFill>
                        <a:srgbClr val="DDE6E8"/>
                      </a:solidFill>
                      <a:prstDash val="solid"/>
                      <a:round/>
                      <a:headEnd type="none" w="med" len="med"/>
                      <a:tailEnd type="none" w="med" len="med"/>
                    </a:lnT>
                    <a:lnB w="6350" cap="flat" cmpd="sng" algn="ctr">
                      <a:solidFill>
                        <a:srgbClr val="DDE6E8"/>
                      </a:solidFill>
                      <a:prstDash val="solid"/>
                      <a:round/>
                      <a:headEnd type="none" w="med" len="med"/>
                      <a:tailEnd type="none" w="med" len="med"/>
                    </a:lnB>
                    <a:solidFill>
                      <a:srgbClr val="FFFFFF"/>
                    </a:solidFill>
                  </a:tcPr>
                </a:tc>
              </a:tr>
              <a:tr h="502920">
                <a:tc>
                  <a:txBody>
                    <a:bodyPr/>
                    <a:lstStyle/>
                    <a:p>
                      <a:pPr marL="0" indent="0">
                        <a:buNone/>
                      </a:pPr>
                      <a:r>
                        <a:rPr lang="en-US" sz="1300" dirty="0">
                          <a:solidFill>
                            <a:srgbClr val="10262B"/>
                          </a:solidFill>
                          <a:latin typeface="Calibri" pitchFamily="34" charset="0"/>
                          <a:ea typeface="Calibri" pitchFamily="34" charset="-122"/>
                          <a:cs typeface="Calibri" pitchFamily="34" charset="-120"/>
                        </a:rPr>
                        <a:t>Hey, are we still meeting for lunch tomorrow?</a:t>
                      </a:r>
                      <a:endParaRPr lang="en-US" sz="1300" dirty="0">
                        <a:latin typeface="Calibri" charset="0"/>
                        <a:ea typeface="Calibri" charset="0"/>
                        <a:cs typeface="Calibri" charset="0"/>
                      </a:endParaRPr>
                    </a:p>
                  </a:txBody>
                  <a:tcPr marT="0" marB="0" anchor="ctr">
                    <a:lnL w="6350" cap="flat" cmpd="sng" algn="ctr">
                      <a:solidFill>
                        <a:srgbClr val="DDE6E8"/>
                      </a:solidFill>
                      <a:prstDash val="solid"/>
                      <a:round/>
                      <a:headEnd type="none" w="med" len="med"/>
                      <a:tailEnd type="none" w="med" len="med"/>
                    </a:lnL>
                    <a:lnR w="6350" cap="flat" cmpd="sng" algn="ctr">
                      <a:solidFill>
                        <a:srgbClr val="DDE6E8"/>
                      </a:solidFill>
                      <a:prstDash val="solid"/>
                      <a:round/>
                      <a:headEnd type="none" w="med" len="med"/>
                      <a:tailEnd type="none" w="med" len="med"/>
                    </a:lnR>
                    <a:lnT w="6350" cap="flat" cmpd="sng" algn="ctr">
                      <a:solidFill>
                        <a:srgbClr val="DDE6E8"/>
                      </a:solidFill>
                      <a:prstDash val="solid"/>
                      <a:round/>
                      <a:headEnd type="none" w="med" len="med"/>
                      <a:tailEnd type="none" w="med" len="med"/>
                    </a:lnT>
                    <a:lnB w="6350" cap="flat" cmpd="sng" algn="ctr">
                      <a:solidFill>
                        <a:srgbClr val="DDE6E8"/>
                      </a:solidFill>
                      <a:prstDash val="solid"/>
                      <a:round/>
                      <a:headEnd type="none" w="med" len="med"/>
                      <a:tailEnd type="none" w="med" len="med"/>
                    </a:lnB>
                    <a:solidFill>
                      <a:srgbClr val="EDF3F3"/>
                    </a:solidFill>
                  </a:tcPr>
                </a:tc>
                <a:tc>
                  <a:txBody>
                    <a:bodyPr/>
                    <a:lstStyle/>
                    <a:p>
                      <a:pPr marL="0" indent="0">
                        <a:buNone/>
                      </a:pPr>
                      <a:r>
                        <a:rPr lang="en-US" sz="1300" b="1" dirty="0">
                          <a:solidFill>
                            <a:srgbClr val="157A6E"/>
                          </a:solidFill>
                          <a:latin typeface="Calibri" pitchFamily="34" charset="0"/>
                          <a:ea typeface="Calibri" pitchFamily="34" charset="-122"/>
                          <a:cs typeface="Calibri" pitchFamily="34" charset="-120"/>
                        </a:rPr>
                        <a:t>Ham</a:t>
                      </a:r>
                      <a:endParaRPr lang="en-US" sz="1300" dirty="0">
                        <a:latin typeface="Calibri" charset="0"/>
                        <a:ea typeface="Calibri" charset="0"/>
                        <a:cs typeface="Calibri" charset="0"/>
                      </a:endParaRPr>
                    </a:p>
                  </a:txBody>
                  <a:tcPr marT="0" marB="0" anchor="ctr">
                    <a:lnL w="6350" cap="flat" cmpd="sng" algn="ctr">
                      <a:solidFill>
                        <a:srgbClr val="DDE6E8"/>
                      </a:solidFill>
                      <a:prstDash val="solid"/>
                      <a:round/>
                      <a:headEnd type="none" w="med" len="med"/>
                      <a:tailEnd type="none" w="med" len="med"/>
                    </a:lnL>
                    <a:lnR w="6350" cap="flat" cmpd="sng" algn="ctr">
                      <a:solidFill>
                        <a:srgbClr val="DDE6E8"/>
                      </a:solidFill>
                      <a:prstDash val="solid"/>
                      <a:round/>
                      <a:headEnd type="none" w="med" len="med"/>
                      <a:tailEnd type="none" w="med" len="med"/>
                    </a:lnR>
                    <a:lnT w="6350" cap="flat" cmpd="sng" algn="ctr">
                      <a:solidFill>
                        <a:srgbClr val="DDE6E8"/>
                      </a:solidFill>
                      <a:prstDash val="solid"/>
                      <a:round/>
                      <a:headEnd type="none" w="med" len="med"/>
                      <a:tailEnd type="none" w="med" len="med"/>
                    </a:lnT>
                    <a:lnB w="6350" cap="flat" cmpd="sng" algn="ctr">
                      <a:solidFill>
                        <a:srgbClr val="DDE6E8"/>
                      </a:solidFill>
                      <a:prstDash val="solid"/>
                      <a:round/>
                      <a:headEnd type="none" w="med" len="med"/>
                      <a:tailEnd type="none" w="med" len="med"/>
                    </a:lnB>
                    <a:solidFill>
                      <a:srgbClr val="EDF3F3"/>
                    </a:solidFill>
                  </a:tcPr>
                </a:tc>
                <a:tc>
                  <a:txBody>
                    <a:bodyPr/>
                    <a:lstStyle/>
                    <a:p>
                      <a:pPr marL="0" indent="0">
                        <a:buNone/>
                      </a:pPr>
                      <a:r>
                        <a:rPr lang="en-US" sz="1300" b="1" dirty="0">
                          <a:solidFill>
                            <a:srgbClr val="157A6E"/>
                          </a:solidFill>
                          <a:latin typeface="Calibri" pitchFamily="34" charset="0"/>
                          <a:ea typeface="Calibri" pitchFamily="34" charset="-122"/>
                          <a:cs typeface="Calibri" pitchFamily="34" charset="-120"/>
                        </a:rPr>
                        <a:t>Ham</a:t>
                      </a:r>
                      <a:endParaRPr lang="en-US" sz="1300" dirty="0">
                        <a:latin typeface="Calibri" charset="0"/>
                        <a:ea typeface="Calibri" charset="0"/>
                        <a:cs typeface="Calibri" charset="0"/>
                      </a:endParaRPr>
                    </a:p>
                  </a:txBody>
                  <a:tcPr marT="0" marB="0" anchor="ctr">
                    <a:lnL w="6350" cap="flat" cmpd="sng" algn="ctr">
                      <a:solidFill>
                        <a:srgbClr val="DDE6E8"/>
                      </a:solidFill>
                      <a:prstDash val="solid"/>
                      <a:round/>
                      <a:headEnd type="none" w="med" len="med"/>
                      <a:tailEnd type="none" w="med" len="med"/>
                    </a:lnL>
                    <a:lnR w="6350" cap="flat" cmpd="sng" algn="ctr">
                      <a:solidFill>
                        <a:srgbClr val="DDE6E8"/>
                      </a:solidFill>
                      <a:prstDash val="solid"/>
                      <a:round/>
                      <a:headEnd type="none" w="med" len="med"/>
                      <a:tailEnd type="none" w="med" len="med"/>
                    </a:lnR>
                    <a:lnT w="6350" cap="flat" cmpd="sng" algn="ctr">
                      <a:solidFill>
                        <a:srgbClr val="DDE6E8"/>
                      </a:solidFill>
                      <a:prstDash val="solid"/>
                      <a:round/>
                      <a:headEnd type="none" w="med" len="med"/>
                      <a:tailEnd type="none" w="med" len="med"/>
                    </a:lnT>
                    <a:lnB w="6350" cap="flat" cmpd="sng" algn="ctr">
                      <a:solidFill>
                        <a:srgbClr val="DDE6E8"/>
                      </a:solidFill>
                      <a:prstDash val="solid"/>
                      <a:round/>
                      <a:headEnd type="none" w="med" len="med"/>
                      <a:tailEnd type="none" w="med" len="med"/>
                    </a:lnB>
                    <a:solidFill>
                      <a:srgbClr val="EDF3F3"/>
                    </a:solidFill>
                  </a:tcPr>
                </a:tc>
                <a:tc>
                  <a:txBody>
                    <a:bodyPr/>
                    <a:lstStyle/>
                    <a:p>
                      <a:pPr marL="0" indent="0">
                        <a:buNone/>
                      </a:pPr>
                      <a:r>
                        <a:rPr lang="en-US" sz="1300" dirty="0">
                          <a:solidFill>
                            <a:srgbClr val="10262B"/>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T="0" marB="0" anchor="ctr">
                    <a:lnL w="6350" cap="flat" cmpd="sng" algn="ctr">
                      <a:solidFill>
                        <a:srgbClr val="DDE6E8"/>
                      </a:solidFill>
                      <a:prstDash val="solid"/>
                      <a:round/>
                      <a:headEnd type="none" w="med" len="med"/>
                      <a:tailEnd type="none" w="med" len="med"/>
                    </a:lnL>
                    <a:lnR w="6350" cap="flat" cmpd="sng" algn="ctr">
                      <a:solidFill>
                        <a:srgbClr val="DDE6E8"/>
                      </a:solidFill>
                      <a:prstDash val="solid"/>
                      <a:round/>
                      <a:headEnd type="none" w="med" len="med"/>
                      <a:tailEnd type="none" w="med" len="med"/>
                    </a:lnR>
                    <a:lnT w="6350" cap="flat" cmpd="sng" algn="ctr">
                      <a:solidFill>
                        <a:srgbClr val="DDE6E8"/>
                      </a:solidFill>
                      <a:prstDash val="solid"/>
                      <a:round/>
                      <a:headEnd type="none" w="med" len="med"/>
                      <a:tailEnd type="none" w="med" len="med"/>
                    </a:lnT>
                    <a:lnB w="6350" cap="flat" cmpd="sng" algn="ctr">
                      <a:solidFill>
                        <a:srgbClr val="DDE6E8"/>
                      </a:solidFill>
                      <a:prstDash val="solid"/>
                      <a:round/>
                      <a:headEnd type="none" w="med" len="med"/>
                      <a:tailEnd type="none" w="med" len="med"/>
                    </a:lnB>
                    <a:solidFill>
                      <a:srgbClr val="EDF3F3"/>
                    </a:solidFill>
                  </a:tcPr>
                </a:tc>
                <a:tc>
                  <a:txBody>
                    <a:bodyPr/>
                    <a:lstStyle/>
                    <a:p>
                      <a:pPr marL="0" indent="0" algn="ctr">
                        <a:buNone/>
                      </a:pPr>
                      <a:r>
                        <a:rPr lang="en-US" sz="1300" b="1" dirty="0">
                          <a:solidFill>
                            <a:srgbClr val="157A6E"/>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T="0" marB="0" anchor="ctr">
                    <a:lnL w="6350" cap="flat" cmpd="sng" algn="ctr">
                      <a:solidFill>
                        <a:srgbClr val="DDE6E8"/>
                      </a:solidFill>
                      <a:prstDash val="solid"/>
                      <a:round/>
                      <a:headEnd type="none" w="med" len="med"/>
                      <a:tailEnd type="none" w="med" len="med"/>
                    </a:lnL>
                    <a:lnR w="6350" cap="flat" cmpd="sng" algn="ctr">
                      <a:solidFill>
                        <a:srgbClr val="DDE6E8"/>
                      </a:solidFill>
                      <a:prstDash val="solid"/>
                      <a:round/>
                      <a:headEnd type="none" w="med" len="med"/>
                      <a:tailEnd type="none" w="med" len="med"/>
                    </a:lnR>
                    <a:lnT w="6350" cap="flat" cmpd="sng" algn="ctr">
                      <a:solidFill>
                        <a:srgbClr val="DDE6E8"/>
                      </a:solidFill>
                      <a:prstDash val="solid"/>
                      <a:round/>
                      <a:headEnd type="none" w="med" len="med"/>
                      <a:tailEnd type="none" w="med" len="med"/>
                    </a:lnT>
                    <a:lnB w="6350" cap="flat" cmpd="sng" algn="ctr">
                      <a:solidFill>
                        <a:srgbClr val="DDE6E8"/>
                      </a:solidFill>
                      <a:prstDash val="solid"/>
                      <a:round/>
                      <a:headEnd type="none" w="med" len="med"/>
                      <a:tailEnd type="none" w="med" len="med"/>
                    </a:lnB>
                    <a:solidFill>
                      <a:srgbClr val="EDF3F3"/>
                    </a:solidFill>
                  </a:tcPr>
                </a:tc>
              </a:tr>
              <a:tr h="502920">
                <a:tc>
                  <a:txBody>
                    <a:bodyPr/>
                    <a:lstStyle/>
                    <a:p>
                      <a:pPr marL="0" indent="0">
                        <a:buNone/>
                      </a:pPr>
                      <a:r>
                        <a:rPr lang="en-US" sz="1300" dirty="0">
                          <a:solidFill>
                            <a:srgbClr val="10262B"/>
                          </a:solidFill>
                          <a:latin typeface="Calibri" pitchFamily="34" charset="0"/>
                          <a:ea typeface="Calibri" pitchFamily="34" charset="-122"/>
                          <a:cs typeface="Calibri" pitchFamily="34" charset="-120"/>
                        </a:rPr>
                        <a:t>URGENT! Your account will be closed. Confirm details NOW!</a:t>
                      </a:r>
                      <a:endParaRPr lang="en-US" sz="1300" dirty="0">
                        <a:latin typeface="Calibri" charset="0"/>
                        <a:ea typeface="Calibri" charset="0"/>
                        <a:cs typeface="Calibri" charset="0"/>
                      </a:endParaRPr>
                    </a:p>
                  </a:txBody>
                  <a:tcPr marT="0" marB="0" anchor="ctr">
                    <a:lnL w="6350" cap="flat" cmpd="sng" algn="ctr">
                      <a:solidFill>
                        <a:srgbClr val="DDE6E8"/>
                      </a:solidFill>
                      <a:prstDash val="solid"/>
                      <a:round/>
                      <a:headEnd type="none" w="med" len="med"/>
                      <a:tailEnd type="none" w="med" len="med"/>
                    </a:lnL>
                    <a:lnR w="6350" cap="flat" cmpd="sng" algn="ctr">
                      <a:solidFill>
                        <a:srgbClr val="DDE6E8"/>
                      </a:solidFill>
                      <a:prstDash val="solid"/>
                      <a:round/>
                      <a:headEnd type="none" w="med" len="med"/>
                      <a:tailEnd type="none" w="med" len="med"/>
                    </a:lnR>
                    <a:lnT w="6350" cap="flat" cmpd="sng" algn="ctr">
                      <a:solidFill>
                        <a:srgbClr val="DDE6E8"/>
                      </a:solidFill>
                      <a:prstDash val="solid"/>
                      <a:round/>
                      <a:headEnd type="none" w="med" len="med"/>
                      <a:tailEnd type="none" w="med" len="med"/>
                    </a:lnT>
                    <a:lnB w="6350" cap="flat" cmpd="sng" algn="ctr">
                      <a:solidFill>
                        <a:srgbClr val="DDE6E8"/>
                      </a:solidFill>
                      <a:prstDash val="solid"/>
                      <a:round/>
                      <a:headEnd type="none" w="med" len="med"/>
                      <a:tailEnd type="none" w="med" len="med"/>
                    </a:lnB>
                    <a:solidFill>
                      <a:srgbClr val="FCE3DA"/>
                    </a:solidFill>
                  </a:tcPr>
                </a:tc>
                <a:tc>
                  <a:txBody>
                    <a:bodyPr/>
                    <a:lstStyle/>
                    <a:p>
                      <a:pPr marL="0" indent="0">
                        <a:buNone/>
                      </a:pPr>
                      <a:r>
                        <a:rPr lang="en-US" sz="1300" b="1" dirty="0">
                          <a:solidFill>
                            <a:srgbClr val="C9462A"/>
                          </a:solidFill>
                          <a:latin typeface="Calibri" pitchFamily="34" charset="0"/>
                          <a:ea typeface="Calibri" pitchFamily="34" charset="-122"/>
                          <a:cs typeface="Calibri" pitchFamily="34" charset="-120"/>
                        </a:rPr>
                        <a:t>Spam</a:t>
                      </a:r>
                      <a:endParaRPr lang="en-US" sz="1300" dirty="0">
                        <a:latin typeface="Calibri" charset="0"/>
                        <a:ea typeface="Calibri" charset="0"/>
                        <a:cs typeface="Calibri" charset="0"/>
                      </a:endParaRPr>
                    </a:p>
                  </a:txBody>
                  <a:tcPr marT="0" marB="0" anchor="ctr">
                    <a:lnL w="6350" cap="flat" cmpd="sng" algn="ctr">
                      <a:solidFill>
                        <a:srgbClr val="DDE6E8"/>
                      </a:solidFill>
                      <a:prstDash val="solid"/>
                      <a:round/>
                      <a:headEnd type="none" w="med" len="med"/>
                      <a:tailEnd type="none" w="med" len="med"/>
                    </a:lnL>
                    <a:lnR w="6350" cap="flat" cmpd="sng" algn="ctr">
                      <a:solidFill>
                        <a:srgbClr val="DDE6E8"/>
                      </a:solidFill>
                      <a:prstDash val="solid"/>
                      <a:round/>
                      <a:headEnd type="none" w="med" len="med"/>
                      <a:tailEnd type="none" w="med" len="med"/>
                    </a:lnR>
                    <a:lnT w="6350" cap="flat" cmpd="sng" algn="ctr">
                      <a:solidFill>
                        <a:srgbClr val="DDE6E8"/>
                      </a:solidFill>
                      <a:prstDash val="solid"/>
                      <a:round/>
                      <a:headEnd type="none" w="med" len="med"/>
                      <a:tailEnd type="none" w="med" len="med"/>
                    </a:lnT>
                    <a:lnB w="6350" cap="flat" cmpd="sng" algn="ctr">
                      <a:solidFill>
                        <a:srgbClr val="DDE6E8"/>
                      </a:solidFill>
                      <a:prstDash val="solid"/>
                      <a:round/>
                      <a:headEnd type="none" w="med" len="med"/>
                      <a:tailEnd type="none" w="med" len="med"/>
                    </a:lnB>
                    <a:solidFill>
                      <a:srgbClr val="FCE3DA"/>
                    </a:solidFill>
                  </a:tcPr>
                </a:tc>
                <a:tc>
                  <a:txBody>
                    <a:bodyPr/>
                    <a:lstStyle/>
                    <a:p>
                      <a:pPr marL="0" indent="0">
                        <a:buNone/>
                      </a:pPr>
                      <a:r>
                        <a:rPr lang="en-US" sz="1300" b="1" dirty="0">
                          <a:solidFill>
                            <a:srgbClr val="157A6E"/>
                          </a:solidFill>
                          <a:latin typeface="Calibri" pitchFamily="34" charset="0"/>
                          <a:ea typeface="Calibri" pitchFamily="34" charset="-122"/>
                          <a:cs typeface="Calibri" pitchFamily="34" charset="-120"/>
                        </a:rPr>
                        <a:t>Ham</a:t>
                      </a:r>
                      <a:endParaRPr lang="en-US" sz="1300" dirty="0">
                        <a:latin typeface="Calibri" charset="0"/>
                        <a:ea typeface="Calibri" charset="0"/>
                        <a:cs typeface="Calibri" charset="0"/>
                      </a:endParaRPr>
                    </a:p>
                  </a:txBody>
                  <a:tcPr marT="0" marB="0" anchor="ctr">
                    <a:lnL w="6350" cap="flat" cmpd="sng" algn="ctr">
                      <a:solidFill>
                        <a:srgbClr val="DDE6E8"/>
                      </a:solidFill>
                      <a:prstDash val="solid"/>
                      <a:round/>
                      <a:headEnd type="none" w="med" len="med"/>
                      <a:tailEnd type="none" w="med" len="med"/>
                    </a:lnL>
                    <a:lnR w="6350" cap="flat" cmpd="sng" algn="ctr">
                      <a:solidFill>
                        <a:srgbClr val="DDE6E8"/>
                      </a:solidFill>
                      <a:prstDash val="solid"/>
                      <a:round/>
                      <a:headEnd type="none" w="med" len="med"/>
                      <a:tailEnd type="none" w="med" len="med"/>
                    </a:lnR>
                    <a:lnT w="6350" cap="flat" cmpd="sng" algn="ctr">
                      <a:solidFill>
                        <a:srgbClr val="DDE6E8"/>
                      </a:solidFill>
                      <a:prstDash val="solid"/>
                      <a:round/>
                      <a:headEnd type="none" w="med" len="med"/>
                      <a:tailEnd type="none" w="med" len="med"/>
                    </a:lnT>
                    <a:lnB w="6350" cap="flat" cmpd="sng" algn="ctr">
                      <a:solidFill>
                        <a:srgbClr val="DDE6E8"/>
                      </a:solidFill>
                      <a:prstDash val="solid"/>
                      <a:round/>
                      <a:headEnd type="none" w="med" len="med"/>
                      <a:tailEnd type="none" w="med" len="med"/>
                    </a:lnB>
                    <a:solidFill>
                      <a:srgbClr val="FCE3DA"/>
                    </a:solidFill>
                  </a:tcPr>
                </a:tc>
                <a:tc>
                  <a:txBody>
                    <a:bodyPr/>
                    <a:lstStyle/>
                    <a:p>
                      <a:pPr marL="0" indent="0">
                        <a:buNone/>
                      </a:pPr>
                      <a:r>
                        <a:rPr lang="en-US" sz="1300" dirty="0">
                          <a:solidFill>
                            <a:srgbClr val="10262B"/>
                          </a:solidFill>
                          <a:latin typeface="Calibri" pitchFamily="34" charset="0"/>
                          <a:ea typeface="Calibri" pitchFamily="34" charset="-122"/>
                          <a:cs typeface="Calibri" pitchFamily="34" charset="-120"/>
                        </a:rPr>
                        <a:t>0.92</a:t>
                      </a:r>
                      <a:endParaRPr lang="en-US" sz="1300" dirty="0">
                        <a:latin typeface="Calibri" charset="0"/>
                        <a:ea typeface="Calibri" charset="0"/>
                        <a:cs typeface="Calibri" charset="0"/>
                      </a:endParaRPr>
                    </a:p>
                  </a:txBody>
                  <a:tcPr marT="0" marB="0" anchor="ctr">
                    <a:lnL w="6350" cap="flat" cmpd="sng" algn="ctr">
                      <a:solidFill>
                        <a:srgbClr val="DDE6E8"/>
                      </a:solidFill>
                      <a:prstDash val="solid"/>
                      <a:round/>
                      <a:headEnd type="none" w="med" len="med"/>
                      <a:tailEnd type="none" w="med" len="med"/>
                    </a:lnL>
                    <a:lnR w="6350" cap="flat" cmpd="sng" algn="ctr">
                      <a:solidFill>
                        <a:srgbClr val="DDE6E8"/>
                      </a:solidFill>
                      <a:prstDash val="solid"/>
                      <a:round/>
                      <a:headEnd type="none" w="med" len="med"/>
                      <a:tailEnd type="none" w="med" len="med"/>
                    </a:lnR>
                    <a:lnT w="6350" cap="flat" cmpd="sng" algn="ctr">
                      <a:solidFill>
                        <a:srgbClr val="DDE6E8"/>
                      </a:solidFill>
                      <a:prstDash val="solid"/>
                      <a:round/>
                      <a:headEnd type="none" w="med" len="med"/>
                      <a:tailEnd type="none" w="med" len="med"/>
                    </a:lnT>
                    <a:lnB w="6350" cap="flat" cmpd="sng" algn="ctr">
                      <a:solidFill>
                        <a:srgbClr val="DDE6E8"/>
                      </a:solidFill>
                      <a:prstDash val="solid"/>
                      <a:round/>
                      <a:headEnd type="none" w="med" len="med"/>
                      <a:tailEnd type="none" w="med" len="med"/>
                    </a:lnB>
                    <a:solidFill>
                      <a:srgbClr val="FCE3DA"/>
                    </a:solidFill>
                  </a:tcPr>
                </a:tc>
                <a:tc>
                  <a:txBody>
                    <a:bodyPr/>
                    <a:lstStyle/>
                    <a:p>
                      <a:pPr marL="0" indent="0" algn="ctr">
                        <a:buNone/>
                      </a:pPr>
                      <a:r>
                        <a:rPr lang="en-US" sz="1300" b="1" dirty="0">
                          <a:solidFill>
                            <a:srgbClr val="C9462A"/>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T="0" marB="0" anchor="ctr">
                    <a:lnL w="6350" cap="flat" cmpd="sng" algn="ctr">
                      <a:solidFill>
                        <a:srgbClr val="DDE6E8"/>
                      </a:solidFill>
                      <a:prstDash val="solid"/>
                      <a:round/>
                      <a:headEnd type="none" w="med" len="med"/>
                      <a:tailEnd type="none" w="med" len="med"/>
                    </a:lnL>
                    <a:lnR w="6350" cap="flat" cmpd="sng" algn="ctr">
                      <a:solidFill>
                        <a:srgbClr val="DDE6E8"/>
                      </a:solidFill>
                      <a:prstDash val="solid"/>
                      <a:round/>
                      <a:headEnd type="none" w="med" len="med"/>
                      <a:tailEnd type="none" w="med" len="med"/>
                    </a:lnR>
                    <a:lnT w="6350" cap="flat" cmpd="sng" algn="ctr">
                      <a:solidFill>
                        <a:srgbClr val="DDE6E8"/>
                      </a:solidFill>
                      <a:prstDash val="solid"/>
                      <a:round/>
                      <a:headEnd type="none" w="med" len="med"/>
                      <a:tailEnd type="none" w="med" len="med"/>
                    </a:lnT>
                    <a:lnB w="6350" cap="flat" cmpd="sng" algn="ctr">
                      <a:solidFill>
                        <a:srgbClr val="DDE6E8"/>
                      </a:solidFill>
                      <a:prstDash val="solid"/>
                      <a:round/>
                      <a:headEnd type="none" w="med" len="med"/>
                      <a:tailEnd type="none" w="med" len="med"/>
                    </a:lnB>
                    <a:solidFill>
                      <a:srgbClr val="FCE3DA"/>
                    </a:solidFill>
                  </a:tcPr>
                </a:tc>
              </a:tr>
              <a:tr h="502920">
                <a:tc>
                  <a:txBody>
                    <a:bodyPr/>
                    <a:lstStyle/>
                    <a:p>
                      <a:pPr marL="0" indent="0">
                        <a:buNone/>
                      </a:pPr>
                      <a:r>
                        <a:rPr lang="en-US" sz="1300" dirty="0">
                          <a:solidFill>
                            <a:srgbClr val="10262B"/>
                          </a:solidFill>
                          <a:latin typeface="Calibri" pitchFamily="34" charset="0"/>
                          <a:ea typeface="Calibri" pitchFamily="34" charset="-122"/>
                          <a:cs typeface="Calibri" pitchFamily="34" charset="-120"/>
                        </a:rPr>
                        <a:t>Thanks for the report. Let's discuss in tomorrow's meeting.</a:t>
                      </a:r>
                      <a:endParaRPr lang="en-US" sz="1300" dirty="0">
                        <a:latin typeface="Calibri" charset="0"/>
                        <a:ea typeface="Calibri" charset="0"/>
                        <a:cs typeface="Calibri" charset="0"/>
                      </a:endParaRPr>
                    </a:p>
                  </a:txBody>
                  <a:tcPr marT="0" marB="0" anchor="ctr">
                    <a:lnL w="6350" cap="flat" cmpd="sng" algn="ctr">
                      <a:solidFill>
                        <a:srgbClr val="DDE6E8"/>
                      </a:solidFill>
                      <a:prstDash val="solid"/>
                      <a:round/>
                      <a:headEnd type="none" w="med" len="med"/>
                      <a:tailEnd type="none" w="med" len="med"/>
                    </a:lnL>
                    <a:lnR w="6350" cap="flat" cmpd="sng" algn="ctr">
                      <a:solidFill>
                        <a:srgbClr val="DDE6E8"/>
                      </a:solidFill>
                      <a:prstDash val="solid"/>
                      <a:round/>
                      <a:headEnd type="none" w="med" len="med"/>
                      <a:tailEnd type="none" w="med" len="med"/>
                    </a:lnR>
                    <a:lnT w="6350" cap="flat" cmpd="sng" algn="ctr">
                      <a:solidFill>
                        <a:srgbClr val="DDE6E8"/>
                      </a:solidFill>
                      <a:prstDash val="solid"/>
                      <a:round/>
                      <a:headEnd type="none" w="med" len="med"/>
                      <a:tailEnd type="none" w="med" len="med"/>
                    </a:lnT>
                    <a:lnB w="6350" cap="flat" cmpd="sng" algn="ctr">
                      <a:solidFill>
                        <a:srgbClr val="DDE6E8"/>
                      </a:solidFill>
                      <a:prstDash val="solid"/>
                      <a:round/>
                      <a:headEnd type="none" w="med" len="med"/>
                      <a:tailEnd type="none" w="med" len="med"/>
                    </a:lnB>
                    <a:solidFill>
                      <a:srgbClr val="EDF3F3"/>
                    </a:solidFill>
                  </a:tcPr>
                </a:tc>
                <a:tc>
                  <a:txBody>
                    <a:bodyPr/>
                    <a:lstStyle/>
                    <a:p>
                      <a:pPr marL="0" indent="0">
                        <a:buNone/>
                      </a:pPr>
                      <a:r>
                        <a:rPr lang="en-US" sz="1300" b="1" dirty="0">
                          <a:solidFill>
                            <a:srgbClr val="157A6E"/>
                          </a:solidFill>
                          <a:latin typeface="Calibri" pitchFamily="34" charset="0"/>
                          <a:ea typeface="Calibri" pitchFamily="34" charset="-122"/>
                          <a:cs typeface="Calibri" pitchFamily="34" charset="-120"/>
                        </a:rPr>
                        <a:t>Ham</a:t>
                      </a:r>
                      <a:endParaRPr lang="en-US" sz="1300" dirty="0">
                        <a:latin typeface="Calibri" charset="0"/>
                        <a:ea typeface="Calibri" charset="0"/>
                        <a:cs typeface="Calibri" charset="0"/>
                      </a:endParaRPr>
                    </a:p>
                  </a:txBody>
                  <a:tcPr marT="0" marB="0" anchor="ctr">
                    <a:lnL w="6350" cap="flat" cmpd="sng" algn="ctr">
                      <a:solidFill>
                        <a:srgbClr val="DDE6E8"/>
                      </a:solidFill>
                      <a:prstDash val="solid"/>
                      <a:round/>
                      <a:headEnd type="none" w="med" len="med"/>
                      <a:tailEnd type="none" w="med" len="med"/>
                    </a:lnL>
                    <a:lnR w="6350" cap="flat" cmpd="sng" algn="ctr">
                      <a:solidFill>
                        <a:srgbClr val="DDE6E8"/>
                      </a:solidFill>
                      <a:prstDash val="solid"/>
                      <a:round/>
                      <a:headEnd type="none" w="med" len="med"/>
                      <a:tailEnd type="none" w="med" len="med"/>
                    </a:lnR>
                    <a:lnT w="6350" cap="flat" cmpd="sng" algn="ctr">
                      <a:solidFill>
                        <a:srgbClr val="DDE6E8"/>
                      </a:solidFill>
                      <a:prstDash val="solid"/>
                      <a:round/>
                      <a:headEnd type="none" w="med" len="med"/>
                      <a:tailEnd type="none" w="med" len="med"/>
                    </a:lnT>
                    <a:lnB w="6350" cap="flat" cmpd="sng" algn="ctr">
                      <a:solidFill>
                        <a:srgbClr val="DDE6E8"/>
                      </a:solidFill>
                      <a:prstDash val="solid"/>
                      <a:round/>
                      <a:headEnd type="none" w="med" len="med"/>
                      <a:tailEnd type="none" w="med" len="med"/>
                    </a:lnB>
                    <a:solidFill>
                      <a:srgbClr val="EDF3F3"/>
                    </a:solidFill>
                  </a:tcPr>
                </a:tc>
                <a:tc>
                  <a:txBody>
                    <a:bodyPr/>
                    <a:lstStyle/>
                    <a:p>
                      <a:pPr marL="0" indent="0">
                        <a:buNone/>
                      </a:pPr>
                      <a:r>
                        <a:rPr lang="en-US" sz="1300" b="1" dirty="0">
                          <a:solidFill>
                            <a:srgbClr val="157A6E"/>
                          </a:solidFill>
                          <a:latin typeface="Calibri" pitchFamily="34" charset="0"/>
                          <a:ea typeface="Calibri" pitchFamily="34" charset="-122"/>
                          <a:cs typeface="Calibri" pitchFamily="34" charset="-120"/>
                        </a:rPr>
                        <a:t>Ham</a:t>
                      </a:r>
                      <a:endParaRPr lang="en-US" sz="1300" dirty="0">
                        <a:latin typeface="Calibri" charset="0"/>
                        <a:ea typeface="Calibri" charset="0"/>
                        <a:cs typeface="Calibri" charset="0"/>
                      </a:endParaRPr>
                    </a:p>
                  </a:txBody>
                  <a:tcPr marT="0" marB="0" anchor="ctr">
                    <a:lnL w="6350" cap="flat" cmpd="sng" algn="ctr">
                      <a:solidFill>
                        <a:srgbClr val="DDE6E8"/>
                      </a:solidFill>
                      <a:prstDash val="solid"/>
                      <a:round/>
                      <a:headEnd type="none" w="med" len="med"/>
                      <a:tailEnd type="none" w="med" len="med"/>
                    </a:lnL>
                    <a:lnR w="6350" cap="flat" cmpd="sng" algn="ctr">
                      <a:solidFill>
                        <a:srgbClr val="DDE6E8"/>
                      </a:solidFill>
                      <a:prstDash val="solid"/>
                      <a:round/>
                      <a:headEnd type="none" w="med" len="med"/>
                      <a:tailEnd type="none" w="med" len="med"/>
                    </a:lnR>
                    <a:lnT w="6350" cap="flat" cmpd="sng" algn="ctr">
                      <a:solidFill>
                        <a:srgbClr val="DDE6E8"/>
                      </a:solidFill>
                      <a:prstDash val="solid"/>
                      <a:round/>
                      <a:headEnd type="none" w="med" len="med"/>
                      <a:tailEnd type="none" w="med" len="med"/>
                    </a:lnT>
                    <a:lnB w="6350" cap="flat" cmpd="sng" algn="ctr">
                      <a:solidFill>
                        <a:srgbClr val="DDE6E8"/>
                      </a:solidFill>
                      <a:prstDash val="solid"/>
                      <a:round/>
                      <a:headEnd type="none" w="med" len="med"/>
                      <a:tailEnd type="none" w="med" len="med"/>
                    </a:lnB>
                    <a:solidFill>
                      <a:srgbClr val="EDF3F3"/>
                    </a:solidFill>
                  </a:tcPr>
                </a:tc>
                <a:tc>
                  <a:txBody>
                    <a:bodyPr/>
                    <a:lstStyle/>
                    <a:p>
                      <a:pPr marL="0" indent="0">
                        <a:buNone/>
                      </a:pPr>
                      <a:r>
                        <a:rPr lang="en-US" sz="1300" dirty="0">
                          <a:solidFill>
                            <a:srgbClr val="10262B"/>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T="0" marB="0" anchor="ctr">
                    <a:lnL w="6350" cap="flat" cmpd="sng" algn="ctr">
                      <a:solidFill>
                        <a:srgbClr val="DDE6E8"/>
                      </a:solidFill>
                      <a:prstDash val="solid"/>
                      <a:round/>
                      <a:headEnd type="none" w="med" len="med"/>
                      <a:tailEnd type="none" w="med" len="med"/>
                    </a:lnL>
                    <a:lnR w="6350" cap="flat" cmpd="sng" algn="ctr">
                      <a:solidFill>
                        <a:srgbClr val="DDE6E8"/>
                      </a:solidFill>
                      <a:prstDash val="solid"/>
                      <a:round/>
                      <a:headEnd type="none" w="med" len="med"/>
                      <a:tailEnd type="none" w="med" len="med"/>
                    </a:lnR>
                    <a:lnT w="6350" cap="flat" cmpd="sng" algn="ctr">
                      <a:solidFill>
                        <a:srgbClr val="DDE6E8"/>
                      </a:solidFill>
                      <a:prstDash val="solid"/>
                      <a:round/>
                      <a:headEnd type="none" w="med" len="med"/>
                      <a:tailEnd type="none" w="med" len="med"/>
                    </a:lnT>
                    <a:lnB w="6350" cap="flat" cmpd="sng" algn="ctr">
                      <a:solidFill>
                        <a:srgbClr val="DDE6E8"/>
                      </a:solidFill>
                      <a:prstDash val="solid"/>
                      <a:round/>
                      <a:headEnd type="none" w="med" len="med"/>
                      <a:tailEnd type="none" w="med" len="med"/>
                    </a:lnB>
                    <a:solidFill>
                      <a:srgbClr val="EDF3F3"/>
                    </a:solidFill>
                  </a:tcPr>
                </a:tc>
                <a:tc>
                  <a:txBody>
                    <a:bodyPr/>
                    <a:lstStyle/>
                    <a:p>
                      <a:pPr marL="0" indent="0" algn="ctr">
                        <a:buNone/>
                      </a:pPr>
                      <a:r>
                        <a:rPr lang="en-US" sz="1300" b="1" dirty="0">
                          <a:solidFill>
                            <a:srgbClr val="157A6E"/>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T="0" marB="0" anchor="ctr">
                    <a:lnL w="6350" cap="flat" cmpd="sng" algn="ctr">
                      <a:solidFill>
                        <a:srgbClr val="DDE6E8"/>
                      </a:solidFill>
                      <a:prstDash val="solid"/>
                      <a:round/>
                      <a:headEnd type="none" w="med" len="med"/>
                      <a:tailEnd type="none" w="med" len="med"/>
                    </a:lnL>
                    <a:lnR w="6350" cap="flat" cmpd="sng" algn="ctr">
                      <a:solidFill>
                        <a:srgbClr val="DDE6E8"/>
                      </a:solidFill>
                      <a:prstDash val="solid"/>
                      <a:round/>
                      <a:headEnd type="none" w="med" len="med"/>
                      <a:tailEnd type="none" w="med" len="med"/>
                    </a:lnR>
                    <a:lnT w="6350" cap="flat" cmpd="sng" algn="ctr">
                      <a:solidFill>
                        <a:srgbClr val="DDE6E8"/>
                      </a:solidFill>
                      <a:prstDash val="solid"/>
                      <a:round/>
                      <a:headEnd type="none" w="med" len="med"/>
                      <a:tailEnd type="none" w="med" len="med"/>
                    </a:lnT>
                    <a:lnB w="6350" cap="flat" cmpd="sng" algn="ctr">
                      <a:solidFill>
                        <a:srgbClr val="DDE6E8"/>
                      </a:solidFill>
                      <a:prstDash val="solid"/>
                      <a:round/>
                      <a:headEnd type="none" w="med" len="med"/>
                      <a:tailEnd type="none" w="med" len="med"/>
                    </a:lnB>
                    <a:solidFill>
                      <a:srgbClr val="EDF3F3"/>
                    </a:solidFill>
                  </a:tcPr>
                </a:tc>
              </a:tr>
              <a:tr h="502920">
                <a:tc>
                  <a:txBody>
                    <a:bodyPr/>
                    <a:lstStyle/>
                    <a:p>
                      <a:pPr marL="0" indent="0">
                        <a:buNone/>
                      </a:pPr>
                      <a:r>
                        <a:rPr lang="en-US" sz="1300" dirty="0">
                          <a:solidFill>
                            <a:srgbClr val="10262B"/>
                          </a:solidFill>
                          <a:latin typeface="Calibri" pitchFamily="34" charset="0"/>
                          <a:ea typeface="Calibri" pitchFamily="34" charset="-122"/>
                          <a:cs typeface="Calibri" pitchFamily="34" charset="-120"/>
                        </a:rPr>
                        <a:t>Free money!!! Act now!!!</a:t>
                      </a:r>
                      <a:endParaRPr lang="en-US" sz="1300" dirty="0">
                        <a:latin typeface="Calibri" charset="0"/>
                        <a:ea typeface="Calibri" charset="0"/>
                        <a:cs typeface="Calibri" charset="0"/>
                      </a:endParaRPr>
                    </a:p>
                  </a:txBody>
                  <a:tcPr marT="0" marB="0" anchor="ctr">
                    <a:lnL w="6350" cap="flat" cmpd="sng" algn="ctr">
                      <a:solidFill>
                        <a:srgbClr val="DDE6E8"/>
                      </a:solidFill>
                      <a:prstDash val="solid"/>
                      <a:round/>
                      <a:headEnd type="none" w="med" len="med"/>
                      <a:tailEnd type="none" w="med" len="med"/>
                    </a:lnL>
                    <a:lnR w="6350" cap="flat" cmpd="sng" algn="ctr">
                      <a:solidFill>
                        <a:srgbClr val="DDE6E8"/>
                      </a:solidFill>
                      <a:prstDash val="solid"/>
                      <a:round/>
                      <a:headEnd type="none" w="med" len="med"/>
                      <a:tailEnd type="none" w="med" len="med"/>
                    </a:lnR>
                    <a:lnT w="6350" cap="flat" cmpd="sng" algn="ctr">
                      <a:solidFill>
                        <a:srgbClr val="DDE6E8"/>
                      </a:solidFill>
                      <a:prstDash val="solid"/>
                      <a:round/>
                      <a:headEnd type="none" w="med" len="med"/>
                      <a:tailEnd type="none" w="med" len="med"/>
                    </a:lnT>
                    <a:lnB w="6350" cap="flat" cmpd="sng" algn="ctr">
                      <a:solidFill>
                        <a:srgbClr val="DDE6E8"/>
                      </a:solidFill>
                      <a:prstDash val="solid"/>
                      <a:round/>
                      <a:headEnd type="none" w="med" len="med"/>
                      <a:tailEnd type="none" w="med" len="med"/>
                    </a:lnB>
                    <a:solidFill>
                      <a:srgbClr val="FCE3DA"/>
                    </a:solidFill>
                  </a:tcPr>
                </a:tc>
                <a:tc>
                  <a:txBody>
                    <a:bodyPr/>
                    <a:lstStyle/>
                    <a:p>
                      <a:pPr marL="0" indent="0">
                        <a:buNone/>
                      </a:pPr>
                      <a:r>
                        <a:rPr lang="en-US" sz="1300" b="1" dirty="0">
                          <a:solidFill>
                            <a:srgbClr val="C9462A"/>
                          </a:solidFill>
                          <a:latin typeface="Calibri" pitchFamily="34" charset="0"/>
                          <a:ea typeface="Calibri" pitchFamily="34" charset="-122"/>
                          <a:cs typeface="Calibri" pitchFamily="34" charset="-120"/>
                        </a:rPr>
                        <a:t>Spam</a:t>
                      </a:r>
                      <a:endParaRPr lang="en-US" sz="1300" dirty="0">
                        <a:latin typeface="Calibri" charset="0"/>
                        <a:ea typeface="Calibri" charset="0"/>
                        <a:cs typeface="Calibri" charset="0"/>
                      </a:endParaRPr>
                    </a:p>
                  </a:txBody>
                  <a:tcPr marT="0" marB="0" anchor="ctr">
                    <a:lnL w="6350" cap="flat" cmpd="sng" algn="ctr">
                      <a:solidFill>
                        <a:srgbClr val="DDE6E8"/>
                      </a:solidFill>
                      <a:prstDash val="solid"/>
                      <a:round/>
                      <a:headEnd type="none" w="med" len="med"/>
                      <a:tailEnd type="none" w="med" len="med"/>
                    </a:lnL>
                    <a:lnR w="6350" cap="flat" cmpd="sng" algn="ctr">
                      <a:solidFill>
                        <a:srgbClr val="DDE6E8"/>
                      </a:solidFill>
                      <a:prstDash val="solid"/>
                      <a:round/>
                      <a:headEnd type="none" w="med" len="med"/>
                      <a:tailEnd type="none" w="med" len="med"/>
                    </a:lnR>
                    <a:lnT w="6350" cap="flat" cmpd="sng" algn="ctr">
                      <a:solidFill>
                        <a:srgbClr val="DDE6E8"/>
                      </a:solidFill>
                      <a:prstDash val="solid"/>
                      <a:round/>
                      <a:headEnd type="none" w="med" len="med"/>
                      <a:tailEnd type="none" w="med" len="med"/>
                    </a:lnT>
                    <a:lnB w="6350" cap="flat" cmpd="sng" algn="ctr">
                      <a:solidFill>
                        <a:srgbClr val="DDE6E8"/>
                      </a:solidFill>
                      <a:prstDash val="solid"/>
                      <a:round/>
                      <a:headEnd type="none" w="med" len="med"/>
                      <a:tailEnd type="none" w="med" len="med"/>
                    </a:lnB>
                    <a:solidFill>
                      <a:srgbClr val="FCE3DA"/>
                    </a:solidFill>
                  </a:tcPr>
                </a:tc>
                <a:tc>
                  <a:txBody>
                    <a:bodyPr/>
                    <a:lstStyle/>
                    <a:p>
                      <a:pPr marL="0" indent="0">
                        <a:buNone/>
                      </a:pPr>
                      <a:r>
                        <a:rPr lang="en-US" sz="1300" b="1" dirty="0">
                          <a:solidFill>
                            <a:srgbClr val="157A6E"/>
                          </a:solidFill>
                          <a:latin typeface="Calibri" pitchFamily="34" charset="0"/>
                          <a:ea typeface="Calibri" pitchFamily="34" charset="-122"/>
                          <a:cs typeface="Calibri" pitchFamily="34" charset="-120"/>
                        </a:rPr>
                        <a:t>Ham</a:t>
                      </a:r>
                      <a:endParaRPr lang="en-US" sz="1300" dirty="0">
                        <a:latin typeface="Calibri" charset="0"/>
                        <a:ea typeface="Calibri" charset="0"/>
                        <a:cs typeface="Calibri" charset="0"/>
                      </a:endParaRPr>
                    </a:p>
                  </a:txBody>
                  <a:tcPr marT="0" marB="0" anchor="ctr">
                    <a:lnL w="6350" cap="flat" cmpd="sng" algn="ctr">
                      <a:solidFill>
                        <a:srgbClr val="DDE6E8"/>
                      </a:solidFill>
                      <a:prstDash val="solid"/>
                      <a:round/>
                      <a:headEnd type="none" w="med" len="med"/>
                      <a:tailEnd type="none" w="med" len="med"/>
                    </a:lnL>
                    <a:lnR w="6350" cap="flat" cmpd="sng" algn="ctr">
                      <a:solidFill>
                        <a:srgbClr val="DDE6E8"/>
                      </a:solidFill>
                      <a:prstDash val="solid"/>
                      <a:round/>
                      <a:headEnd type="none" w="med" len="med"/>
                      <a:tailEnd type="none" w="med" len="med"/>
                    </a:lnR>
                    <a:lnT w="6350" cap="flat" cmpd="sng" algn="ctr">
                      <a:solidFill>
                        <a:srgbClr val="DDE6E8"/>
                      </a:solidFill>
                      <a:prstDash val="solid"/>
                      <a:round/>
                      <a:headEnd type="none" w="med" len="med"/>
                      <a:tailEnd type="none" w="med" len="med"/>
                    </a:lnT>
                    <a:lnB w="6350" cap="flat" cmpd="sng" algn="ctr">
                      <a:solidFill>
                        <a:srgbClr val="DDE6E8"/>
                      </a:solidFill>
                      <a:prstDash val="solid"/>
                      <a:round/>
                      <a:headEnd type="none" w="med" len="med"/>
                      <a:tailEnd type="none" w="med" len="med"/>
                    </a:lnB>
                    <a:solidFill>
                      <a:srgbClr val="FCE3DA"/>
                    </a:solidFill>
                  </a:tcPr>
                </a:tc>
                <a:tc>
                  <a:txBody>
                    <a:bodyPr/>
                    <a:lstStyle/>
                    <a:p>
                      <a:pPr marL="0" indent="0">
                        <a:buNone/>
                      </a:pPr>
                      <a:r>
                        <a:rPr lang="en-US" sz="1300" dirty="0">
                          <a:solidFill>
                            <a:srgbClr val="10262B"/>
                          </a:solidFill>
                          <a:latin typeface="Calibri" pitchFamily="34" charset="0"/>
                          <a:ea typeface="Calibri" pitchFamily="34" charset="-122"/>
                          <a:cs typeface="Calibri" pitchFamily="34" charset="-120"/>
                        </a:rPr>
                        <a:t>0.96</a:t>
                      </a:r>
                      <a:endParaRPr lang="en-US" sz="1300" dirty="0">
                        <a:latin typeface="Calibri" charset="0"/>
                        <a:ea typeface="Calibri" charset="0"/>
                        <a:cs typeface="Calibri" charset="0"/>
                      </a:endParaRPr>
                    </a:p>
                  </a:txBody>
                  <a:tcPr marT="0" marB="0" anchor="ctr">
                    <a:lnL w="6350" cap="flat" cmpd="sng" algn="ctr">
                      <a:solidFill>
                        <a:srgbClr val="DDE6E8"/>
                      </a:solidFill>
                      <a:prstDash val="solid"/>
                      <a:round/>
                      <a:headEnd type="none" w="med" len="med"/>
                      <a:tailEnd type="none" w="med" len="med"/>
                    </a:lnL>
                    <a:lnR w="6350" cap="flat" cmpd="sng" algn="ctr">
                      <a:solidFill>
                        <a:srgbClr val="DDE6E8"/>
                      </a:solidFill>
                      <a:prstDash val="solid"/>
                      <a:round/>
                      <a:headEnd type="none" w="med" len="med"/>
                      <a:tailEnd type="none" w="med" len="med"/>
                    </a:lnR>
                    <a:lnT w="6350" cap="flat" cmpd="sng" algn="ctr">
                      <a:solidFill>
                        <a:srgbClr val="DDE6E8"/>
                      </a:solidFill>
                      <a:prstDash val="solid"/>
                      <a:round/>
                      <a:headEnd type="none" w="med" len="med"/>
                      <a:tailEnd type="none" w="med" len="med"/>
                    </a:lnT>
                    <a:lnB w="6350" cap="flat" cmpd="sng" algn="ctr">
                      <a:solidFill>
                        <a:srgbClr val="DDE6E8"/>
                      </a:solidFill>
                      <a:prstDash val="solid"/>
                      <a:round/>
                      <a:headEnd type="none" w="med" len="med"/>
                      <a:tailEnd type="none" w="med" len="med"/>
                    </a:lnB>
                    <a:solidFill>
                      <a:srgbClr val="FCE3DA"/>
                    </a:solidFill>
                  </a:tcPr>
                </a:tc>
                <a:tc>
                  <a:txBody>
                    <a:bodyPr/>
                    <a:lstStyle/>
                    <a:p>
                      <a:pPr marL="0" indent="0" algn="ctr">
                        <a:buNone/>
                      </a:pPr>
                      <a:r>
                        <a:rPr lang="en-US" sz="1300" b="1" dirty="0">
                          <a:solidFill>
                            <a:srgbClr val="C9462A"/>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T="0" marB="0" anchor="ctr">
                    <a:lnL w="6350" cap="flat" cmpd="sng" algn="ctr">
                      <a:solidFill>
                        <a:srgbClr val="DDE6E8"/>
                      </a:solidFill>
                      <a:prstDash val="solid"/>
                      <a:round/>
                      <a:headEnd type="none" w="med" len="med"/>
                      <a:tailEnd type="none" w="med" len="med"/>
                    </a:lnL>
                    <a:lnR w="6350" cap="flat" cmpd="sng" algn="ctr">
                      <a:solidFill>
                        <a:srgbClr val="DDE6E8"/>
                      </a:solidFill>
                      <a:prstDash val="solid"/>
                      <a:round/>
                      <a:headEnd type="none" w="med" len="med"/>
                      <a:tailEnd type="none" w="med" len="med"/>
                    </a:lnR>
                    <a:lnT w="6350" cap="flat" cmpd="sng" algn="ctr">
                      <a:solidFill>
                        <a:srgbClr val="DDE6E8"/>
                      </a:solidFill>
                      <a:prstDash val="solid"/>
                      <a:round/>
                      <a:headEnd type="none" w="med" len="med"/>
                      <a:tailEnd type="none" w="med" len="med"/>
                    </a:lnT>
                    <a:lnB w="6350" cap="flat" cmpd="sng" algn="ctr">
                      <a:solidFill>
                        <a:srgbClr val="DDE6E8"/>
                      </a:solidFill>
                      <a:prstDash val="solid"/>
                      <a:round/>
                      <a:headEnd type="none" w="med" len="med"/>
                      <a:tailEnd type="none" w="med" len="med"/>
                    </a:lnB>
                    <a:solidFill>
                      <a:srgbClr val="FCE3DA"/>
                    </a:solidFill>
                  </a:tcPr>
                </a:tc>
              </a:tr>
            </a:tbl>
          </a:graphicData>
        </a:graphic>
      </p:graphicFrame>
      <p:sp>
        <p:nvSpPr>
          <p:cNvPr id="5" name="Text 1"/>
          <p:cNvSpPr txBox="1"/>
          <p:nvPr/>
        </p:nvSpPr>
        <p:spPr>
          <a:xfrm>
            <a:off x="457200" y="4206240"/>
            <a:ext cx="8229600" cy="457200"/>
          </a:xfrm>
          <a:prstGeom prst="rect">
            <a:avLst/>
          </a:prstGeom>
          <a:noFill/>
          <a:ln/>
        </p:spPr>
        <p:txBody>
          <a:bodyPr wrap="square" lIns="0" tIns="0" rIns="0" bIns="0" rtlCol="0" anchor="t"/>
          <a:lstStyle/>
          <a:p>
            <a:pPr marL="0" indent="0">
              <a:buNone/>
            </a:pPr>
            <a:r>
              <a:rPr lang="en-US" sz="1400" i="1" dirty="0">
                <a:solidFill>
                  <a:schemeClr val="tx1"/>
                </a:solidFill>
              </a:rPr>
              <a:t>Caught 1 of 3 spam examples. Likely cause: training data is SMS-era spam, so newer phishing wording is unfamiliar.</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85"/>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600" b="1" dirty="0">
                <a:solidFill>
                  <a:schemeClr val="bg1"/>
                </a:solidFill>
              </a:rPr>
              <a:t>Takeaways and next steps</a:t>
            </a:r>
            <a:endParaRPr lang="en-US" sz="3600" dirty="0"/>
          </a:p>
        </p:txBody>
      </p:sp>
      <p:sp>
        <p:nvSpPr>
          <p:cNvPr id="4" name="Close card Takeaways"/>
          <p:cNvSpPr/>
          <p:nvPr/>
        </p:nvSpPr>
        <p:spPr>
          <a:xfrm>
            <a:off x="457200" y="1234440"/>
            <a:ext cx="4023360" cy="3291840"/>
          </a:xfrm>
          <a:prstGeom prst="roundRect">
            <a:avLst>
              <a:gd name="adj" fmla="val 3333"/>
            </a:avLst>
          </a:prstGeom>
          <a:solidFill>
            <a:schemeClr val="tx2"/>
          </a:solidFill>
          <a:ln/>
        </p:spPr>
      </p:sp>
      <p:sp>
        <p:nvSpPr>
          <p:cNvPr id="5" name="Text 2"/>
          <p:cNvSpPr txBox="1"/>
          <p:nvPr/>
        </p:nvSpPr>
        <p:spPr>
          <a:xfrm>
            <a:off x="731520" y="1371600"/>
            <a:ext cx="3474720" cy="457200"/>
          </a:xfrm>
          <a:prstGeom prst="rect">
            <a:avLst/>
          </a:prstGeom>
          <a:noFill/>
          <a:ln/>
        </p:spPr>
        <p:txBody>
          <a:bodyPr wrap="square" lIns="0" tIns="0" rIns="0" bIns="0" rtlCol="0" anchor="ctr"/>
          <a:lstStyle/>
          <a:p>
            <a:pPr marL="0" indent="0">
              <a:buNone/>
            </a:pPr>
            <a:r>
              <a:rPr lang="en-US" sz="2400" b="1" dirty="0">
                <a:solidFill>
                  <a:srgbClr val="8FD3C9"/>
                </a:solidFill>
              </a:rPr>
              <a:t>Takeaways</a:t>
            </a:r>
            <a:endParaRPr lang="en-US" sz="2400" dirty="0"/>
          </a:p>
        </p:txBody>
      </p:sp>
      <p:sp>
        <p:nvSpPr>
          <p:cNvPr id="6" name="Text 3"/>
          <p:cNvSpPr txBox="1"/>
          <p:nvPr/>
        </p:nvSpPr>
        <p:spPr>
          <a:xfrm>
            <a:off x="731520" y="1920240"/>
            <a:ext cx="3520440" cy="24688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bg1"/>
                </a:solidFill>
              </a:rPr>
              <a:t>SVM is best overall: 98.2% accuracy, 0.89 spam recall</a:t>
            </a:r>
            <a:endParaRPr lang="en-US" sz="1600" dirty="0"/>
          </a:p>
          <a:p>
            <a:pPr marL="342900" indent="-342900">
              <a:spcAft>
                <a:spcPts val="1000"/>
              </a:spcAft>
              <a:buSzPct val="100000"/>
              <a:buChar char="•"/>
            </a:pPr>
            <a:r>
              <a:rPr lang="en-US" sz="1600" dirty="0">
                <a:solidFill>
                  <a:schemeClr val="bg1"/>
                </a:solidFill>
              </a:rPr>
              <a:t>Almost no real messages are blocked (ham recall 1.00)</a:t>
            </a:r>
            <a:endParaRPr lang="en-US" sz="1600" dirty="0"/>
          </a:p>
          <a:p>
            <a:pPr marL="342900" indent="-342900">
              <a:spcAft>
                <a:spcPts val="1000"/>
              </a:spcAft>
              <a:buSzPct val="100000"/>
              <a:buChar char="•"/>
            </a:pPr>
            <a:r>
              <a:rPr lang="en-US" sz="1600" dirty="0">
                <a:solidFill>
                  <a:schemeClr val="bg1"/>
                </a:solidFill>
              </a:rPr>
              <a:t>About 11% of spam still gets through, even with the best model</a:t>
            </a:r>
            <a:endParaRPr lang="en-US" sz="1600" dirty="0"/>
          </a:p>
        </p:txBody>
      </p:sp>
      <p:sp>
        <p:nvSpPr>
          <p:cNvPr id="7" name="Close card Next steps"/>
          <p:cNvSpPr/>
          <p:nvPr/>
        </p:nvSpPr>
        <p:spPr>
          <a:xfrm>
            <a:off x="4663440" y="1234440"/>
            <a:ext cx="4023360" cy="3291840"/>
          </a:xfrm>
          <a:prstGeom prst="roundRect">
            <a:avLst>
              <a:gd name="adj" fmla="val 3333"/>
            </a:avLst>
          </a:prstGeom>
          <a:solidFill>
            <a:schemeClr val="tx2"/>
          </a:solidFill>
          <a:ln/>
        </p:spPr>
      </p:sp>
      <p:sp>
        <p:nvSpPr>
          <p:cNvPr id="8" name="Text 5"/>
          <p:cNvSpPr txBox="1"/>
          <p:nvPr/>
        </p:nvSpPr>
        <p:spPr>
          <a:xfrm>
            <a:off x="4937760" y="1371600"/>
            <a:ext cx="3474720" cy="457200"/>
          </a:xfrm>
          <a:prstGeom prst="rect">
            <a:avLst/>
          </a:prstGeom>
          <a:noFill/>
          <a:ln/>
        </p:spPr>
        <p:txBody>
          <a:bodyPr wrap="square" lIns="0" tIns="0" rIns="0" bIns="0" rtlCol="0" anchor="ctr"/>
          <a:lstStyle/>
          <a:p>
            <a:pPr marL="0" indent="0">
              <a:buNone/>
            </a:pPr>
            <a:r>
              <a:rPr lang="en-US" sz="2400" b="1" dirty="0">
                <a:solidFill>
                  <a:srgbClr val="F2B84B"/>
                </a:solidFill>
              </a:rPr>
              <a:t>Next steps</a:t>
            </a:r>
            <a:endParaRPr lang="en-US" sz="2400" dirty="0"/>
          </a:p>
        </p:txBody>
      </p:sp>
      <p:sp>
        <p:nvSpPr>
          <p:cNvPr id="9" name="Text 6"/>
          <p:cNvSpPr txBox="1"/>
          <p:nvPr/>
        </p:nvSpPr>
        <p:spPr>
          <a:xfrm>
            <a:off x="4937760" y="1920240"/>
            <a:ext cx="3520440" cy="24688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bg1"/>
                </a:solidFill>
              </a:rPr>
              <a:t>Tune the decision threshold or class weights to raise spam recall</a:t>
            </a:r>
            <a:endParaRPr lang="en-US" sz="1600" dirty="0"/>
          </a:p>
          <a:p>
            <a:pPr marL="342900" indent="-342900">
              <a:spcAft>
                <a:spcPts val="1000"/>
              </a:spcAft>
              <a:buSzPct val="100000"/>
              <a:buChar char="•"/>
            </a:pPr>
            <a:r>
              <a:rPr lang="en-US" sz="1600" dirty="0">
                <a:solidFill>
                  <a:schemeClr val="bg1"/>
                </a:solidFill>
              </a:rPr>
              <a:t>Add newer and more varied data, including phishing and email</a:t>
            </a:r>
            <a:endParaRPr lang="en-US" sz="1600" dirty="0"/>
          </a:p>
          <a:p>
            <a:pPr marL="342900" indent="-342900">
              <a:spcAft>
                <a:spcPts val="1000"/>
              </a:spcAft>
              <a:buSzPct val="100000"/>
              <a:buChar char="•"/>
            </a:pPr>
            <a:r>
              <a:rPr lang="en-US" sz="1600" dirty="0">
                <a:solidFill>
                  <a:schemeClr val="bg1"/>
                </a:solidFill>
              </a:rPr>
              <a:t>Try n-gram features or a transformer model</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D3C9"/>
                </a:solidFill>
              </a:defRPr>
            </a:lvl1pPr>
          </a:lstStyle>
          <a:p>
            <a:pPr algn="r"/>
            <a:fld id="{F7021451-1387-4CA6-816F-3879F97B5CBC}" type="slidenum">
              <a:rPr lang="en-US" b="0"/>
              <a:t>15</a:t>
            </a:fld>
            <a:endParaRPr lang="en-US"/>
          </a:p>
        </p:txBody>
      </p:sp>
    </p:spTree>
  </p:cSld>
  <p:clrMapOvr>
    <a:masterClrMapping/>
  </p:clrMapOvr>
</p:sld>
</file>

<file path=ppt/theme/theme1.xml><?xml version="1.0" encoding="utf-8"?>
<a:theme xmlns:a="http://schemas.openxmlformats.org/drawingml/2006/main" name="SpamShield">
  <a:themeElements>
    <a:clrScheme name="SpamShield">
      <a:dk1>
        <a:srgbClr val="10262B"/>
      </a:dk1>
      <a:lt1>
        <a:srgbClr val="FFFFFF"/>
      </a:lt1>
      <a:dk2>
        <a:srgbClr val="1D3F46"/>
      </a:dk2>
      <a:lt2>
        <a:srgbClr val="EDF3F3"/>
      </a:lt2>
      <a:accent1>
        <a:srgbClr val="F26A3D"/>
      </a:accent1>
      <a:accent2>
        <a:srgbClr val="1FA595"/>
      </a:accent2>
      <a:accent3>
        <a:srgbClr val="F2B84B"/>
      </a:accent3>
      <a:accent4>
        <a:srgbClr val="5B7C85"/>
      </a:accent4>
      <a:accent5>
        <a:srgbClr val="8FD3C9"/>
      </a:accent5>
      <a:accent6>
        <a:srgbClr val="C9462A"/>
      </a:accent6>
      <a:hlink>
        <a:srgbClr val="1FA595"/>
      </a:hlink>
      <a:folHlink>
        <a:srgbClr val="5B7C85"/>
      </a:folHlink>
    </a:clrScheme>
    <a:fontScheme name="SpamShiel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1191</Words>
  <Application>Microsoft Office PowerPoint</Application>
  <PresentationFormat>On-screen Show (16:9)</PresentationFormat>
  <Paragraphs>176</Paragraphs>
  <Slides>15</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SpamShield</vt:lpstr>
      <vt:lpstr>SpamShield</vt:lpstr>
      <vt:lpstr>The problem</vt:lpstr>
      <vt:lpstr>PowerPoint Presentation</vt:lpstr>
      <vt:lpstr>The dataset</vt:lpstr>
      <vt:lpstr>Spam looks different</vt:lpstr>
      <vt:lpstr>PowerPoint Presentation</vt:lpstr>
      <vt:lpstr>Words give it away</vt:lpstr>
      <vt:lpstr>PowerPoint Presentation</vt:lpstr>
      <vt:lpstr>From raw text to features</vt:lpstr>
      <vt:lpstr>Four models, one pipeline</vt:lpstr>
      <vt:lpstr>SVM leads on accuracy</vt:lpstr>
      <vt:lpstr>The catch: spam slips through</vt:lpstr>
      <vt:lpstr>ROC curves agree</vt:lpstr>
      <vt:lpstr>Live test: spam still slips through</vt:lpstr>
      <vt:lpstr>Takeaways and next steps</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SpamShield: SMS Spam Detection with Machine Learning</dc:title>
  <dc:subject>PptxGenJS Presentation</dc:subject>
  <dc:creator>PptxGenJS</dc:creator>
  <cp:lastModifiedBy>student</cp:lastModifiedBy>
  <cp:revision>2</cp:revision>
  <dcterms:created xsi:type="dcterms:W3CDTF">2026-10-14T12:09:37Z</dcterms:created>
  <dcterms:modified xsi:type="dcterms:W3CDTF">2026-10-14T12:17:52Z</dcterms:modified>
</cp:coreProperties>
</file>